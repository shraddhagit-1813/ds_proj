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9" r:id="rId9"/>
    <p:sldId id="278" r:id="rId10"/>
    <p:sldId id="260" r:id="rId11"/>
    <p:sldId id="261" r:id="rId12"/>
    <p:sldId id="262" r:id="rId13"/>
    <p:sldId id="263" r:id="rId14"/>
    <p:sldId id="264" r:id="rId15"/>
    <p:sldId id="265" r:id="rId16"/>
    <p:sldId id="275" r:id="rId17"/>
    <p:sldId id="266" r:id="rId18"/>
    <p:sldId id="267" r:id="rId19"/>
    <p:sldId id="273" r:id="rId20"/>
    <p:sldId id="274" r:id="rId21"/>
    <p:sldId id="277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2" Type="http://schemas.openxmlformats.org/officeDocument/2006/relationships/notesSlide" Target="../notesSlides/notesSlide3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42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8D4F5"/>
          </a:solidFill>
          <a:ln w="12700">
            <a:solidFill>
              <a:srgbClr val="B8D4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743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743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743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686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8686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8686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8686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8686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630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4630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4630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4630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4630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0574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0574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0574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0574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0574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6517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6517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26517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26517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6517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461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32461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32461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32461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2461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8404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38404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0240" y="38404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38404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348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4348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44348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44348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68880" y="44348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822960"/>
            <a:ext cx="50292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Detection</a:t>
            </a:r>
            <a:endParaRPr lang="en-US" sz="3600" dirty="0"/>
          </a:p>
        </p:txBody>
      </p:sp>
      <p:sp>
        <p:nvSpPr>
          <p:cNvPr id="45" name="Shape 43"/>
          <p:cNvSpPr/>
          <p:nvPr/>
        </p:nvSpPr>
        <p:spPr>
          <a:xfrm>
            <a:off x="3840480" y="2578608"/>
            <a:ext cx="4754880" cy="36576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267004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Machine Learning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840480" y="32918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Paytm Financial Fraud Dataset (51,623 transactions)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40480" y="361188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 •  Decision Tree  •  Random Forest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0" y="39319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Rate: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0.194%  —  100 fraudulent out of 51,623 transactions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45720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| Classification | Imbalanced Data | AUC-ROC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37160" y="137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51206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Paytm dataset simulates mobile money transactions based on real data. It covers 51,623 transactions across 5 types, with only 100 fraudulent cases — a severe class imbalance challenge for ML models.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" y="1993392"/>
            <a:ext cx="5120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286000"/>
            <a:ext cx="512064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Highly imbalanced dataset (fraud = 0.194% of all transactions)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occurs ONLY in TRANSFER and CASH_OUT types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amount transactions dominate fraudulent behaviour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anomalies are the strongest fraud signal</a:t>
            </a:r>
            <a:endParaRPr lang="en-US" sz="115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5806440" y="1051560"/>
            <a:ext cx="27432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5806440" y="111556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51,623</a:t>
            </a:r>
            <a:endParaRPr lang="en-US" sz="260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5806440" y="162763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Dataset</a:t>
            </a:r>
            <a:endParaRPr lang="en-US" sz="1000" dirty="0"/>
          </a:p>
        </p:txBody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5806440" y="2084832"/>
            <a:ext cx="2743200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5806440" y="21488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5806440" y="266090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Fraudulent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5806440" y="3118104"/>
            <a:ext cx="2743200" cy="96012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5806440" y="318211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0.194%</a:t>
            </a:r>
            <a:endParaRPr lang="en-US" sz="26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5806440" y="3694176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5806440" y="4151376"/>
            <a:ext cx="27432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5806440" y="4215384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5806440" y="472744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228600" y="1097280"/>
            <a:ext cx="64008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356616" y="11887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356616" y="14996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Fraud Accurately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56616" y="18288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ML models to classify Paytm mobile money transactions as fraudulent or legitimate using transaction features.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3172968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172968" y="1097280"/>
            <a:ext cx="64008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3300984" y="11887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3300984" y="14996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Class Imbalance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300984" y="18288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SMOTE (</a:t>
            </a:r>
            <a:r>
              <a:rPr lang="en-US" alt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 Over-sampling Technique</a:t>
            </a: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oversampling to address the 0.194% fraud rate — 100 fraud vs 51,523 legitimate transactions.</a:t>
            </a:r>
            <a:endParaRPr lang="en-US" sz="1000" dirty="0"/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6117336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2"/>
            </p:custDataLst>
          </p:nvPr>
        </p:nvSpPr>
        <p:spPr>
          <a:xfrm>
            <a:off x="6117336" y="1097280"/>
            <a:ext cx="64008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6245352" y="11887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245352" y="14996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Multiple Models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245352" y="182880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Logistic Regression, Decision Tree and Random Forest using Accuracy, Precision, Recall &amp; AUC-ROC.</a:t>
            </a:r>
            <a:endParaRPr lang="en-US" sz="11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2286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228600" y="2971800"/>
            <a:ext cx="64008" cy="16916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356616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356616" y="3374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 Performance</a:t>
            </a:r>
            <a:endParaRPr lang="en-US" sz="1100" dirty="0"/>
          </a:p>
        </p:txBody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356616" y="3703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GridSearchCV hyperparameter tuning to maximize Recall and AUC-ROC — critical for catching fraud.</a:t>
            </a:r>
            <a:endParaRPr lang="en-US" sz="1100" dirty="0"/>
          </a:p>
        </p:txBody>
      </p:sp>
      <p:sp>
        <p:nvSpPr>
          <p:cNvPr id="27" name="Shape 25"/>
          <p:cNvSpPr/>
          <p:nvPr>
            <p:custDataLst>
              <p:tags r:id="rId21"/>
            </p:custDataLst>
          </p:nvPr>
        </p:nvSpPr>
        <p:spPr>
          <a:xfrm>
            <a:off x="3172968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3172968" y="2971800"/>
            <a:ext cx="64008" cy="16916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3300984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3300984" y="3374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Key Features</a:t>
            </a:r>
            <a:endParaRPr lang="en-US" sz="1100" dirty="0"/>
          </a:p>
        </p:txBody>
      </p:sp>
      <p:sp>
        <p:nvSpPr>
          <p:cNvPr id="31" name="Text 29"/>
          <p:cNvSpPr/>
          <p:nvPr>
            <p:custDataLst>
              <p:tags r:id="rId25"/>
            </p:custDataLst>
          </p:nvPr>
        </p:nvSpPr>
        <p:spPr>
          <a:xfrm>
            <a:off x="3300984" y="3703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 which features (amount, balance changes, transaction type) drive fraud detection performance.</a:t>
            </a:r>
            <a:endParaRPr lang="en-US" sz="11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>
            <p:custDataLst>
              <p:tags r:id="rId26"/>
            </p:custDataLst>
          </p:nvPr>
        </p:nvSpPr>
        <p:spPr>
          <a:xfrm>
            <a:off x="6117336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>
            <p:custDataLst>
              <p:tags r:id="rId27"/>
            </p:custDataLst>
          </p:nvPr>
        </p:nvSpPr>
        <p:spPr>
          <a:xfrm>
            <a:off x="6117336" y="2971800"/>
            <a:ext cx="64008" cy="16916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34" name="Text 32"/>
          <p:cNvSpPr/>
          <p:nvPr>
            <p:custDataLst>
              <p:tags r:id="rId28"/>
            </p:custDataLst>
          </p:nvPr>
        </p:nvSpPr>
        <p:spPr>
          <a:xfrm>
            <a:off x="6245352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>
            <p:custDataLst>
              <p:tags r:id="rId29"/>
            </p:custDataLst>
          </p:nvPr>
        </p:nvSpPr>
        <p:spPr>
          <a:xfrm>
            <a:off x="6245352" y="3374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Insights</a:t>
            </a:r>
            <a:endParaRPr lang="en-US" sz="1100" dirty="0"/>
          </a:p>
        </p:txBody>
      </p:sp>
      <p:sp>
        <p:nvSpPr>
          <p:cNvPr id="36" name="Text 34"/>
          <p:cNvSpPr/>
          <p:nvPr>
            <p:custDataLst>
              <p:tags r:id="rId30"/>
            </p:custDataLst>
          </p:nvPr>
        </p:nvSpPr>
        <p:spPr>
          <a:xfrm>
            <a:off x="6245352" y="3703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recommendations for deploying real-time fraud detection on mobile payment platforms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—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7299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Paytm dataset contains mobile money transactions with 10 columns. The target column 'isFraud' marks fraudulent transactions. Key features include transaction amount, type, and sender/receiver balance changes.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30095"/>
            <a:ext cx="653669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51,623 total transactions (rows)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columns: step, type, amount, nameOrig, oldbalanceOrg,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newbalanceOrig, nameDest, oldbalanceDest, newbalanceDest, isFraud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types: PAYMENT, CASH_OUT, CASH_IN, TRANSFER, DEBIT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isFraud (0 = Legit, 1 = Fraud)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missing values — clean dataset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Box 4"/>
          <p:cNvSpPr txBox="1"/>
          <p:nvPr/>
        </p:nvSpPr>
        <p:spPr>
          <a:xfrm>
            <a:off x="422910" y="781050"/>
            <a:ext cx="7868285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Tx/>
            </a:pPr>
            <a:r>
              <a:rPr lang="en-US" sz="2200" b="1" i="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dataset have these columns - </a:t>
            </a:r>
            <a:endParaRPr lang="en-US" sz="2200" b="1" i="0" dirty="0">
              <a:solidFill>
                <a:srgbClr val="0D3B6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422910" y="1219835"/>
          <a:ext cx="7839710" cy="3296920"/>
        </p:xfrm>
        <a:graphic>
          <a:graphicData uri="http://schemas.openxmlformats.org/drawingml/2006/table">
            <a:tbl>
              <a:tblPr/>
              <a:tblGrid>
                <a:gridCol w="3919855"/>
                <a:gridCol w="3919855"/>
              </a:tblGrid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100" b="1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b="1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100" b="1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100" b="1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tells about the unit of time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 of transaction done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amount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total amount of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nameOrg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account that starts the transaction 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oldbalanceOrg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Balance of the account of sender before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newbalanceOrg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Balance of the account of sender after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nameDest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account that receives the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oldbalanceDest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Balance of the account of receiver before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newbalanceDest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Balance of the account of receiver after transaction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isFraud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 algn="l">
                        <a:spcAft>
                          <a:spcPts val="400"/>
                        </a:spcAft>
                        <a:buClrTx/>
                        <a:buSzTx/>
                        <a:buFontTx/>
                        <a:buChar char="•"/>
                      </a:pPr>
                      <a:r>
                        <a:rPr lang="en-US" sz="1150" b="0" i="0" dirty="0">
                          <a:solidFill>
                            <a:srgbClr val="0D3B6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value to be predicted i.e. 0 or 1</a:t>
                      </a:r>
                      <a:endParaRPr lang="en-US" sz="1150" b="0" i="0" dirty="0">
                        <a:solidFill>
                          <a:srgbClr val="0D3B6E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marL="63817" marR="63817" marT="89217" marB="89217" anchor="ctr" anchorCtr="0">
                    <a:lnL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" cap="flat" cmpd="sng">
                      <a:solidFill>
                        <a:srgbClr val="DFDFD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" y="505333"/>
            <a:ext cx="1212494" cy="164592"/>
          </a:xfrm>
          <a:prstGeom prst="rect">
            <a:avLst/>
          </a:prstGeom>
          <a:solidFill>
            <a:srgbClr val="006B8F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EDA Code  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697357"/>
            <a:ext cx="45720" cy="37490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" y="670052"/>
            <a:ext cx="4142232" cy="358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numpy as np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pandas as pd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matplotlib.pyplot as plt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seaborn as sns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%matplotlib inline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google.colab import drive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drive.mount('/content/drive')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filepath ='/content/drive/MyDrive/data_file.csv'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 = pd.read_csv(filepath)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data.head()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endParaRPr lang="en-US" alt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Dataset overview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print("Shape:", 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.shape)          # (51623, 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.dtypes)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.isnull().sum())           # No nulls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Class distribution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['isFraud'].value_counts())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0    51523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1      100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11"/>
          <p:cNvSpPr/>
          <p:nvPr/>
        </p:nvSpPr>
        <p:spPr>
          <a:xfrm>
            <a:off x="4703445" y="697230"/>
            <a:ext cx="4257675" cy="3584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print('Fraud Rate:',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round(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['isFraud'].mean()*100,3),'%')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Fraud Rate: 0.194 %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Transaction type distribution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['type'].value_counts())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PAYMENT     22500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CASH_OUT    14243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CASH_IN      9358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TRANSFER     4855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DEBIT         667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Amount statistics by class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.groupby('isFraud')['amount']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.describe().round(2))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— Transaction Type Distribution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/home/claude/v2_chart_type_d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05840"/>
            <a:ext cx="4297680" cy="2651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05156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types from the actual data: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28600" y="1444752"/>
          <a:ext cx="4251960" cy="2286000"/>
        </p:xfrm>
        <a:graphic>
          <a:graphicData uri="http://schemas.openxmlformats.org/drawingml/2006/table">
            <a:tbl>
              <a:tblPr/>
              <a:tblGrid>
                <a:gridCol w="1062990"/>
                <a:gridCol w="1062990"/>
                <a:gridCol w="1062990"/>
                <a:gridCol w="106299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Fraud?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22,500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43.6%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CASH_OUT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14,243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27.6%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51 cases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CASH_IN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9,358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18.1%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4,855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9.4%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49 cases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DEBIT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  667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1.3%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822192"/>
            <a:ext cx="4251960" cy="1234440"/>
          </a:xfrm>
          <a:prstGeom prst="rect">
            <a:avLst/>
          </a:prstGeom>
          <a:solidFill>
            <a:srgbClr val="E3F0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8600" y="3822192"/>
            <a:ext cx="54864" cy="12344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6616" y="3913632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6616" y="4206240"/>
            <a:ext cx="4069080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ONLY occurs in CASH_OUT (51 cases, 0.36% rate) and TRANSFER (49 cases, 1.01% rate). PAYMENT, CASH_IN and DEBIT transactions have zero fraud in this dataset.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3749040"/>
            <a:ext cx="945490" cy="201168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81728" y="3767328"/>
            <a:ext cx="85405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Code  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617720" y="3950208"/>
            <a:ext cx="4297680" cy="1051560"/>
          </a:xfrm>
          <a:prstGeom prst="rect">
            <a:avLst/>
          </a:prstGeom>
          <a:solidFill>
            <a:srgbClr val="F4F8FF"/>
          </a:solidFill>
          <a:ln w="12700">
            <a:solidFill>
              <a:srgbClr val="B0C8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17720" y="3950208"/>
            <a:ext cx="45720" cy="105156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92" y="4041648"/>
            <a:ext cx="409651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Transaction type distribution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tc = df['type'].value_counts()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tc.plot(kind='bar', color='steelblue')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plt.title('Transaction Type Distribution')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plt.ylabel('Count'); plt.show()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— Fraud Distribution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home/claude/v2_chart_don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114800" cy="3200400"/>
          </a:xfrm>
          <a:prstGeom prst="rect">
            <a:avLst/>
          </a:prstGeom>
        </p:spPr>
      </p:pic>
      <p:pic>
        <p:nvPicPr>
          <p:cNvPr id="8" name="Image 1" descr="/home/claude/v2_chart_fraud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74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431596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Imbalance: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4572000"/>
            <a:ext cx="4114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99.81% Legitimate  •  0.19% Fraud — extreme imbalance requiring SMOTE or class weighting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663440" y="3822192"/>
            <a:ext cx="4206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Breakdown: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663440" y="4078224"/>
            <a:ext cx="4206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CASH_OUT: 51 fraud cases (51%)  •  TRANSFER: 49 cases (49%)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rate: TRANSFER (1.01%) &gt; CASH_OUT (0.36%)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— Fraud Rate &amp; Amount Distribution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home/claude/v2_chart_fraud_r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560320"/>
          </a:xfrm>
          <a:prstGeom prst="rect">
            <a:avLst/>
          </a:prstGeom>
        </p:spPr>
      </p:pic>
      <p:pic>
        <p:nvPicPr>
          <p:cNvPr id="8" name="Image 1" descr="/home/claude/v2_chart_amoun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5603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182880" y="3703320"/>
          <a:ext cx="8778240" cy="13716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Legitimate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Fraudulent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A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Amount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$156,716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$573,938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Median Amount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$34,359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$31,927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 Amount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$5,677,662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$10,000,000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Std Dev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$318,954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$1,644,365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— Time Patterns &amp; Balance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home/claude/v2_chart_ti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8778240" cy="2560320"/>
          </a:xfrm>
          <a:prstGeom prst="rect">
            <a:avLst/>
          </a:prstGeom>
        </p:spPr>
      </p:pic>
      <p:pic>
        <p:nvPicPr>
          <p:cNvPr id="8" name="Image 1" descr="/home/claude/v2_char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703320"/>
            <a:ext cx="45720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3730752"/>
            <a:ext cx="4114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8 &amp; 9 have the highest transaction volumes (21K and 16K)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 events are distributed across all time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Fraudulent txns show origin balance wiped to zero after transfer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Insights — Feature Correlation Heatmap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home/claude/v2_chart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13790"/>
            <a:ext cx="502920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1241425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Insights from the data: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1481455"/>
            <a:ext cx="34747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 has the strongest positive correlation with isFraud (0.056)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oldbalanceOrg &amp; newbalanceOrig show negative correlations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has a small negative correlation with fraud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oldbalanceDest and newbalanceDest have near-zero correlation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feature is highly correlated — ML combination needed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40680" y="3794760"/>
            <a:ext cx="3474720" cy="1234440"/>
          </a:xfrm>
          <a:prstGeom prst="rect">
            <a:avLst/>
          </a:prstGeom>
          <a:solidFill>
            <a:srgbClr val="E3F0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40680" y="3794760"/>
            <a:ext cx="54864" cy="12344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68696" y="3886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Correlation Matters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68696" y="4178808"/>
            <a:ext cx="3291840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individual correlations mean fraud cannot be detected by simple rules. The combination of amount, balance changes and transaction type together forms a strong fraud signal — ideal for ensemble ML models like Random Forest.</a:t>
            </a:r>
            <a:endParaRPr lang="en-US" sz="1050" dirty="0"/>
          </a:p>
        </p:txBody>
      </p:sp>
      <p:pic>
        <p:nvPicPr>
          <p:cNvPr id="14" name="Picture 13" descr="visual_insigh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" y="1069975"/>
            <a:ext cx="5482590" cy="3959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preprocessing pipeline: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353185"/>
            <a:ext cx="3474720" cy="25882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Encodes 'type' column (LabelEncoder)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Drops non-numeric ID columns (nameOrig, nameDest)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Amount &amp; balance features with StandardScaler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SMOTE(</a:t>
            </a:r>
            <a:r>
              <a:rPr lang="en-US" alt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 Over-sampling Technique.</a:t>
            </a: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to balance the 0.194% fraud minority class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80/20 train-test split preserving fraud ratio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06416" y="118249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SMOTE?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90236" y="1481455"/>
            <a:ext cx="3291840" cy="1124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only 100 fraud cases vs 51,523 legitimate, a model trained without SMOTE would predict 'Legit' always and still get 99.8% accuracy. SMOTE creates synthetic fraud examples to force the model to actually learn fraud patterns.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50792" y="1353312"/>
            <a:ext cx="4782312" cy="358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20" name="Shape 8"/>
          <p:cNvSpPr/>
          <p:nvPr/>
        </p:nvSpPr>
        <p:spPr>
          <a:xfrm>
            <a:off x="5052060" y="1481455"/>
            <a:ext cx="76200" cy="199390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Text 10"/>
          <p:cNvSpPr/>
          <p:nvPr/>
        </p:nvSpPr>
        <p:spPr>
          <a:xfrm>
            <a:off x="483616" y="3967480"/>
            <a:ext cx="3291840" cy="1124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7"/>
          <p:cNvSpPr/>
          <p:nvPr/>
        </p:nvSpPr>
        <p:spPr>
          <a:xfrm>
            <a:off x="5125085" y="1464310"/>
            <a:ext cx="3474720" cy="1985010"/>
          </a:xfrm>
          <a:prstGeom prst="rect">
            <a:avLst/>
          </a:prstGeom>
          <a:solidFill>
            <a:srgbClr val="E3F0FF"/>
          </a:solidFill>
          <a:ln w="12700">
            <a:solidFill>
              <a:srgbClr val="D0DFF0"/>
            </a:solidFill>
            <a:prstDash val="solid"/>
          </a:ln>
        </p:spPr>
        <p:txBody>
          <a:bodyPr/>
          <a:p>
            <a:r>
              <a:rPr lang="en-US" sz="11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With only 100 fraud cases vs 51,523 legitimate, a model trained without SMOTE would</a:t>
            </a:r>
            <a:r>
              <a:rPr lang="en-US" sz="11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With </a:t>
            </a:r>
            <a:r>
              <a:rPr lang="en-US" sz="11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predict 'Legit' always and still get 99.8% accuracy. SMOTE creates synthetic fraud examples to force the model to actually learn fraud patterns.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503" y="518668"/>
            <a:ext cx="2108606" cy="16459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Preprocessing Code  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3545" y="518922"/>
            <a:ext cx="45720" cy="374904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985" y="683260"/>
            <a:ext cx="4009390" cy="446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sklearn.preprocessing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LabelEncoder, StandardScaler)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sklearn.model_selection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train_test_split)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imblearn.over_sampling import SMOTE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google.colab import drive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drive.mount('/content/drive')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filepath ='/content/drive/MyDrive/data_file.csv'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 = pd.read_csv(filepath)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Encode transaction 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 = LabelEncoder()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['type'] = le.fit_transform(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['type'])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Drop ID columns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.drop(['nameOrig','nameDest'],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axis=1, inplace=True)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Features &amp; target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 = 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.drop('isFraud', axis=1)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 = 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data</a:t>
            </a: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['isFraud']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Scale numeric features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scaler = StandardScaler()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X_scaled = scaler.fit_transform(X)</a:t>
            </a:r>
            <a:endParaRPr lang="en-US" sz="105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endParaRPr lang="en-US" sz="820" dirty="0"/>
          </a:p>
        </p:txBody>
      </p:sp>
      <p:sp>
        <p:nvSpPr>
          <p:cNvPr id="8" name="Text Box 7"/>
          <p:cNvSpPr txBox="1"/>
          <p:nvPr/>
        </p:nvSpPr>
        <p:spPr>
          <a:xfrm>
            <a:off x="4524375" y="683260"/>
            <a:ext cx="4316095" cy="3881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# Train-test split (stratified)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X_tr,X_te,y_tr,y_te = train_test_split(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X_scaled, 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test_size=0.2,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random_state=42,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stratify=y)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# SMOTE on training data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sm = SMOTE(random_state=42)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X_res,y_res = sm.fit_resample(X_tr,y_tr)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print("Before SMOTE:", dict(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zip(*np.unique(y_tr,return_counts=True))))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print("After SMOTE: ", dict(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zip(*np.unique(y_res,return_counts=True))))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# Before: {0:41218, 1:80}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# After:  {0:41218, 1:41218}</a:t>
            </a:r>
            <a:endParaRPr lang="en-US" sz="1050" dirty="0"/>
          </a:p>
          <a:p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8686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algorithms evaluated on the Paytm dataset. Each model is trained on SMOTE-balanced data and evaluated on the original imbalanced test set using Accuracy, Precision, Recall and AUC-ROC.</a:t>
            </a:r>
            <a:endParaRPr lang="en-US" sz="1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228600" y="1828800"/>
            <a:ext cx="2057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228600" y="1828800"/>
            <a:ext cx="20574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228600" y="190195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</a:t>
            </a:r>
            <a:endParaRPr lang="en-US" sz="20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320040" y="256032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320040" y="2999232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classifier. Provides probabilistic output. Works well when features are linearly related to fraud.</a:t>
            </a:r>
            <a:endParaRPr lang="en-US" sz="10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185160" y="1811020"/>
            <a:ext cx="2057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185160" y="1828800"/>
            <a:ext cx="2057400" cy="64008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185160" y="1851787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DT</a:t>
            </a:r>
            <a:endParaRPr lang="en-US" sz="20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276600" y="256032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267075" y="3063240"/>
            <a:ext cx="1696085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splits on features. Interpretable — easy to trace exactly which conditions flag a fraud.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035040" y="1788795"/>
            <a:ext cx="2057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035040" y="1828800"/>
            <a:ext cx="2057400" cy="6400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5608320" y="190195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RF</a:t>
            </a:r>
            <a:endParaRPr lang="en-US" sz="20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050280" y="256032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050280" y="3063367"/>
            <a:ext cx="18745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of 100+ trees via bagging. Robust to noise, reduces overfitting, handles feature importance.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Metrics: Accuracy  •  Precision  •  Recall  •  F1-Score  •  AUC-ROC  •  Confusion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and Testing the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939800"/>
            <a:ext cx="8686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trained on SMOTE-balanced data. Evaluation performed on the original imbalanced test set (10,303 samples: 10,223 legit + 80 fraud... 20% hold-out stratified split).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513205"/>
            <a:ext cx="1841500" cy="17018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81455"/>
            <a:ext cx="1750060" cy="166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Model Training  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1645920"/>
            <a:ext cx="4434840" cy="4188460"/>
          </a:xfrm>
          <a:prstGeom prst="rect">
            <a:avLst/>
          </a:prstGeom>
          <a:solidFill>
            <a:srgbClr val="F4F8FF"/>
          </a:solidFill>
          <a:ln w="12700">
            <a:solidFill>
              <a:srgbClr val="B0C8E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680337"/>
            <a:ext cx="45720" cy="309067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80210"/>
            <a:ext cx="4233545" cy="424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buClrTx/>
              <a:buSzTx/>
              <a:buNone/>
            </a:pPr>
            <a:r>
              <a:rPr lang="en-US" alt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sklearn.model_selection import train_test_split</a:t>
            </a:r>
            <a:endParaRPr lang="en-US" alt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alt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X_train, X_test, y_train, y_test = train_test_split(</a:t>
            </a:r>
            <a:endParaRPr lang="en-US" alt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alt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X, y, test_size=0.3, random_state=42)</a:t>
            </a:r>
            <a:endParaRPr lang="en-US" alt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alt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sklearn.tree import DecisionTreeClassifier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sklearn.metrics import roc_auc_score as ras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sklearn.linear_model import LogisticRegression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sklearn.svm import SVC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sklearn.ensemble import RandomForestClassifier</a:t>
            </a:r>
            <a:b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</a:b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Define all models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models = [LogisticRegression(max_iter=2000), DecisionTreeClassifier(max_depth=7,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     random_state=42),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RandomForestClassifier(n_estimators=7,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           criterion='entropy',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           random_state=7)]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alt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92040" y="1481455"/>
            <a:ext cx="1931213" cy="201168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353" y="1481328"/>
            <a:ext cx="1839773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Evaluation Loop  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92040" y="1645285"/>
            <a:ext cx="4069080" cy="4177665"/>
          </a:xfrm>
          <a:prstGeom prst="rect">
            <a:avLst/>
          </a:prstGeom>
          <a:solidFill>
            <a:srgbClr val="F4F8FF"/>
          </a:solidFill>
          <a:ln w="12700">
            <a:solidFill>
              <a:srgbClr val="B0C8E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671447"/>
            <a:ext cx="45720" cy="309067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7280" y="1713230"/>
            <a:ext cx="3867785" cy="3916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for i in range(len(models)):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models[i].fit(X_train, y_train)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print(f'{models[i]} : ')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train_preds = models[i].predict_proba(X_train)[:, 1]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print('Training Accuracy : ', ras(y_train, train_preds))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y_preds = models[i].predict_proba(X_test)[:, 1]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print('Validation Accuracy : ', ras(y_test, y_preds))</a:t>
            </a:r>
            <a:endParaRPr lang="en-US" sz="1050" dirty="0">
              <a:solidFill>
                <a:srgbClr val="1A3A5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05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print()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8686800" cy="27432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51560"/>
            <a:ext cx="5029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achieved the best results on Paytm data: 99.9% Accuracy, AUC-ROC of 0.970, Precision 87.4% and Recall 82.0%.</a:t>
            </a:r>
            <a:endParaRPr lang="en-US" sz="1150" dirty="0">
              <a:solidFill>
                <a:srgbClr val="0D3B6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150" dirty="0"/>
              <a:t>99.9% Accuracy: Out of every 1,000 transactions, the model correctly classifies 999 as either safe or fraudulent.</a:t>
            </a:r>
            <a:endParaRPr lang="en-US" alt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AUC-ROC of 0.970: This indicates outstanding model performance. The Area Under the Curve (AUC) measures how well the model separates the two classes (fraud vs. non-fraud). An AUC of 0.97 (out of 1.0) means it is highly unlikely the model will confuse a fraudulent transaction with a safe one.</a:t>
            </a:r>
            <a:endParaRPr lang="en-US" altLang="en-US" sz="1150" dirty="0">
              <a:solidFill>
                <a:srgbClr val="0D3B6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87.4%: When the model flags a transaction as "fraud," it is correct 87.4% of the time. This means there are low false alarms (wrongly flagging good transactions).</a:t>
            </a:r>
            <a:endParaRPr lang="en-US" altLang="en-US" sz="1150" dirty="0">
              <a:solidFill>
                <a:srgbClr val="0D3B6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150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82.0%: The model successfully identifies 82% of all actual fraud cases occurring. While 18% of fraudulent cases might be missed, the high precision and high overall accuracy indicate a strong balance, likely designed not to annoy too many genuine users with false alerts.</a:t>
            </a:r>
            <a:endParaRPr lang="en-US" altLang="en-US" sz="1150" dirty="0">
              <a:solidFill>
                <a:srgbClr val="0D3B6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indent="0">
              <a:spcAft>
                <a:spcPts val="400"/>
              </a:spcAft>
              <a:buSzPct val="100000"/>
              <a:buNone/>
            </a:pPr>
            <a:endParaRPr lang="en-US" sz="115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0" y="1051560"/>
            <a:ext cx="34290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2527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6016752" y="11338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6016752" y="14173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Random Forest on Kafka/Spark Streaming — score TRANSFER &amp; CASH_OUT transactions in real time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5486400" y="2039112"/>
            <a:ext cx="3429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240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6016752" y="21214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Retraining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6016752" y="240487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Retrain monthly as fraud patterns evolve; monitor data drift on amount distributions</a:t>
            </a:r>
            <a:endParaRPr lang="en-US" sz="1000" dirty="0"/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5486400" y="3026664"/>
            <a:ext cx="34290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227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6016752" y="31089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Approach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9"/>
            </p:custDataLst>
          </p:nvPr>
        </p:nvSpPr>
        <p:spPr>
          <a:xfrm>
            <a:off x="6016752" y="339242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Random Forest with rule: flag any TRANSFER where newbalanceOrig drops to zero</a:t>
            </a:r>
            <a:endParaRPr lang="en-US" sz="1000" dirty="0"/>
          </a:p>
        </p:txBody>
      </p:sp>
      <p:sp>
        <p:nvSpPr>
          <p:cNvPr id="20" name="Shape 18"/>
          <p:cNvSpPr/>
          <p:nvPr>
            <p:custDataLst>
              <p:tags r:id="rId10"/>
            </p:custDataLst>
          </p:nvPr>
        </p:nvSpPr>
        <p:spPr>
          <a:xfrm>
            <a:off x="5486400" y="4014216"/>
            <a:ext cx="3429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215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>
            <p:custDataLst>
              <p:tags r:id="rId11"/>
            </p:custDataLst>
          </p:nvPr>
        </p:nvSpPr>
        <p:spPr>
          <a:xfrm>
            <a:off x="6016752" y="40965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&amp; Alerts</a:t>
            </a:r>
            <a:endParaRPr lang="en-US" sz="1100" dirty="0"/>
          </a:p>
        </p:txBody>
      </p:sp>
      <p:sp>
        <p:nvSpPr>
          <p:cNvPr id="23" name="Text 21"/>
          <p:cNvSpPr/>
          <p:nvPr>
            <p:custDataLst>
              <p:tags r:id="rId12"/>
            </p:custDataLst>
          </p:nvPr>
        </p:nvSpPr>
        <p:spPr>
          <a:xfrm>
            <a:off x="6016752" y="4379976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Recall weekly — a drop signals new fraud patterns emerging in production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4773168"/>
            <a:ext cx="5029200" cy="3200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09744"/>
            <a:ext cx="48463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for Production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B8D4F5"/>
          </a:solidFill>
          <a:ln w="12700">
            <a:solidFill>
              <a:srgbClr val="B8D4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5143500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716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3716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3716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3716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9202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9202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9202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9202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688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4688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24688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4688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246888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0175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0175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30175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48840" y="30175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301752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5661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5661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35661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35661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356616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1148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1148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41148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8840" y="41148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8920" y="411480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6634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46634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46634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8840" y="46634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8920" y="4663440"/>
            <a:ext cx="73152" cy="73152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109728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0" name="Shape 38"/>
          <p:cNvSpPr/>
          <p:nvPr/>
        </p:nvSpPr>
        <p:spPr>
          <a:xfrm>
            <a:off x="4114800" y="1993392"/>
            <a:ext cx="4572000" cy="36576"/>
          </a:xfrm>
          <a:prstGeom prst="rect">
            <a:avLst/>
          </a:prstGeom>
          <a:solidFill>
            <a:srgbClr val="006B8F"/>
          </a:solidFill>
          <a:ln w="12700">
            <a:solidFill>
              <a:srgbClr val="006B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084832"/>
            <a:ext cx="4754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 Fraud Detection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6B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Machine Learning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14800" y="297180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Paytm — 51,623 transactions, 100 fraud cases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329184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— AUC-ROC: 0.970  |  Recall: 82.0%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36118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Tools: </a:t>
            </a: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•  Pandas  •  Scikit-learn  •  Matplotlib  •  Seaborn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7160" y="137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3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64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EA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FRAUD DETECTION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2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3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4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5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6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7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8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9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10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11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12.xml><?xml version="1.0" encoding="utf-8"?>
<p:tagLst xmlns:p="http://schemas.openxmlformats.org/presentationml/2006/main">
  <p:tag name="KSO_WM_DIAGRAM_VIRTUALLY_FRAME" val="{&quot;height&quot;:319.68,&quot;left&quot;:457.2,&quot;top&quot;:82.8,&quot;width&quot;:216}"/>
</p:tagLst>
</file>

<file path=ppt/tags/tag13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4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5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6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7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8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19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0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1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2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3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4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5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6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7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8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29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0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1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2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3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4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5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6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7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8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39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40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41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42.xml><?xml version="1.0" encoding="utf-8"?>
<p:tagLst xmlns:p="http://schemas.openxmlformats.org/presentationml/2006/main">
  <p:tag name="KSO_WM_DIAGRAM_VIRTUALLY_FRAME" val="{&quot;height&quot;:280.8,&quot;left&quot;:18,&quot;top&quot;:86.4,&quot;width&quot;:679.6800000000001}"/>
</p:tagLst>
</file>

<file path=ppt/tags/tag43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4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5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6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7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8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49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0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1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2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3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4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5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6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7.xml><?xml version="1.0" encoding="utf-8"?>
<p:tagLst xmlns:p="http://schemas.openxmlformats.org/presentationml/2006/main">
  <p:tag name="KSO_WM_DIAGRAM_VIRTUALLY_FRAME" val="{&quot;height&quot;:255.60999999999999,&quot;left&quot;:18,&quot;top&quot;:129.6,&quot;width&quot;:620.4}"/>
</p:tagLst>
</file>

<file path=ppt/tags/tag58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59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0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1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2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3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4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5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6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7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8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ags/tag69.xml><?xml version="1.0" encoding="utf-8"?>
<p:tagLst xmlns:p="http://schemas.openxmlformats.org/presentationml/2006/main">
  <p:tag name="KSO_WM_DIAGRAM_VIRTUALLY_FRAME" val="{&quot;height&quot;:301.68,&quot;left&quot;:432,&quot;top&quot;:82.8,&quot;width&quot;:2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11339</Words>
  <Application>WPS Presentation</Application>
  <PresentationFormat>On-screen Show (16:9)</PresentationFormat>
  <Paragraphs>552</Paragraphs>
  <Slides>18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Nunito</vt:lpstr>
      <vt:lpstr>Segoe Print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Payment Fraud Detection using Machine Learning</dc:title>
  <dc:creator>PptxGenJS</dc:creator>
  <dc:subject>PptxGenJS Presentation</dc:subject>
  <cp:lastModifiedBy>Shraddha Tewari</cp:lastModifiedBy>
  <cp:revision>33</cp:revision>
  <dcterms:created xsi:type="dcterms:W3CDTF">2026-03-20T06:42:00Z</dcterms:created>
  <dcterms:modified xsi:type="dcterms:W3CDTF">2026-03-24T15:00:54Z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2DDDCA9732E049BBA2F4A1D59C2496B1_12</vt:lpwstr>
  </property>
  <property fmtid="{D5CDD505-2E9C-101B-9397-08002B2CF9AE}" pid="3" name="KSOProductBuildVer">
    <vt:lpwstr>1033-12.2.0.23196</vt:lpwstr>
  </property>
</Properties>
</file>