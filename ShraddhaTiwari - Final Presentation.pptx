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73" r:id="rId11"/>
    <p:sldId id="263" r:id="rId12"/>
    <p:sldId id="264" r:id="rId13"/>
    <p:sldId id="265" r:id="rId14"/>
    <p:sldId id="267" r:id="rId15"/>
    <p:sldId id="268" r:id="rId16"/>
    <p:sldId id="274" r:id="rId17"/>
    <p:sldId id="276" r:id="rId18"/>
    <p:sldId id="269" r:id="rId19"/>
    <p:sldId id="270" r:id="rId20"/>
    <p:sldId id="277" r:id="rId21"/>
    <p:sldId id="278" r:id="rId22"/>
    <p:sldId id="279" r:id="rId23"/>
    <p:sldId id="280" r:id="rId24"/>
    <p:sldId id="271" r:id="rId25"/>
    <p:sldId id="275" r:id="rId26"/>
    <p:sldId id="272" r:id="rId27"/>
  </p:sldIdLst>
  <p:sldSz cx="12192000" cy="6858000"/>
  <p:notesSz cx="6858000" cy="9144000"/>
  <p:embeddedFontLst>
    <p:embeddedFont>
      <p:font typeface="Calibri" panose="020F0502020204030204"/>
      <p:regular r:id="rId31"/>
    </p:embeddedFont>
    <p:embeddedFont>
      <p:font typeface="Montserrat" panose="00000500000000000000" charset="0"/>
      <p:regular r:id="rId32"/>
    </p:embeddedFont>
    <p:embeddedFont>
      <p:font typeface="Montserrat" panose="00000500000000000000"/>
      <p:regular r:id="rId33"/>
    </p:embeddedFont>
    <p:embeddedFont>
      <p:font typeface="Calibri" panose="020F0502020204030204" pitchFamily="34" charset="-122"/>
      <p:regular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panose="020B0604020202020204"/>
              <a:buNone/>
            </a:pPr>
            <a:fld id="{00000000-1234-1234-1234-123412341234}" type="slidenum">
              <a:rPr lang="en-US"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2" name="Google Shape;92;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 name="Google Shape;100;p2: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01" name="Google Shape;101;p2: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02" name="Google Shape;102;p2: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panose="020B0604020202020204"/>
              <a:buNone/>
            </a:pPr>
            <a:endParaRPr sz="1200">
              <a:solidFill>
                <a:schemeClr val="dk1"/>
              </a:solidFill>
            </a:endParaRPr>
          </a:p>
          <a:p>
            <a:pPr marL="0" lvl="0" indent="0" algn="l" rtl="0">
              <a:lnSpc>
                <a:spcPct val="100000"/>
              </a:lnSpc>
              <a:spcBef>
                <a:spcPts val="0"/>
              </a:spcBef>
              <a:spcAft>
                <a:spcPts val="0"/>
              </a:spcAft>
              <a:buClr>
                <a:schemeClr val="dk1"/>
              </a:buClr>
              <a:buSzPts val="1100"/>
              <a:buFont typeface="Arial" panose="020B0604020202020204"/>
              <a:buNone/>
            </a:pPr>
            <a:endParaRPr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6" name="Google Shape;126;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1" name="Shape 141"/>
        <p:cNvGrpSpPr/>
        <p:nvPr/>
      </p:nvGrpSpPr>
      <p:grpSpPr>
        <a:xfrm>
          <a:off x="0" y="0"/>
          <a:ext cx="0" cy="0"/>
          <a:chOff x="0" y="0"/>
          <a:chExt cx="0" cy="0"/>
        </a:xfrm>
      </p:grpSpPr>
      <p:sp>
        <p:nvSpPr>
          <p:cNvPr id="142" name="Google Shape;142;p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p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9" name="Shape 149"/>
        <p:cNvGrpSpPr/>
        <p:nvPr/>
      </p:nvGrpSpPr>
      <p:grpSpPr>
        <a:xfrm>
          <a:off x="0" y="0"/>
          <a:ext cx="0" cy="0"/>
          <a:chOff x="0" y="0"/>
          <a:chExt cx="0" cy="0"/>
        </a:xfrm>
      </p:grpSpPr>
      <p:sp>
        <p:nvSpPr>
          <p:cNvPr id="150" name="Google Shape;150;p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7" name="Shape 157"/>
        <p:cNvGrpSpPr/>
        <p:nvPr/>
      </p:nvGrpSpPr>
      <p:grpSpPr>
        <a:xfrm>
          <a:off x="0" y="0"/>
          <a:ext cx="0" cy="0"/>
          <a:chOff x="0" y="0"/>
          <a:chExt cx="0" cy="0"/>
        </a:xfrm>
      </p:grpSpPr>
      <p:sp>
        <p:nvSpPr>
          <p:cNvPr id="158" name="Google Shape;158;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 name="Google Shape;159;p9: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60" name="Google Shape;160;p9:notes"/>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lnSpc>
                <a:spcPct val="100000"/>
              </a:lnSpc>
              <a:spcBef>
                <a:spcPts val="0"/>
              </a:spcBef>
              <a:spcAft>
                <a:spcPts val="0"/>
              </a:spcAft>
              <a:buSzPts val="1400"/>
              <a:buNone/>
            </a:pPr>
            <a:r>
              <a:rPr lang="en-US"/>
              <a:t>Sunday, 26 March 2023</a:t>
            </a:r>
            <a:endParaRPr lang="en-US"/>
          </a:p>
        </p:txBody>
      </p:sp>
      <p:sp>
        <p:nvSpPr>
          <p:cNvPr id="161" name="Google Shape;161;p9: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6" name="Shape 166"/>
        <p:cNvGrpSpPr/>
        <p:nvPr/>
      </p:nvGrpSpPr>
      <p:grpSpPr>
        <a:xfrm>
          <a:off x="0" y="0"/>
          <a:ext cx="0" cy="0"/>
          <a:chOff x="0" y="0"/>
          <a:chExt cx="0" cy="0"/>
        </a:xfrm>
      </p:grpSpPr>
      <p:sp>
        <p:nvSpPr>
          <p:cNvPr id="167" name="Google Shape;167;p1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4" name="Shape 184"/>
        <p:cNvGrpSpPr/>
        <p:nvPr/>
      </p:nvGrpSpPr>
      <p:grpSpPr>
        <a:xfrm>
          <a:off x="0" y="0"/>
          <a:ext cx="0" cy="0"/>
          <a:chOff x="0" y="0"/>
          <a:chExt cx="0" cy="0"/>
        </a:xfrm>
      </p:grpSpPr>
      <p:sp>
        <p:nvSpPr>
          <p:cNvPr id="185" name="Google Shape;185;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p13: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194" name="Google Shape;194;p1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6" name="Shape 176"/>
        <p:cNvGrpSpPr/>
        <p:nvPr/>
      </p:nvGrpSpPr>
      <p:grpSpPr>
        <a:xfrm>
          <a:off x="0" y="0"/>
          <a:ext cx="0" cy="0"/>
          <a:chOff x="0" y="0"/>
          <a:chExt cx="0" cy="0"/>
        </a:xfrm>
      </p:grpSpPr>
      <p:sp>
        <p:nvSpPr>
          <p:cNvPr id="177" name="Google Shape;177;p1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0" algn="l" rtl="0">
              <a:lnSpc>
                <a:spcPct val="115000"/>
              </a:lnSpc>
              <a:spcBef>
                <a:spcPts val="1200"/>
              </a:spcBef>
              <a:spcAft>
                <a:spcPts val="1200"/>
              </a:spcAft>
              <a:buClr>
                <a:schemeClr val="dk1"/>
              </a:buClr>
              <a:buSzPts val="1100"/>
              <a:buFont typeface="Calibri" panose="020F0502020204030204"/>
              <a:buNone/>
            </a:pPr>
            <a:endParaRPr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14: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03" name="Google Shape;203;p1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f48fe88b2_0_3:notes"/>
          <p:cNvSpPr txBox="1"/>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12" name="Google Shape;212;g30f48fe88b2_0_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9" name="Shape 219"/>
        <p:cNvGrpSpPr/>
        <p:nvPr/>
      </p:nvGrpSpPr>
      <p:grpSpPr>
        <a:xfrm>
          <a:off x="0" y="0"/>
          <a:ext cx="0" cy="0"/>
          <a:chOff x="0" y="0"/>
          <a:chExt cx="0" cy="0"/>
        </a:xfrm>
      </p:grpSpPr>
      <p:sp>
        <p:nvSpPr>
          <p:cNvPr id="220" name="Google Shape;220;p16: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p>
        </p:txBody>
      </p:sp>
      <p:sp>
        <p:nvSpPr>
          <p:cNvPr id="221" name="Google Shape;221;p1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7" name="Shape 227"/>
        <p:cNvGrpSpPr/>
        <p:nvPr/>
      </p:nvGrpSpPr>
      <p:grpSpPr>
        <a:xfrm>
          <a:off x="0" y="0"/>
          <a:ext cx="0" cy="0"/>
          <a:chOff x="0" y="0"/>
          <a:chExt cx="0" cy="0"/>
        </a:xfrm>
      </p:grpSpPr>
      <p:sp>
        <p:nvSpPr>
          <p:cNvPr id="228" name="Google Shape;22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panose="020F0502020204030204"/>
              <a:buNone/>
            </a:p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matchingName="Title and body">
  <p:cSld name="TITLE_AND_BODY">
    <p:bg>
      <p:bgPr>
        <a:blipFill>
          <a:blip r:embed="rId2"/>
          <a:stretch>
            <a:fillRect/>
          </a:stretch>
        </a:blipFill>
        <a:effectLst/>
      </p:bgPr>
    </p:bg>
    <p:spTree>
      <p:nvGrpSpPr>
        <p:cNvPr id="15" name="Shape 15"/>
        <p:cNvGrpSpPr/>
        <p:nvPr/>
      </p:nvGrpSpPr>
      <p:grpSpPr>
        <a:xfrm>
          <a:off x="0" y="0"/>
          <a:ext cx="0" cy="0"/>
          <a:chOff x="0" y="0"/>
          <a:chExt cx="0" cy="0"/>
        </a:xfrm>
      </p:grpSpPr>
      <p:sp>
        <p:nvSpPr>
          <p:cNvPr id="16" name="Google Shape;16;p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17" name="Google Shape;17;p2"/>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5">
  <p:cSld name="Title and body 5">
    <p:bg>
      <p:bgPr>
        <a:blipFill>
          <a:blip r:embed="rId2"/>
          <a:stretch>
            <a:fillRect/>
          </a:stretch>
        </a:blipFill>
        <a:effectLst/>
      </p:bgPr>
    </p:bg>
    <p:spTree>
      <p:nvGrpSpPr>
        <p:cNvPr id="18" name="Shape 18"/>
        <p:cNvGrpSpPr/>
        <p:nvPr/>
      </p:nvGrpSpPr>
      <p:grpSpPr>
        <a:xfrm>
          <a:off x="0" y="0"/>
          <a:ext cx="0" cy="0"/>
          <a:chOff x="0" y="0"/>
          <a:chExt cx="0" cy="0"/>
        </a:xfrm>
      </p:grpSpPr>
      <p:sp>
        <p:nvSpPr>
          <p:cNvPr id="19" name="Google Shape;19;p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0" marR="0" lvl="1"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0" marR="0" lvl="2"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0" marR="0" lvl="3"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0" marR="0" lvl="4"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0" marR="0" lvl="5"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0" marR="0" lvl="6"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0" marR="0" lvl="7"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0" marR="0" lvl="8" indent="0" algn="l">
              <a:lnSpc>
                <a:spcPct val="100000"/>
              </a:lnSpc>
              <a:spcBef>
                <a:spcPts val="0"/>
              </a:spcBef>
              <a:spcAft>
                <a:spcPts val="0"/>
              </a:spcAft>
              <a:buClr>
                <a:srgbClr val="000000"/>
              </a:buClr>
              <a:buSzPts val="1400"/>
              <a:buFont typeface="Arial" panose="020B0604020202020204"/>
              <a:buNone/>
              <a:defRPr sz="1865"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a:pPr marL="0" lvl="0" indent="0" algn="l" rtl="0">
              <a:spcBef>
                <a:spcPts val="0"/>
              </a:spcBef>
              <a:spcAft>
                <a:spcPts val="0"/>
              </a:spcAft>
              <a:buNone/>
            </a:pPr>
            <a:fld id="{00000000-1234-1234-1234-123412341234}" type="slidenum">
              <a:rPr lang="en-US"/>
            </a:fld>
            <a:endParaRPr lang="en-US"/>
          </a:p>
        </p:txBody>
      </p:sp>
      <p:pic>
        <p:nvPicPr>
          <p:cNvPr id="20" name="Google Shape;20;p3"/>
          <p:cNvPicPr preferRelativeResize="0"/>
          <p:nvPr/>
        </p:nvPicPr>
        <p:blipFill rotWithShape="1">
          <a:blip r:embed="rId3"/>
          <a:srcRect l="-4728" t="-53157" r="-4727" b="-53198"/>
          <a:stretch>
            <a:fillRect/>
          </a:stretch>
        </p:blipFill>
        <p:spPr>
          <a:xfrm>
            <a:off x="366467" y="134733"/>
            <a:ext cx="1942867" cy="4752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21" name="Shape 21"/>
        <p:cNvGrpSpPr/>
        <p:nvPr/>
      </p:nvGrpSpPr>
      <p:grpSpPr>
        <a:xfrm>
          <a:off x="0" y="0"/>
          <a:ext cx="0" cy="0"/>
          <a:chOff x="0" y="0"/>
          <a:chExt cx="0" cy="0"/>
        </a:xfrm>
      </p:grpSpPr>
      <p:sp>
        <p:nvSpPr>
          <p:cNvPr id="22" name="Google Shape;22;p4"/>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4" name="Google Shape;24;p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7" name="Shape 27"/>
        <p:cNvGrpSpPr/>
        <p:nvPr/>
      </p:nvGrpSpPr>
      <p:grpSpPr>
        <a:xfrm>
          <a:off x="0" y="0"/>
          <a:ext cx="0" cy="0"/>
          <a:chOff x="0" y="0"/>
          <a:chExt cx="0" cy="0"/>
        </a:xfrm>
      </p:grpSpPr>
      <p:sp>
        <p:nvSpPr>
          <p:cNvPr id="28" name="Google Shape;28;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0" name="Google Shape;30;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3" name="Shape 33"/>
        <p:cNvGrpSpPr/>
        <p:nvPr/>
      </p:nvGrpSpPr>
      <p:grpSpPr>
        <a:xfrm>
          <a:off x="0" y="0"/>
          <a:ext cx="0" cy="0"/>
          <a:chOff x="0" y="0"/>
          <a:chExt cx="0" cy="0"/>
        </a:xfrm>
      </p:grpSpPr>
      <p:sp>
        <p:nvSpPr>
          <p:cNvPr id="34" name="Google Shape;34;p6"/>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36" name="Google Shape;36;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9" name="Shape 39"/>
        <p:cNvGrpSpPr/>
        <p:nvPr/>
      </p:nvGrpSpPr>
      <p:grpSpPr>
        <a:xfrm>
          <a:off x="0" y="0"/>
          <a:ext cx="0" cy="0"/>
          <a:chOff x="0" y="0"/>
          <a:chExt cx="0" cy="0"/>
        </a:xfrm>
      </p:grpSpPr>
      <p:sp>
        <p:nvSpPr>
          <p:cNvPr id="40" name="Google Shape;40;p7"/>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7"/>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7"/>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3" name="Google Shape;43;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6" name="Shape 46"/>
        <p:cNvGrpSpPr/>
        <p:nvPr/>
      </p:nvGrpSpPr>
      <p:grpSpPr>
        <a:xfrm>
          <a:off x="0" y="0"/>
          <a:ext cx="0" cy="0"/>
          <a:chOff x="0" y="0"/>
          <a:chExt cx="0" cy="0"/>
        </a:xfrm>
      </p:grpSpPr>
      <p:sp>
        <p:nvSpPr>
          <p:cNvPr id="47" name="Google Shape;47;p8"/>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8"/>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9" name="Google Shape;49;p8"/>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0" name="Google Shape;50;p8"/>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1" name="Google Shape;51;p8"/>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55" name="Shape 55"/>
        <p:cNvGrpSpPr/>
        <p:nvPr/>
      </p:nvGrpSpPr>
      <p:grpSpPr>
        <a:xfrm>
          <a:off x="0" y="0"/>
          <a:ext cx="0" cy="0"/>
          <a:chOff x="0" y="0"/>
          <a:chExt cx="0" cy="0"/>
        </a:xfrm>
      </p:grpSpPr>
      <p:sp>
        <p:nvSpPr>
          <p:cNvPr id="56" name="Google Shape;56;p9"/>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0" name="Shape 60"/>
        <p:cNvGrpSpPr/>
        <p:nvPr/>
      </p:nvGrpSpPr>
      <p:grpSpPr>
        <a:xfrm>
          <a:off x="0" y="0"/>
          <a:ext cx="0" cy="0"/>
          <a:chOff x="0" y="0"/>
          <a:chExt cx="0" cy="0"/>
        </a:xfrm>
      </p:grpSpPr>
      <p:sp>
        <p:nvSpPr>
          <p:cNvPr id="61" name="Google Shape;61;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64" name="Shape 64"/>
        <p:cNvGrpSpPr/>
        <p:nvPr/>
      </p:nvGrpSpPr>
      <p:grpSpPr>
        <a:xfrm>
          <a:off x="0" y="0"/>
          <a:ext cx="0" cy="0"/>
          <a:chOff x="0" y="0"/>
          <a:chExt cx="0" cy="0"/>
        </a:xfrm>
      </p:grpSpPr>
      <p:sp>
        <p:nvSpPr>
          <p:cNvPr id="65" name="Google Shape;65;p11"/>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67" name="Google Shape;67;p11"/>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8" name="Google Shape;68;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1" name="Shape 71"/>
        <p:cNvGrpSpPr/>
        <p:nvPr/>
      </p:nvGrpSpPr>
      <p:grpSpPr>
        <a:xfrm>
          <a:off x="0" y="0"/>
          <a:ext cx="0" cy="0"/>
          <a:chOff x="0" y="0"/>
          <a:chExt cx="0" cy="0"/>
        </a:xfrm>
      </p:grpSpPr>
      <p:sp>
        <p:nvSpPr>
          <p:cNvPr id="72" name="Google Shape;72;p12"/>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p:nvPr>
            <p:ph type="pic" idx="2"/>
          </p:nvPr>
        </p:nvSpPr>
        <p:spPr>
          <a:xfrm>
            <a:off x="5183188" y="987425"/>
            <a:ext cx="6172200" cy="4873625"/>
          </a:xfrm>
          <a:prstGeom prst="rect">
            <a:avLst/>
          </a:prstGeom>
          <a:noFill/>
          <a:ln>
            <a:noFill/>
          </a:ln>
        </p:spPr>
      </p:sp>
      <p:sp>
        <p:nvSpPr>
          <p:cNvPr id="74" name="Google Shape;74;p12"/>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5" name="Google Shape;75;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8" name="Shape 78"/>
        <p:cNvGrpSpPr/>
        <p:nvPr/>
      </p:nvGrpSpPr>
      <p:grpSpPr>
        <a:xfrm>
          <a:off x="0" y="0"/>
          <a:ext cx="0" cy="0"/>
          <a:chOff x="0" y="0"/>
          <a:chExt cx="0" cy="0"/>
        </a:xfrm>
      </p:grpSpPr>
      <p:sp>
        <p:nvSpPr>
          <p:cNvPr id="79" name="Google Shape;79;p13"/>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3"/>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1" name="Google Shape;81;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84" name="Shape 84"/>
        <p:cNvGrpSpPr/>
        <p:nvPr/>
      </p:nvGrpSpPr>
      <p:grpSpPr>
        <a:xfrm>
          <a:off x="0" y="0"/>
          <a:ext cx="0" cy="0"/>
          <a:chOff x="0" y="0"/>
          <a:chExt cx="0" cy="0"/>
        </a:xfrm>
      </p:grpSpPr>
      <p:sp>
        <p:nvSpPr>
          <p:cNvPr id="85" name="Google Shape;85;p14"/>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4"/>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lnSpc>
                <a:spcPct val="100000"/>
              </a:lnSpc>
              <a:spcBef>
                <a:spcPts val="0"/>
              </a:spcBef>
              <a:spcAft>
                <a:spcPts val="0"/>
              </a:spcAft>
              <a:buClr>
                <a:srgbClr val="000000"/>
              </a:buClr>
              <a:buSzPts val="1200"/>
              <a:buFont typeface="Arial" panose="020B0604020202020204"/>
              <a:buNone/>
              <a:defRPr sz="1200" b="1"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tags" Target="../tags/tag1.xml"/></Relationships>
</file>

<file path=ppt/slides/_rels/slide6.xml.rels><?xml version="1.0" encoding="UTF-8" standalone="yes"?>
<Relationships xmlns="http://schemas.openxmlformats.org/package/2006/relationships"><Relationship Id="rId9" Type="http://schemas.openxmlformats.org/officeDocument/2006/relationships/notesSlide" Target="../notesSlides/notesSlide6.xml"/><Relationship Id="rId8" Type="http://schemas.openxmlformats.org/officeDocument/2006/relationships/slideLayout" Target="../slideLayouts/slideLayout1.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image" Target="../media/image5.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tags" Target="../tags/tag7.xml"/><Relationship Id="rId2" Type="http://schemas.openxmlformats.org/officeDocument/2006/relationships/image" Target="../media/image7.pn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11.xml"/><Relationship Id="rId3" Type="http://schemas.openxmlformats.org/officeDocument/2006/relationships/slideLayout" Target="../slideLayouts/slideLayout1.xml"/><Relationship Id="rId2" Type="http://schemas.openxmlformats.org/officeDocument/2006/relationships/tags" Target="../tags/tag9.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11.png"/><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9" Type="http://schemas.openxmlformats.org/officeDocument/2006/relationships/tags" Target="../tags/tag17.xml"/><Relationship Id="rId8" Type="http://schemas.openxmlformats.org/officeDocument/2006/relationships/tags" Target="../tags/tag16.xml"/><Relationship Id="rId7" Type="http://schemas.openxmlformats.org/officeDocument/2006/relationships/tags" Target="../tags/tag15.xml"/><Relationship Id="rId6" Type="http://schemas.openxmlformats.org/officeDocument/2006/relationships/tags" Target="../tags/tag14.xml"/><Relationship Id="rId5" Type="http://schemas.openxmlformats.org/officeDocument/2006/relationships/tags" Target="../tags/tag13.xml"/><Relationship Id="rId4" Type="http://schemas.openxmlformats.org/officeDocument/2006/relationships/tags" Target="../tags/tag12.xml"/><Relationship Id="rId3" Type="http://schemas.openxmlformats.org/officeDocument/2006/relationships/tags" Target="../tags/tag11.xml"/><Relationship Id="rId2" Type="http://schemas.openxmlformats.org/officeDocument/2006/relationships/tags" Target="../tags/tag10.xml"/><Relationship Id="rId15" Type="http://schemas.openxmlformats.org/officeDocument/2006/relationships/notesSlide" Target="../notesSlides/notesSlide15.xml"/><Relationship Id="rId14" Type="http://schemas.openxmlformats.org/officeDocument/2006/relationships/slideLayout" Target="../slideLayouts/slideLayout1.xml"/><Relationship Id="rId13" Type="http://schemas.openxmlformats.org/officeDocument/2006/relationships/tags" Target="../tags/tag21.xml"/><Relationship Id="rId12" Type="http://schemas.openxmlformats.org/officeDocument/2006/relationships/tags" Target="../tags/tag20.xml"/><Relationship Id="rId11" Type="http://schemas.openxmlformats.org/officeDocument/2006/relationships/tags" Target="../tags/tag19.xml"/><Relationship Id="rId10" Type="http://schemas.openxmlformats.org/officeDocument/2006/relationships/tags" Target="../tags/tag18.xml"/><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tags" Target="../tags/tag2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9" Type="http://schemas.openxmlformats.org/officeDocument/2006/relationships/tags" Target="../tags/tag31.xml"/><Relationship Id="rId8" Type="http://schemas.openxmlformats.org/officeDocument/2006/relationships/tags" Target="../tags/tag30.xml"/><Relationship Id="rId7" Type="http://schemas.openxmlformats.org/officeDocument/2006/relationships/tags" Target="../tags/tag29.xml"/><Relationship Id="rId6" Type="http://schemas.openxmlformats.org/officeDocument/2006/relationships/tags" Target="../tags/tag28.xml"/><Relationship Id="rId5" Type="http://schemas.openxmlformats.org/officeDocument/2006/relationships/tags" Target="../tags/tag27.xml"/><Relationship Id="rId4" Type="http://schemas.openxmlformats.org/officeDocument/2006/relationships/tags" Target="../tags/tag26.xml"/><Relationship Id="rId3" Type="http://schemas.openxmlformats.org/officeDocument/2006/relationships/tags" Target="../tags/tag25.xml"/><Relationship Id="rId2" Type="http://schemas.openxmlformats.org/officeDocument/2006/relationships/tags" Target="../tags/tag24.xml"/><Relationship Id="rId14" Type="http://schemas.openxmlformats.org/officeDocument/2006/relationships/notesSlide" Target="../notesSlides/notesSlide23.xml"/><Relationship Id="rId13" Type="http://schemas.openxmlformats.org/officeDocument/2006/relationships/slideLayout" Target="../slideLayouts/slideLayout2.xml"/><Relationship Id="rId12" Type="http://schemas.openxmlformats.org/officeDocument/2006/relationships/tags" Target="../tags/tag34.xml"/><Relationship Id="rId11" Type="http://schemas.openxmlformats.org/officeDocument/2006/relationships/tags" Target="../tags/tag33.xml"/><Relationship Id="rId10" Type="http://schemas.openxmlformats.org/officeDocument/2006/relationships/tags" Target="../tags/tag32.xml"/><Relationship Id="rId1" Type="http://schemas.openxmlformats.org/officeDocument/2006/relationships/tags" Target="../tags/tag23.xml"/></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xml"/><Relationship Id="rId1"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15"/>
          <p:cNvSpPr txBox="1"/>
          <p:nvPr/>
        </p:nvSpPr>
        <p:spPr>
          <a:xfrm>
            <a:off x="267600" y="2868567"/>
            <a:ext cx="11656800" cy="1642745"/>
          </a:xfrm>
          <a:prstGeom prst="rect">
            <a:avLst/>
          </a:prstGeom>
          <a:noFill/>
          <a:ln>
            <a:noFill/>
          </a:ln>
        </p:spPr>
        <p:txBody>
          <a:bodyPr spcFirstLastPara="1" wrap="square" lIns="105100" tIns="52525" rIns="105100" bIns="52525" anchor="t" anchorCtr="0">
            <a:spAutoFit/>
          </a:bodyPr>
          <a:lstStyle/>
          <a:p>
            <a:pPr marL="0" marR="0" lvl="0" indent="0" algn="ctr" rtl="0">
              <a:lnSpc>
                <a:spcPct val="100000"/>
              </a:lnSpc>
              <a:spcBef>
                <a:spcPts val="0"/>
              </a:spcBef>
              <a:spcAft>
                <a:spcPts val="0"/>
              </a:spcAft>
              <a:buClr>
                <a:srgbClr val="000000"/>
              </a:buClr>
              <a:buSzPts val="4633"/>
              <a:buFont typeface="Arial" panose="020B0604020202020204"/>
              <a:buNone/>
            </a:pPr>
            <a:r>
              <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Online Payment Fraud Detection</a:t>
            </a:r>
            <a:endParaRPr lang="en-US" alt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0" marR="0" lvl="0" indent="0" algn="ctr" rtl="0">
              <a:lnSpc>
                <a:spcPct val="100000"/>
              </a:lnSpc>
              <a:spcBef>
                <a:spcPts val="0"/>
              </a:spcBef>
              <a:spcAft>
                <a:spcPts val="0"/>
              </a:spcAft>
              <a:buClr>
                <a:srgbClr val="000000"/>
              </a:buClr>
              <a:buSzPts val="4633"/>
              <a:buFont typeface="Arial" panose="020B0604020202020204"/>
              <a:buNone/>
            </a:pPr>
            <a:r>
              <a:rPr lang="en-US"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endParaRPr sz="5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96" name="Google Shape;96;p15"/>
          <p:cNvSpPr txBox="1"/>
          <p:nvPr/>
        </p:nvSpPr>
        <p:spPr>
          <a:xfrm>
            <a:off x="2215515" y="3733800"/>
            <a:ext cx="7761605" cy="103251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sz="2800" b="1" i="0" u="none" strike="noStrike" cap="none">
                <a:solidFill>
                  <a:srgbClr val="7030A0"/>
                </a:solidFill>
                <a:latin typeface="Montserrat" panose="00000500000000000000" charset="0"/>
                <a:ea typeface="Arial" panose="020B0604020202020204"/>
                <a:cs typeface="Montserrat" panose="00000500000000000000" charset="0"/>
                <a:sym typeface="Arial" panose="020B0604020202020204"/>
              </a:rPr>
              <a:t>Final Project: </a:t>
            </a:r>
            <a:r>
              <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Paytm Financial Fraud Dataset (51,623 transactions)</a:t>
            </a:r>
            <a:endParaRPr lang="en-US" altLang="en-US" sz="2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97" name="Google Shape;97;p1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 name="Google Shape;96;p15"/>
          <p:cNvSpPr txBox="1"/>
          <p:nvPr/>
        </p:nvSpPr>
        <p:spPr>
          <a:xfrm>
            <a:off x="3506470" y="4797425"/>
            <a:ext cx="5049520" cy="64579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800"/>
              <a:buFont typeface="Arial" panose="020B0604020202020204"/>
              <a:buNone/>
            </a:pPr>
            <a:r>
              <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Presented By : Shraddha Tiwari</a:t>
            </a:r>
            <a:endParaRPr lang="en-US" altLang="en-US" sz="18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03" name="Shape 103"/>
        <p:cNvGrpSpPr/>
        <p:nvPr/>
      </p:nvGrpSpPr>
      <p:grpSpPr>
        <a:xfrm>
          <a:off x="0" y="0"/>
          <a:ext cx="0" cy="0"/>
          <a:chOff x="0" y="0"/>
          <a:chExt cx="0" cy="0"/>
        </a:xfrm>
      </p:grpSpPr>
      <p:sp>
        <p:nvSpPr>
          <p:cNvPr id="104" name="Google Shape;104;p16"/>
          <p:cNvSpPr txBox="1"/>
          <p:nvPr/>
        </p:nvSpPr>
        <p:spPr>
          <a:xfrm>
            <a:off x="191346" y="836761"/>
            <a:ext cx="11656800" cy="719455"/>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Problem Statement</a:t>
            </a:r>
            <a:endParaRPr sz="4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05" name="Google Shape;105;p16"/>
          <p:cNvSpPr txBox="1"/>
          <p:nvPr/>
        </p:nvSpPr>
        <p:spPr>
          <a:xfrm>
            <a:off x="318770" y="1718945"/>
            <a:ext cx="11679555" cy="4859020"/>
          </a:xfrm>
          <a:prstGeom prst="rect">
            <a:avLst/>
          </a:prstGeom>
          <a:noFill/>
          <a:ln>
            <a:noFill/>
          </a:ln>
        </p:spPr>
        <p:txBody>
          <a:bodyPr spcFirstLastPara="1" wrap="square" lIns="121900" tIns="121900" rIns="121900" bIns="121900" anchor="t" anchorCtr="0">
            <a:spAutoFit/>
          </a:bodyPr>
          <a:lstStyle/>
          <a:p>
            <a:pPr marL="457200" marR="0" lvl="0" indent="0" algn="just" rtl="0">
              <a:lnSpc>
                <a:spcPct val="200000"/>
              </a:lnSpc>
              <a:spcBef>
                <a:spcPts val="1600"/>
              </a:spcBef>
              <a:spcAft>
                <a:spcPts val="0"/>
              </a:spcAft>
              <a:buClr>
                <a:srgbClr val="000000"/>
              </a:buClr>
              <a:buSzPts val="2500"/>
              <a:buFont typeface="Arial" panose="020B0604020202020204"/>
              <a:buNone/>
            </a:pPr>
            <a:r>
              <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Online payment systems have become widely used due to their convenience and speed. However, the rise in digital transactions has also increased the risk of fraud, where unauthorized users exploit system vulnerabilities. This creates financial losses and reduces user trust. Therefore, an effective system is needed to detect and prevent fraudulent transactions in real time.</a:t>
            </a:r>
            <a:endParaRPr lang="en-US" altLang="en-US" sz="2500" b="0"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06" name="Google Shape;106;p1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07" name="Google Shape;107;p16"/>
          <p:cNvSpPr txBox="1"/>
          <p:nvPr/>
        </p:nvSpPr>
        <p:spPr>
          <a:xfrm>
            <a:off x="169121" y="3541809"/>
            <a:ext cx="11656800" cy="649800"/>
          </a:xfrm>
          <a:prstGeom prst="rect">
            <a:avLst/>
          </a:prstGeom>
          <a:noFill/>
          <a:ln>
            <a:noFill/>
          </a:ln>
        </p:spPr>
        <p:txBody>
          <a:bodyPr spcFirstLastPara="1" wrap="square" lIns="105100" tIns="52525" rIns="105100" bIns="52525" anchor="t" anchorCtr="0">
            <a:spAutoFit/>
          </a:bodyPr>
          <a:lstStyle/>
          <a:p>
            <a:pPr marL="0" marR="0" lvl="0" indent="0" algn="l" rtl="0">
              <a:lnSpc>
                <a:spcPct val="100000"/>
              </a:lnSpc>
              <a:spcBef>
                <a:spcPts val="0"/>
              </a:spcBef>
              <a:spcAft>
                <a:spcPts val="0"/>
              </a:spcAft>
              <a:buClr>
                <a:srgbClr val="000000"/>
              </a:buClr>
              <a:buSzPts val="3533"/>
              <a:buFont typeface="Arial" panose="020B0604020202020204"/>
              <a:buNone/>
            </a:pPr>
            <a:endParaRPr sz="3535"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17"/>
          <p:cNvSpPr txBox="1"/>
          <p:nvPr/>
        </p:nvSpPr>
        <p:spPr>
          <a:xfrm>
            <a:off x="695325" y="548640"/>
            <a:ext cx="6976745" cy="745490"/>
          </a:xfrm>
          <a:prstGeom prst="rect">
            <a:avLst/>
          </a:prstGeom>
          <a:noFill/>
          <a:ln>
            <a:noFill/>
          </a:ln>
        </p:spPr>
        <p:txBody>
          <a:bodyPr spcFirstLastPara="1" wrap="square" lIns="121900" tIns="121900" rIns="121900" bIns="121900" anchor="t" anchorCtr="0">
            <a:noAutofit/>
          </a:bodyPr>
          <a:lstStyle/>
          <a:p>
            <a:pPr marL="0" marR="0" lvl="0" indent="0" algn="l" rtl="0">
              <a:lnSpc>
                <a:spcPct val="100000"/>
              </a:lnSpc>
              <a:spcBef>
                <a:spcPts val="0"/>
              </a:spcBef>
              <a:spcAft>
                <a:spcPts val="0"/>
              </a:spcAft>
              <a:buClr>
                <a:srgbClr val="000000"/>
              </a:buClr>
              <a:buSzPts val="3533"/>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Key Objectives</a:t>
            </a:r>
            <a:endPar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3" name="Google Shape;113;p17"/>
          <p:cNvSpPr txBox="1"/>
          <p:nvPr/>
        </p:nvSpPr>
        <p:spPr>
          <a:xfrm>
            <a:off x="767244" y="1053110"/>
            <a:ext cx="10835100" cy="5012690"/>
          </a:xfrm>
          <a:prstGeom prst="rect">
            <a:avLst/>
          </a:prstGeom>
          <a:noFill/>
          <a:ln>
            <a:noFill/>
          </a:ln>
        </p:spPr>
        <p:txBody>
          <a:bodyPr spcFirstLastPara="1" wrap="square" lIns="121900" tIns="121900" rIns="121900" bIns="121900" anchor="t" anchorCtr="0">
            <a:spAutoFit/>
          </a:bodyPr>
          <a:lstStyle/>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Detect Fraud Accurately</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a:solidFill>
                  <a:schemeClr val="dk1"/>
                </a:solidFill>
                <a:latin typeface="Montserrat" panose="00000500000000000000" charset="0"/>
                <a:cs typeface="Montserrat" panose="00000500000000000000" charset="0"/>
                <a:sym typeface="Arial" panose="020B0604020202020204"/>
              </a:rPr>
              <a:t>Build models to precisely identify fraudulent transactions using patterns, anomalies, and user behavior from historical payment data.</a:t>
            </a:r>
            <a:endParaRPr lang="en-US" altLang="en-US" sz="2000">
              <a:solidFill>
                <a:schemeClr val="dk1"/>
              </a:solidFill>
              <a:latin typeface="Montserrat" panose="00000500000000000000" charset="0"/>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a:solidFill>
                  <a:schemeClr val="dk1"/>
                </a:solidFill>
                <a:latin typeface="Montserrat" panose="00000500000000000000" charset="0"/>
                <a:cs typeface="Montserrat" panose="00000500000000000000" charset="0"/>
                <a:sym typeface="Arial" panose="020B0604020202020204"/>
              </a:rPr>
              <a:t>Compare Multiple Models</a:t>
            </a:r>
            <a:r>
              <a:rPr lang="en-US" sz="2000">
                <a:solidFill>
                  <a:schemeClr val="dk1"/>
                </a:solidFill>
                <a:latin typeface="Montserrat" panose="00000500000000000000" charset="0"/>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Evaluate algorithms like Logistic Regression, Decision Tree, and Random Forest to select the most effective fraud detection model.</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368300" algn="l" rtl="0">
              <a:lnSpc>
                <a:spcPct val="150000"/>
              </a:lnSpc>
              <a:spcBef>
                <a:spcPts val="1600"/>
              </a:spcBef>
              <a:spcAft>
                <a:spcPts val="0"/>
              </a:spcAft>
              <a:buClr>
                <a:schemeClr val="dk1"/>
              </a:buClr>
              <a:buSzPts val="2200"/>
              <a:buFont typeface="Montserrat" panose="00000500000000000000"/>
              <a:buChar char="●"/>
            </a:pPr>
            <a:r>
              <a:rPr lang="en-US" altLang="en-US" sz="2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Optimize Performance</a:t>
            </a:r>
            <a:r>
              <a:rPr 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 </a:t>
            </a:r>
            <a:r>
              <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Tune hyperparameters and improve model accuracy, precision, recall, and F1-score to ensure reliable and efficient fraud detection.</a:t>
            </a:r>
            <a:endParaRPr lang="en-US" altLang="en-US"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457200" marR="0" lvl="0" indent="0" algn="l" rtl="0">
              <a:lnSpc>
                <a:spcPct val="150000"/>
              </a:lnSpc>
              <a:spcBef>
                <a:spcPts val="1600"/>
              </a:spcBef>
              <a:spcAft>
                <a:spcPts val="0"/>
              </a:spcAft>
              <a:buClr>
                <a:srgbClr val="000000"/>
              </a:buClr>
              <a:buSzPts val="2200"/>
              <a:buFont typeface="Arial" panose="020B0604020202020204"/>
              <a:buNone/>
            </a:pPr>
            <a:endParaRPr sz="2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14" name="Google Shape;114;p1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18" name="Shape 118"/>
        <p:cNvGrpSpPr/>
        <p:nvPr/>
      </p:nvGrpSpPr>
      <p:grpSpPr>
        <a:xfrm>
          <a:off x="0" y="0"/>
          <a:ext cx="0" cy="0"/>
          <a:chOff x="0" y="0"/>
          <a:chExt cx="0" cy="0"/>
        </a:xfrm>
      </p:grpSpPr>
      <p:sp>
        <p:nvSpPr>
          <p:cNvPr id="119" name="Google Shape;119;p18"/>
          <p:cNvSpPr/>
          <p:nvPr/>
        </p:nvSpPr>
        <p:spPr>
          <a:xfrm>
            <a:off x="1286561" y="709742"/>
            <a:ext cx="7373961" cy="120032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2400"/>
              <a:buFont typeface="Arial" panose="020B0604020202020204"/>
              <a:buNone/>
            </a:pPr>
            <a:br>
              <a:rPr lang="en-US" sz="24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4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00000"/>
              </a:lnSpc>
              <a:spcBef>
                <a:spcPts val="0"/>
              </a:spcBef>
              <a:spcAft>
                <a:spcPts val="0"/>
              </a:spcAft>
              <a:buClr>
                <a:srgbClr val="000000"/>
              </a:buClr>
              <a:buSzPts val="2400"/>
              <a:buFont typeface="Arial" panose="020B0604020202020204"/>
              <a:buNone/>
            </a:pPr>
            <a:endParaRPr sz="2400" b="1"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0" name="Google Shape;120;p18"/>
          <p:cNvSpPr txBox="1"/>
          <p:nvPr/>
        </p:nvSpPr>
        <p:spPr>
          <a:xfrm>
            <a:off x="349946" y="477135"/>
            <a:ext cx="11472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Exploratory Data Analysis</a:t>
            </a:r>
            <a:endParaRPr lang="en-US" sz="30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21" name="Google Shape;121;p18"/>
          <p:cNvSpPr/>
          <p:nvPr/>
        </p:nvSpPr>
        <p:spPr>
          <a:xfrm>
            <a:off x="407035" y="1052830"/>
            <a:ext cx="6397625" cy="2081530"/>
          </a:xfrm>
          <a:prstGeom prst="rect">
            <a:avLst/>
          </a:prstGeom>
          <a:noFill/>
          <a:ln>
            <a:noFill/>
          </a:ln>
        </p:spPr>
        <p:txBody>
          <a:bodyPr spcFirstLastPara="1" wrap="square" lIns="91425" tIns="45700" rIns="91425" bIns="45700"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The Paytm dataset contains mobile money transactions with 10 columns. The target column 'isFraud' marks fraudulent transactions. Key features include transaction amount, type, and sender/receiver balance changes.</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Calibri" panose="020F0502020204030204"/>
              </a:rPr>
              <a:t>51,623 total transactions (rows)</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10 columns: step, type, amount, nameOrig, oldbalanceOrg,</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newbalanceOrig, nameDest, oldbalanceDest, newbalanceDest, isFraud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5 types: PAYMENT, CASH_OUT, CASH_IN, TRANSFER, DEBIT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Target: isFraud (0 = Legit, 1 = Fraud)</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r>
              <a:rPr lang="en-US" altLang="en-US" sz="1800" b="0" i="0" u="none" strike="noStrike" cap="none">
                <a:solidFill>
                  <a:schemeClr val="dk1"/>
                </a:solidFill>
                <a:latin typeface="Montserrat" panose="00000500000000000000" charset="0"/>
                <a:cs typeface="Montserrat" panose="00000500000000000000" charset="0"/>
                <a:sym typeface="Calibri" panose="020F0502020204030204"/>
              </a:rPr>
              <a:t>No missing values — clean dataset</a:t>
            </a:r>
            <a:endParaRPr lang="en-US" altLang="en-US" sz="1800" b="0" i="0" u="none" strike="noStrike" cap="none">
              <a:solidFill>
                <a:schemeClr val="dk1"/>
              </a:solidFill>
              <a:latin typeface="Montserrat" panose="00000500000000000000" charset="0"/>
              <a:cs typeface="Montserrat" panose="00000500000000000000" charset="0"/>
              <a:sym typeface="Calibri" panose="020F0502020204030204"/>
            </a:endParaRPr>
          </a:p>
          <a:p>
            <a:pPr marL="0" marR="0" lvl="0" indent="0" algn="l" rtl="0">
              <a:lnSpc>
                <a:spcPct val="150000"/>
              </a:lnSpc>
              <a:spcBef>
                <a:spcPts val="0"/>
              </a:spcBef>
              <a:spcAft>
                <a:spcPts val="0"/>
              </a:spcAft>
              <a:buClr>
                <a:schemeClr val="dk1"/>
              </a:buClr>
              <a:buSzPts val="1100"/>
              <a:buFont typeface="Arial" panose="020B0604020202020204"/>
              <a:buNone/>
            </a:pPr>
            <a:endParaRPr sz="7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50000"/>
              </a:lnSpc>
              <a:spcBef>
                <a:spcPts val="0"/>
              </a:spcBef>
              <a:spcAft>
                <a:spcPts val="0"/>
              </a:spcAft>
              <a:buClr>
                <a:srgbClr val="000000"/>
              </a:buClr>
              <a:buSzPts val="1033"/>
              <a:buFont typeface="Arial" panose="020B0604020202020204"/>
              <a:buNone/>
            </a:pPr>
            <a:br>
              <a:rPr lang="en-US" sz="1035"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1035"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a:p>
            <a:pPr marL="0" marR="0" lvl="0" indent="0" algn="l" rtl="0">
              <a:lnSpc>
                <a:spcPct val="150000"/>
              </a:lnSpc>
              <a:spcBef>
                <a:spcPts val="0"/>
              </a:spcBef>
              <a:spcAft>
                <a:spcPts val="0"/>
              </a:spcAft>
              <a:buClr>
                <a:srgbClr val="000000"/>
              </a:buClr>
              <a:buSzPts val="1033"/>
              <a:buFont typeface="Arial" panose="020B0604020202020204"/>
              <a:buNone/>
            </a:pPr>
            <a:endParaRPr sz="1035"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2100"/>
              <a:buFont typeface="Arial" panose="020B0604020202020204"/>
              <a:buNone/>
            </a:pPr>
            <a:br>
              <a:rPr lang="en-US" sz="2100" b="0" i="0" u="none" strike="noStrike" cap="none">
                <a:solidFill>
                  <a:schemeClr val="dk1"/>
                </a:solidFill>
                <a:latin typeface="Calibri" panose="020F0502020204030204"/>
                <a:ea typeface="Calibri" panose="020F0502020204030204"/>
                <a:cs typeface="Calibri" panose="020F0502020204030204"/>
                <a:sym typeface="Calibri" panose="020F0502020204030204"/>
              </a:rPr>
            </a:br>
            <a:endParaRPr sz="21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22" name="Google Shape;122;p18"/>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3" name="Google Shape;123;p18"/>
          <p:cNvSpPr txBox="1"/>
          <p:nvPr/>
        </p:nvSpPr>
        <p:spPr>
          <a:xfrm>
            <a:off x="6887845" y="1052830"/>
            <a:ext cx="5205095" cy="575945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numpy as np</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pandas as pd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matplotlib.pyplot as plt</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import seaborn as sns</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%matplotlib inline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from google.colab import 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drive.mount('/content/drive')</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filepath ='/content/drive/MyDrive/data_file.csv'</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 = pd.read_csv(filepath)</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data.head()</a:t>
            </a:r>
            <a:endPar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endParaRPr>
          </a:p>
          <a:p>
            <a:pPr marL="0" indent="0">
              <a:buNone/>
            </a:pPr>
            <a:endParaRPr lang="en-US" alt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Dataset overview</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print("Shape:", </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.shape)          # (51623, 10)</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.dtypes)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.isnull().sum())           # No nulls</a:t>
            </a:r>
            <a:endParaRPr lang="en-US" sz="1450" dirty="0">
              <a:highlight>
                <a:srgbClr val="F7F7F7"/>
              </a:highlight>
              <a:latin typeface="Montserrat" panose="00000500000000000000" charset="0"/>
              <a:cs typeface="Montserrat" panose="00000500000000000000" charset="0"/>
            </a:endParaRPr>
          </a:p>
          <a:p>
            <a:pPr marL="0" indent="0">
              <a:buNone/>
            </a:pP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Class distribution</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print(</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data</a:t>
            </a: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['isFraud'].value_counts())</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0    51523</a:t>
            </a:r>
            <a:endParaRPr lang="en-US" sz="1450" dirty="0">
              <a:highlight>
                <a:srgbClr val="F7F7F7"/>
              </a:highlight>
              <a:latin typeface="Montserrat" panose="00000500000000000000" charset="0"/>
              <a:cs typeface="Montserrat" panose="00000500000000000000" charset="0"/>
            </a:endParaRPr>
          </a:p>
          <a:p>
            <a:pPr marL="0" indent="0">
              <a:buNone/>
            </a:pPr>
            <a:r>
              <a:rPr lang="en-US" sz="1450" dirty="0">
                <a:solidFill>
                  <a:srgbClr val="1A3A5C"/>
                </a:solidFill>
                <a:highlight>
                  <a:srgbClr val="F7F7F7"/>
                </a:highlight>
                <a:latin typeface="Montserrat" panose="00000500000000000000" charset="0"/>
                <a:ea typeface="Courier New" panose="02070309020205020404" pitchFamily="34" charset="-122"/>
                <a:cs typeface="Montserrat" panose="00000500000000000000" charset="0"/>
                <a:sym typeface="+mn-ea"/>
              </a:rPr>
              <a:t># 1      100</a:t>
            </a:r>
            <a:endParaRPr lang="en-US" sz="1450" dirty="0">
              <a:highlight>
                <a:srgbClr val="F7F7F7"/>
              </a:highlight>
              <a:latin typeface="Montserrat" panose="00000500000000000000" charset="0"/>
              <a:cs typeface="Montserrat" panose="00000500000000000000" charset="0"/>
            </a:endParaRPr>
          </a:p>
          <a:p>
            <a:pPr marL="0" marR="0" lvl="0" indent="0" algn="l" rtl="0">
              <a:lnSpc>
                <a:spcPct val="136000"/>
              </a:lnSpc>
              <a:spcBef>
                <a:spcPts val="0"/>
              </a:spcBef>
              <a:spcAft>
                <a:spcPts val="0"/>
              </a:spcAft>
              <a:buClr>
                <a:srgbClr val="000000"/>
              </a:buClr>
              <a:buSzPts val="1450"/>
              <a:buFont typeface="Arial" panose="020B0604020202020204"/>
              <a:buNone/>
            </a:pPr>
            <a:endParaRPr sz="1450" b="0" i="0" u="none" strike="noStrike" cap="none">
              <a:solidFill>
                <a:schemeClr val="dk1"/>
              </a:solidFill>
              <a:highlight>
                <a:srgbClr val="F7F7F7"/>
              </a:highlight>
              <a:latin typeface="Courier New" panose="02070309020205020404"/>
              <a:ea typeface="Courier New" panose="02070309020205020404"/>
              <a:cs typeface="Courier New" panose="02070309020205020404"/>
              <a:sym typeface="Courier New" panose="02070309020205020404"/>
            </a:endParaRPr>
          </a:p>
          <a:p>
            <a:pPr marL="0" marR="0" lvl="0" indent="0" algn="l" rtl="0">
              <a:lnSpc>
                <a:spcPct val="136000"/>
              </a:lnSpc>
              <a:spcBef>
                <a:spcPts val="0"/>
              </a:spcBef>
              <a:spcAft>
                <a:spcPts val="0"/>
              </a:spcAft>
              <a:buClr>
                <a:schemeClr val="dk1"/>
              </a:buClr>
              <a:buSzPts val="1100"/>
              <a:buFont typeface="Arial" panose="020B0604020202020204"/>
              <a:buNone/>
            </a:pPr>
            <a:endParaRPr sz="1250" b="0" i="0" u="none" strike="noStrike" cap="none">
              <a:solidFill>
                <a:srgbClr val="008000"/>
              </a:solidFill>
              <a:highlight>
                <a:srgbClr val="F7F7F7"/>
              </a:highlight>
              <a:latin typeface="Courier New" panose="02070309020205020404"/>
              <a:ea typeface="Courier New" panose="02070309020205020404"/>
              <a:cs typeface="Courier New" panose="02070309020205020404"/>
              <a:sym typeface="Courier New" panose="020703090202050204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27" name="Shape 127"/>
        <p:cNvGrpSpPr/>
        <p:nvPr/>
      </p:nvGrpSpPr>
      <p:grpSpPr>
        <a:xfrm>
          <a:off x="0" y="0"/>
          <a:ext cx="0" cy="0"/>
          <a:chOff x="0" y="0"/>
          <a:chExt cx="0" cy="0"/>
        </a:xfrm>
      </p:grpSpPr>
      <p:sp>
        <p:nvSpPr>
          <p:cNvPr id="128" name="Google Shape;128;p19"/>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9" name="Google Shape;129;p19"/>
          <p:cNvSpPr txBox="1"/>
          <p:nvPr/>
        </p:nvSpPr>
        <p:spPr>
          <a:xfrm>
            <a:off x="156210" y="549275"/>
            <a:ext cx="9843770" cy="54102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Transaction Type Distribution</a:t>
            </a:r>
            <a:endParaRPr lang="en-US" altLang="en-US" sz="30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31" name="Google Shape;131;p19"/>
          <p:cNvSpPr txBox="1"/>
          <p:nvPr/>
        </p:nvSpPr>
        <p:spPr>
          <a:xfrm>
            <a:off x="156075" y="1443025"/>
            <a:ext cx="3854100" cy="61976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0"/>
          <p:cNvGraphicFramePr>
            <a:graphicFrameLocks noGrp="1"/>
          </p:cNvGraphicFramePr>
          <p:nvPr>
            <p:custDataLst>
              <p:tags r:id="rId1"/>
            </p:custDataLst>
          </p:nvPr>
        </p:nvGraphicFramePr>
        <p:xfrm>
          <a:off x="154940" y="1291590"/>
          <a:ext cx="5905500" cy="3515995"/>
        </p:xfrm>
        <a:graphic>
          <a:graphicData uri="http://schemas.openxmlformats.org/drawingml/2006/table">
            <a:tbl>
              <a:tblPr/>
              <a:tblGrid>
                <a:gridCol w="1476375"/>
                <a:gridCol w="1476375"/>
                <a:gridCol w="1476375"/>
                <a:gridCol w="1476375"/>
              </a:tblGrid>
              <a:tr h="403225">
                <a:tc>
                  <a:txBody>
                    <a:bodyPr/>
                    <a:lstStyle/>
                    <a:p>
                      <a:pPr marL="0" indent="0" algn="ctr">
                        <a:buNone/>
                      </a:pPr>
                      <a:r>
                        <a:rPr lang="en-US" altLang="en-US" sz="1400">
                          <a:solidFill>
                            <a:schemeClr val="bg1"/>
                          </a:solidFill>
                          <a:latin typeface="Montserrat" panose="00000500000000000000" charset="0"/>
                          <a:cs typeface="Montserrat" panose="00000500000000000000" charset="0"/>
                        </a:rPr>
                        <a:t>Type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Count</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Share</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altLang="en-US" sz="1400">
                          <a:solidFill>
                            <a:schemeClr val="bg1"/>
                          </a:solidFill>
                          <a:latin typeface="Montserrat" panose="00000500000000000000" charset="0"/>
                          <a:cs typeface="Montserrat" panose="00000500000000000000" charset="0"/>
                        </a:rPr>
                        <a:t>Fraud?</a:t>
                      </a:r>
                      <a:endParaRPr lang="en-US" altLang="en-US" sz="1400">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PAYMENT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22,500</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43.6%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CASH_OUT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14,243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27.6%</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51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6910">
                <a:tc>
                  <a:txBody>
                    <a:bodyPr/>
                    <a:lstStyle/>
                    <a:p>
                      <a:pPr marL="0" indent="0" algn="ctr">
                        <a:buNone/>
                      </a:pPr>
                      <a:r>
                        <a:rPr lang="en-US" altLang="en-US" sz="1400">
                          <a:solidFill>
                            <a:schemeClr val="dk1"/>
                          </a:solidFill>
                          <a:latin typeface="Montserrat" panose="00000500000000000000" charset="0"/>
                          <a:cs typeface="Montserrat" panose="00000500000000000000" charset="0"/>
                        </a:rPr>
                        <a:t>CASH_IN</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9,358</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18.1%</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677545">
                <a:tc>
                  <a:txBody>
                    <a:bodyPr/>
                    <a:lstStyle/>
                    <a:p>
                      <a:pPr marL="0" indent="0" algn="ctr">
                        <a:buNone/>
                      </a:pPr>
                      <a:r>
                        <a:rPr lang="en-US" altLang="en-US" sz="1400">
                          <a:solidFill>
                            <a:schemeClr val="dk1"/>
                          </a:solidFill>
                          <a:latin typeface="Montserrat" panose="00000500000000000000" charset="0"/>
                          <a:cs typeface="Montserrat" panose="00000500000000000000" charset="0"/>
                        </a:rPr>
                        <a:t>TRANSFER</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4,855</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9.4%</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49 cases</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03225">
                <a:tc>
                  <a:txBody>
                    <a:bodyPr/>
                    <a:lstStyle/>
                    <a:p>
                      <a:pPr marL="0" indent="0" algn="ctr">
                        <a:buNone/>
                      </a:pPr>
                      <a:r>
                        <a:rPr lang="en-US" altLang="en-US" sz="1400">
                          <a:solidFill>
                            <a:schemeClr val="dk1"/>
                          </a:solidFill>
                          <a:latin typeface="Montserrat" panose="00000500000000000000" charset="0"/>
                          <a:cs typeface="Montserrat" panose="00000500000000000000" charset="0"/>
                        </a:rPr>
                        <a:t>DEBIT</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667</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 1.3%</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altLang="en-US" sz="1400">
                          <a:solidFill>
                            <a:schemeClr val="dk1"/>
                          </a:solidFill>
                          <a:latin typeface="Montserrat" panose="00000500000000000000" charset="0"/>
                          <a:cs typeface="Montserrat" panose="00000500000000000000" charset="0"/>
                        </a:rPr>
                        <a:t>None</a:t>
                      </a:r>
                      <a:endParaRPr lang="en-US" altLang="en-US" sz="1400">
                        <a:solidFill>
                          <a:schemeClr val="dk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pic>
        <p:nvPicPr>
          <p:cNvPr id="7" name="Image 0" descr="/home/claude/v2_chart_type_dist.png"/>
          <p:cNvPicPr>
            <a:picLocks noChangeAspect="1"/>
          </p:cNvPicPr>
          <p:nvPr/>
        </p:nvPicPr>
        <p:blipFill>
          <a:blip r:embed="rId2"/>
          <a:stretch>
            <a:fillRect/>
          </a:stretch>
        </p:blipFill>
        <p:spPr>
          <a:xfrm>
            <a:off x="6678930" y="1195070"/>
            <a:ext cx="5414645" cy="4126865"/>
          </a:xfrm>
          <a:prstGeom prst="rect">
            <a:avLst/>
          </a:prstGeom>
        </p:spPr>
      </p:pic>
      <p:sp>
        <p:nvSpPr>
          <p:cNvPr id="12" name="Text 8"/>
          <p:cNvSpPr/>
          <p:nvPr/>
        </p:nvSpPr>
        <p:spPr>
          <a:xfrm>
            <a:off x="356870" y="4063365"/>
            <a:ext cx="4069080" cy="401955"/>
          </a:xfrm>
          <a:prstGeom prst="rect">
            <a:avLst/>
          </a:prstGeom>
          <a:noFill/>
        </p:spPr>
        <p:txBody>
          <a:bodyPr wrap="square" lIns="0" tIns="0" rIns="0" bIns="0" rtlCol="0" anchor="ctr"/>
          <a:lstStyle/>
          <a:p>
            <a:pPr marL="0" indent="0">
              <a:buNone/>
            </a:pPr>
            <a:endParaRPr lang="en-US" sz="1100" dirty="0"/>
          </a:p>
        </p:txBody>
      </p:sp>
      <p:sp>
        <p:nvSpPr>
          <p:cNvPr id="13" name="Text 9"/>
          <p:cNvSpPr/>
          <p:nvPr/>
        </p:nvSpPr>
        <p:spPr>
          <a:xfrm>
            <a:off x="263525" y="5085080"/>
            <a:ext cx="5636260" cy="1490345"/>
          </a:xfrm>
          <a:prstGeom prst="rect">
            <a:avLst/>
          </a:prstGeom>
          <a:noFill/>
        </p:spPr>
        <p:txBody>
          <a:bodyPr wrap="square" lIns="0" tIns="0" rIns="0" bIns="0" rtlCol="0" anchor="ctr"/>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Fraud ONLY occurs in CASH_OUT (51 cases, 0.36% rate) and TRANSFER (49 cases, 1.01% rate). PAYMENT, CASH_IN and DEBIT transactions have zero fraud in this dataset.</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18" name="Text 14"/>
          <p:cNvSpPr/>
          <p:nvPr/>
        </p:nvSpPr>
        <p:spPr>
          <a:xfrm>
            <a:off x="6816090" y="5426710"/>
            <a:ext cx="4996815" cy="1410970"/>
          </a:xfrm>
          <a:prstGeom prst="rect">
            <a:avLst/>
          </a:prstGeom>
          <a:noFill/>
        </p:spPr>
        <p:txBody>
          <a:bodyPr wrap="square" lIns="0" tIns="0" rIns="0" bIns="0" rtlCol="0" anchor="t"/>
          <a:lstStyle/>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 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 = df['type'].value_counts()</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tc.plot(kind='bar', color='steelblue')</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plt.title('Transaction Type Distribution')</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800" dirty="0">
                <a:solidFill>
                  <a:schemeClr val="tx1"/>
                </a:solidFill>
                <a:latin typeface="Montserrat" panose="00000500000000000000" charset="0"/>
                <a:ea typeface="Calibri" panose="020F0502020204030204" pitchFamily="34" charset="-122"/>
                <a:cs typeface="Montserrat" panose="00000500000000000000" charset="0"/>
              </a:rPr>
              <a:t>plt.ylabel('Count'); plt.show()</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20"/>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37" name="Google Shape;137;p20"/>
          <p:cNvSpPr txBox="1"/>
          <p:nvPr/>
        </p:nvSpPr>
        <p:spPr>
          <a:xfrm>
            <a:off x="94615" y="620395"/>
            <a:ext cx="1145730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 </a:t>
            </a:r>
            <a:r>
              <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Distribution Analysis</a:t>
            </a:r>
            <a:endParaRPr lang="en-US" alt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donut.png"/>
          <p:cNvPicPr>
            <a:picLocks noChangeAspect="1"/>
          </p:cNvPicPr>
          <p:nvPr/>
        </p:nvPicPr>
        <p:blipFill>
          <a:blip r:embed="rId1"/>
          <a:stretch>
            <a:fillRect/>
          </a:stretch>
        </p:blipFill>
        <p:spPr>
          <a:xfrm>
            <a:off x="0" y="1484630"/>
            <a:ext cx="4749800" cy="3694430"/>
          </a:xfrm>
          <a:prstGeom prst="rect">
            <a:avLst/>
          </a:prstGeom>
        </p:spPr>
      </p:pic>
      <p:pic>
        <p:nvPicPr>
          <p:cNvPr id="8" name="Image 1" descr="/home/claude/v2_chart_fraud_by_type.png"/>
          <p:cNvPicPr>
            <a:picLocks noChangeAspect="1"/>
          </p:cNvPicPr>
          <p:nvPr/>
        </p:nvPicPr>
        <p:blipFill>
          <a:blip r:embed="rId2"/>
          <a:stretch>
            <a:fillRect/>
          </a:stretch>
        </p:blipFill>
        <p:spPr>
          <a:xfrm>
            <a:off x="5880100" y="1484630"/>
            <a:ext cx="5328285" cy="3401060"/>
          </a:xfrm>
          <a:prstGeom prst="rect">
            <a:avLst/>
          </a:prstGeom>
        </p:spPr>
      </p:pic>
      <p:sp>
        <p:nvSpPr>
          <p:cNvPr id="12" name="Text 8"/>
          <p:cNvSpPr/>
          <p:nvPr>
            <p:custDataLst>
              <p:tags r:id="rId3"/>
            </p:custDataLst>
          </p:nvPr>
        </p:nvSpPr>
        <p:spPr>
          <a:xfrm>
            <a:off x="6096000" y="5776595"/>
            <a:ext cx="4968240" cy="894080"/>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CASH_OUT: 51 fraud cases (51%)  •  TRANSFER: 49 cases (49%)</a:t>
            </a:r>
            <a:endParaRPr lang="en-US" sz="1800">
              <a:latin typeface="Montserrat" panose="00000500000000000000" charset="0"/>
              <a:cs typeface="Montserrat" panose="00000500000000000000" charset="0"/>
            </a:endParaRPr>
          </a:p>
          <a:p>
            <a:pPr marL="0" indent="0">
              <a:buNone/>
            </a:pPr>
            <a:r>
              <a:rPr lang="en-US" sz="1800">
                <a:latin typeface="Montserrat" panose="00000500000000000000" charset="0"/>
                <a:cs typeface="Montserrat" panose="00000500000000000000" charset="0"/>
              </a:rPr>
              <a:t>Fraud rate: TRANSFER (1.01%) &gt; CASH_OUT (0.36%)</a:t>
            </a:r>
            <a:endParaRPr lang="en-US" sz="1800">
              <a:latin typeface="Montserrat" panose="00000500000000000000" charset="0"/>
              <a:cs typeface="Montserrat" panose="00000500000000000000" charset="0"/>
            </a:endParaRPr>
          </a:p>
        </p:txBody>
      </p:sp>
      <p:sp>
        <p:nvSpPr>
          <p:cNvPr id="10" name="Text 6"/>
          <p:cNvSpPr/>
          <p:nvPr>
            <p:custDataLst>
              <p:tags r:id="rId4"/>
            </p:custDataLst>
          </p:nvPr>
        </p:nvSpPr>
        <p:spPr>
          <a:xfrm>
            <a:off x="317500" y="5696585"/>
            <a:ext cx="4114800" cy="1108075"/>
          </a:xfrm>
          <a:prstGeom prst="rect">
            <a:avLst/>
          </a:prstGeom>
          <a:noFill/>
        </p:spPr>
        <p:txBody>
          <a:bodyPr wrap="square" rtlCol="0" anchor="ctr"/>
          <a:lstStyle/>
          <a:p>
            <a:pPr marL="0" indent="0">
              <a:buNone/>
            </a:pPr>
            <a:r>
              <a:rPr lang="en-US" sz="1800">
                <a:latin typeface="Montserrat" panose="00000500000000000000" charset="0"/>
                <a:cs typeface="Montserrat" panose="00000500000000000000" charset="0"/>
              </a:rPr>
              <a:t>99.81% Legitimate  •  0.19% Fraud — extreme imbalance requiring SMOTE or class weighting</a:t>
            </a:r>
            <a:endParaRPr lang="en-US" sz="1800">
              <a:latin typeface="Montserrat" panose="00000500000000000000" charset="0"/>
              <a:cs typeface="Montserrat" panose="00000500000000000000" charset="0"/>
            </a:endParaRPr>
          </a:p>
        </p:txBody>
      </p:sp>
      <p:sp>
        <p:nvSpPr>
          <p:cNvPr id="5" name="Text 6"/>
          <p:cNvSpPr/>
          <p:nvPr>
            <p:custDataLst>
              <p:tags r:id="rId5"/>
            </p:custDataLst>
          </p:nvPr>
        </p:nvSpPr>
        <p:spPr>
          <a:xfrm>
            <a:off x="335280" y="5300980"/>
            <a:ext cx="4114800" cy="475488"/>
          </a:xfrm>
          <a:prstGeom prst="rect">
            <a:avLst/>
          </a:prstGeom>
          <a:noFill/>
        </p:spPr>
        <p:txBody>
          <a:bodyPr wrap="square" rtlCol="0" anchor="ctr"/>
          <a:lstStyle/>
          <a:p>
            <a:pPr marL="0" indent="0">
              <a:buNone/>
            </a:pPr>
            <a:endParaRPr lang="en-US" sz="1050" dirty="0"/>
          </a:p>
        </p:txBody>
      </p:sp>
      <p:sp>
        <p:nvSpPr>
          <p:cNvPr id="6" name="Text Box 5"/>
          <p:cNvSpPr txBox="1"/>
          <p:nvPr>
            <p:custDataLst>
              <p:tags r:id="rId6"/>
            </p:custDataLst>
          </p:nvPr>
        </p:nvSpPr>
        <p:spPr>
          <a:xfrm>
            <a:off x="263525" y="53390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Class Imbalance</a:t>
            </a:r>
            <a:endParaRPr lang="en-US" sz="1800" b="1">
              <a:latin typeface="Montserrat" panose="00000500000000000000" charset="0"/>
              <a:cs typeface="Montserrat" panose="00000500000000000000" charset="0"/>
            </a:endParaRPr>
          </a:p>
        </p:txBody>
      </p:sp>
      <p:sp>
        <p:nvSpPr>
          <p:cNvPr id="13" name="Text Box 12"/>
          <p:cNvSpPr txBox="1"/>
          <p:nvPr>
            <p:custDataLst>
              <p:tags r:id="rId7"/>
            </p:custDataLst>
          </p:nvPr>
        </p:nvSpPr>
        <p:spPr>
          <a:xfrm>
            <a:off x="6096000" y="530098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Fraud Breakdown</a:t>
            </a:r>
            <a:endParaRPr lang="en-US" sz="1800" b="1">
              <a:latin typeface="Montserrat" panose="00000500000000000000" charset="0"/>
              <a:cs typeface="Montserrat" panose="00000500000000000000"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Fraud Rate &amp; Amount Distribution</a:t>
            </a:r>
            <a:endPar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7" name="Image 0" descr="/home/claude/v2_chart_fraud_rate.png"/>
          <p:cNvPicPr>
            <a:picLocks noChangeAspect="1"/>
          </p:cNvPicPr>
          <p:nvPr/>
        </p:nvPicPr>
        <p:blipFill>
          <a:blip r:embed="rId1"/>
          <a:stretch>
            <a:fillRect/>
          </a:stretch>
        </p:blipFill>
        <p:spPr>
          <a:xfrm>
            <a:off x="182880" y="1268730"/>
            <a:ext cx="4389120" cy="3205480"/>
          </a:xfrm>
          <a:prstGeom prst="rect">
            <a:avLst/>
          </a:prstGeom>
        </p:spPr>
      </p:pic>
      <p:pic>
        <p:nvPicPr>
          <p:cNvPr id="8" name="Image 1" descr="/home/claude/v2_chart_amount_dist.png"/>
          <p:cNvPicPr>
            <a:picLocks noChangeAspect="1"/>
          </p:cNvPicPr>
          <p:nvPr/>
        </p:nvPicPr>
        <p:blipFill>
          <a:blip r:embed="rId2"/>
          <a:stretch>
            <a:fillRect/>
          </a:stretch>
        </p:blipFill>
        <p:spPr>
          <a:xfrm>
            <a:off x="5375910" y="1124585"/>
            <a:ext cx="5907405" cy="3455035"/>
          </a:xfrm>
          <a:prstGeom prst="rect">
            <a:avLst/>
          </a:prstGeom>
        </p:spPr>
      </p:pic>
      <p:graphicFrame>
        <p:nvGraphicFramePr>
          <p:cNvPr id="9" name="Table 0"/>
          <p:cNvGraphicFramePr>
            <a:graphicFrameLocks noGrp="1"/>
          </p:cNvGraphicFramePr>
          <p:nvPr>
            <p:custDataLst>
              <p:tags r:id="rId3"/>
            </p:custDataLst>
          </p:nvPr>
        </p:nvGraphicFramePr>
        <p:xfrm>
          <a:off x="335280" y="4763770"/>
          <a:ext cx="11525250" cy="2095500"/>
        </p:xfrm>
        <a:graphic>
          <a:graphicData uri="http://schemas.openxmlformats.org/drawingml/2006/table">
            <a:tbl>
              <a:tblPr/>
              <a:tblGrid>
                <a:gridCol w="3841750"/>
                <a:gridCol w="3841750"/>
                <a:gridCol w="3841750"/>
              </a:tblGrid>
              <a:tr h="419100">
                <a:tc>
                  <a:txBody>
                    <a:bodyPr/>
                    <a:lstStyle/>
                    <a:p>
                      <a:pPr marL="0" indent="0" algn="ctr">
                        <a:buNone/>
                      </a:pPr>
                      <a:r>
                        <a:rPr lang="en-US" sz="1800" b="1">
                          <a:solidFill>
                            <a:schemeClr val="bg1"/>
                          </a:solidFill>
                          <a:latin typeface="Montserrat" panose="00000500000000000000" charset="0"/>
                          <a:cs typeface="Montserrat" panose="00000500000000000000" charset="0"/>
                        </a:rPr>
                        <a:t>Metric</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Legitimate</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c>
                  <a:txBody>
                    <a:bodyPr/>
                    <a:lstStyle/>
                    <a:p>
                      <a:pPr marL="0" indent="0" algn="ctr">
                        <a:buNone/>
                      </a:pPr>
                      <a:r>
                        <a:rPr lang="en-US" sz="1800" b="1">
                          <a:solidFill>
                            <a:schemeClr val="bg1"/>
                          </a:solidFill>
                          <a:latin typeface="Montserrat" panose="00000500000000000000" charset="0"/>
                          <a:cs typeface="Montserrat" panose="00000500000000000000" charset="0"/>
                        </a:rPr>
                        <a:t>Fraudulent</a:t>
                      </a:r>
                      <a:endParaRPr lang="en-US" sz="1800" b="1">
                        <a:solidFill>
                          <a:schemeClr val="bg1"/>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solidFill>
                      <a:srgbClr val="1A5FA8"/>
                    </a:solidFill>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$156,716</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$573,938</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Median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$34,359</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$31,927</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Max Amount</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$5,677,662</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$10,000,000</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r h="419100">
                <a:tc>
                  <a:txBody>
                    <a:bodyPr/>
                    <a:lstStyle/>
                    <a:p>
                      <a:pPr marL="0" indent="0" algn="ctr">
                        <a:buNone/>
                      </a:pPr>
                      <a:r>
                        <a:rPr lang="en-US" sz="1800">
                          <a:solidFill>
                            <a:srgbClr val="000000"/>
                          </a:solidFill>
                          <a:latin typeface="Montserrat" panose="00000500000000000000" charset="0"/>
                          <a:cs typeface="Montserrat" panose="00000500000000000000" charset="0"/>
                        </a:rPr>
                        <a:t>Std Dev</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$318,954</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c>
                  <a:txBody>
                    <a:bodyPr/>
                    <a:lstStyle/>
                    <a:p>
                      <a:pPr marL="0" indent="0" algn="ctr">
                        <a:buNone/>
                      </a:pPr>
                      <a:r>
                        <a:rPr lang="en-US" sz="1800">
                          <a:solidFill>
                            <a:srgbClr val="000000"/>
                          </a:solidFill>
                          <a:latin typeface="Montserrat" panose="00000500000000000000" charset="0"/>
                          <a:cs typeface="Montserrat" panose="00000500000000000000" charset="0"/>
                        </a:rPr>
                        <a:t>$1,644,365</a:t>
                      </a:r>
                      <a:endParaRPr lang="en-US" sz="1800">
                        <a:solidFill>
                          <a:srgbClr val="000000"/>
                        </a:solidFill>
                        <a:latin typeface="Montserrat" panose="00000500000000000000" charset="0"/>
                        <a:cs typeface="Montserrat" panose="00000500000000000000" charset="0"/>
                      </a:endParaRPr>
                    </a:p>
                  </a:txBody>
                  <a:tcPr anchor="ctr">
                    <a:lnL w="6350" cap="flat" cmpd="sng" algn="ctr">
                      <a:solidFill>
                        <a:srgbClr val="D0DFF0"/>
                      </a:solidFill>
                      <a:prstDash val="solid"/>
                      <a:round/>
                      <a:headEnd type="none" w="med" len="med"/>
                      <a:tailEnd type="none" w="med" len="med"/>
                    </a:lnL>
                    <a:lnR w="6350" cap="flat" cmpd="sng" algn="ctr">
                      <a:solidFill>
                        <a:srgbClr val="D0DFF0"/>
                      </a:solidFill>
                      <a:prstDash val="solid"/>
                      <a:round/>
                      <a:headEnd type="none" w="med" len="med"/>
                      <a:tailEnd type="none" w="med" len="med"/>
                    </a:lnR>
                    <a:lnT w="6350" cap="flat" cmpd="sng" algn="ctr">
                      <a:solidFill>
                        <a:srgbClr val="D0DFF0"/>
                      </a:solidFill>
                      <a:prstDash val="solid"/>
                      <a:round/>
                      <a:headEnd type="none" w="med" len="med"/>
                      <a:tailEnd type="none" w="med" len="med"/>
                    </a:lnT>
                    <a:lnB w="6350" cap="flat" cmpd="sng" algn="ctr">
                      <a:solidFill>
                        <a:srgbClr val="D0DFF0"/>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44" name="Shape 144"/>
        <p:cNvGrpSpPr/>
        <p:nvPr/>
      </p:nvGrpSpPr>
      <p:grpSpPr>
        <a:xfrm>
          <a:off x="0" y="0"/>
          <a:ext cx="0" cy="0"/>
          <a:chOff x="0" y="0"/>
          <a:chExt cx="0" cy="0"/>
        </a:xfrm>
      </p:grpSpPr>
      <p:sp>
        <p:nvSpPr>
          <p:cNvPr id="145" name="Google Shape;145;p21"/>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46" name="Google Shape;146;p21"/>
          <p:cNvSpPr txBox="1"/>
          <p:nvPr/>
        </p:nvSpPr>
        <p:spPr>
          <a:xfrm>
            <a:off x="111760" y="581660"/>
            <a:ext cx="11831955" cy="90551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Visual Insights </a:t>
            </a:r>
            <a:r>
              <a:rPr lang="en-US" sz="3500" b="1">
                <a:solidFill>
                  <a:schemeClr val="dk1"/>
                </a:solidFill>
                <a:latin typeface="Montserrat" panose="00000500000000000000" charset="0"/>
                <a:cs typeface="Montserrat" panose="00000500000000000000" charset="0"/>
                <a:sym typeface="+mn-ea"/>
              </a:rPr>
              <a:t>— Feature Correlation Heatmap</a:t>
            </a:r>
            <a:endParaRPr lang="en-US" sz="3500">
              <a:solidFill>
                <a:schemeClr val="dk1"/>
              </a:solidFill>
            </a:endParaRPr>
          </a:p>
          <a:p>
            <a:pPr marL="0" marR="0" lvl="0" indent="0" algn="l" rtl="0">
              <a:lnSpc>
                <a:spcPct val="100000"/>
              </a:lnSpc>
              <a:spcBef>
                <a:spcPts val="0"/>
              </a:spcBef>
              <a:spcAft>
                <a:spcPts val="0"/>
              </a:spcAft>
              <a:buClr>
                <a:srgbClr val="000000"/>
              </a:buClr>
              <a:buSzPts val="3500"/>
              <a:buFont typeface="Arial" panose="020B0604020202020204"/>
              <a:buNone/>
            </a:pPr>
            <a:endPar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4" name="Text 6"/>
          <p:cNvSpPr/>
          <p:nvPr/>
        </p:nvSpPr>
        <p:spPr>
          <a:xfrm>
            <a:off x="7031990" y="1285875"/>
            <a:ext cx="5127625" cy="3260725"/>
          </a:xfrm>
          <a:prstGeom prst="rect">
            <a:avLst/>
          </a:prstGeom>
          <a:noFill/>
        </p:spPr>
        <p:txBody>
          <a:bodyPr wrap="square" rtlCol="0" anchor="ctr"/>
          <a:lstStyle/>
          <a:p>
            <a:pPr marL="342900" indent="-342900">
              <a:spcAft>
                <a:spcPts val="400"/>
              </a:spcAft>
              <a:buSzPct val="100000"/>
              <a:buChar char="•"/>
            </a:pPr>
            <a:r>
              <a:rPr lang="en-US" sz="1800">
                <a:latin typeface="Montserrat" panose="00000500000000000000" charset="0"/>
                <a:cs typeface="Montserrat" panose="00000500000000000000" charset="0"/>
              </a:rPr>
              <a:t>amount has the strongest positive correlation with isFraud (0.056)</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oldbalanceOrg &amp; newbalanceOrig show negative correlations</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step has a small negative correlation with fraud</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oldbalanceDest and newbalanceDest have near-zero correlation</a:t>
            </a:r>
            <a:endParaRPr lang="en-US" sz="1800">
              <a:latin typeface="Montserrat" panose="00000500000000000000" charset="0"/>
              <a:cs typeface="Montserrat" panose="00000500000000000000" charset="0"/>
            </a:endParaRPr>
          </a:p>
          <a:p>
            <a:pPr marL="342900" indent="-342900">
              <a:spcAft>
                <a:spcPts val="400"/>
              </a:spcAft>
              <a:buSzPct val="100000"/>
              <a:buChar char="•"/>
            </a:pPr>
            <a:r>
              <a:rPr lang="en-US" sz="1800">
                <a:latin typeface="Montserrat" panose="00000500000000000000" charset="0"/>
                <a:cs typeface="Montserrat" panose="00000500000000000000" charset="0"/>
              </a:rPr>
              <a:t>No single feature is highly correlated — ML combination needed</a:t>
            </a:r>
            <a:endParaRPr lang="en-US" sz="1800">
              <a:latin typeface="Montserrat" panose="00000500000000000000" charset="0"/>
              <a:cs typeface="Montserrat" panose="00000500000000000000" charset="0"/>
            </a:endParaRPr>
          </a:p>
        </p:txBody>
      </p:sp>
      <p:sp>
        <p:nvSpPr>
          <p:cNvPr id="12" name="Text 9"/>
          <p:cNvSpPr/>
          <p:nvPr/>
        </p:nvSpPr>
        <p:spPr>
          <a:xfrm>
            <a:off x="7103745" y="4653280"/>
            <a:ext cx="3356610" cy="342265"/>
          </a:xfrm>
          <a:prstGeom prst="rect">
            <a:avLst/>
          </a:prstGeom>
          <a:noFill/>
        </p:spPr>
        <p:txBody>
          <a:bodyPr wrap="square" lIns="0" tIns="0" rIns="0" bIns="0" rtlCol="0" anchor="ctr"/>
          <a:lstStyle/>
          <a:p>
            <a:pPr marL="0" indent="0">
              <a:buNone/>
            </a:pPr>
            <a:r>
              <a:rPr lang="en-US" sz="1800" b="1">
                <a:latin typeface="Montserrat" panose="00000500000000000000" charset="0"/>
                <a:cs typeface="Montserrat" panose="00000500000000000000" charset="0"/>
              </a:rPr>
              <a:t>Why Correlation Matters</a:t>
            </a:r>
            <a:endParaRPr lang="en-US" sz="1800" b="1">
              <a:latin typeface="Montserrat" panose="00000500000000000000" charset="0"/>
              <a:cs typeface="Montserrat" panose="00000500000000000000" charset="0"/>
            </a:endParaRPr>
          </a:p>
        </p:txBody>
      </p:sp>
      <p:sp>
        <p:nvSpPr>
          <p:cNvPr id="13" name="Text 10"/>
          <p:cNvSpPr/>
          <p:nvPr/>
        </p:nvSpPr>
        <p:spPr>
          <a:xfrm>
            <a:off x="7103745" y="5157470"/>
            <a:ext cx="4839970" cy="1606550"/>
          </a:xfrm>
          <a:prstGeom prst="rect">
            <a:avLst/>
          </a:prstGeom>
          <a:noFill/>
        </p:spPr>
        <p:txBody>
          <a:bodyPr wrap="square" lIns="0" tIns="0" rIns="0" bIns="0" rtlCol="0" anchor="ctr"/>
          <a:lstStyle/>
          <a:p>
            <a:pPr marL="0" indent="0" algn="l">
              <a:spcAft>
                <a:spcPts val="400"/>
              </a:spcAft>
              <a:buSzTx/>
              <a:buNone/>
            </a:pPr>
            <a:r>
              <a:rPr lang="en-US" sz="1800">
                <a:latin typeface="Montserrat" panose="00000500000000000000" charset="0"/>
                <a:cs typeface="Montserrat" panose="00000500000000000000" charset="0"/>
              </a:rPr>
              <a:t>Low individual correlations mean fraud cannot be detected by simple rules. The combination of amount, balance changes and transaction type together forms a strong fraud signal — ideal for ensemble ML models like Random Forest.</a:t>
            </a:r>
            <a:endParaRPr lang="en-US" sz="1800">
              <a:latin typeface="Montserrat" panose="00000500000000000000" charset="0"/>
              <a:cs typeface="Montserrat" panose="00000500000000000000" charset="0"/>
            </a:endParaRPr>
          </a:p>
        </p:txBody>
      </p:sp>
      <p:pic>
        <p:nvPicPr>
          <p:cNvPr id="14" name="Picture 13" descr="visual_insights"/>
          <p:cNvPicPr>
            <a:picLocks noChangeAspect="1"/>
          </p:cNvPicPr>
          <p:nvPr/>
        </p:nvPicPr>
        <p:blipFill>
          <a:blip r:embed="rId1"/>
          <a:stretch>
            <a:fillRect/>
          </a:stretch>
        </p:blipFill>
        <p:spPr>
          <a:xfrm>
            <a:off x="0" y="1286510"/>
            <a:ext cx="6880860" cy="55721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 name="Shape 152"/>
        <p:cNvGrpSpPr/>
        <p:nvPr/>
      </p:nvGrpSpPr>
      <p:grpSpPr>
        <a:xfrm>
          <a:off x="0" y="0"/>
          <a:ext cx="0" cy="0"/>
          <a:chOff x="0" y="0"/>
          <a:chExt cx="0" cy="0"/>
        </a:xfrm>
      </p:grpSpPr>
      <p:sp>
        <p:nvSpPr>
          <p:cNvPr id="153" name="Google Shape;153;p22"/>
          <p:cNvSpPr/>
          <p:nvPr/>
        </p:nvSpPr>
        <p:spPr>
          <a:xfrm>
            <a:off x="128270" y="1269365"/>
            <a:ext cx="4817745" cy="292227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333"/>
              <a:buFont typeface="Arial" panose="020B0604020202020204"/>
              <a:buNone/>
            </a:pPr>
            <a:endParaRPr>
              <a:solidFill>
                <a:schemeClr val="dk1"/>
              </a:solidFill>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Encodes 'type' column (LabelEncoder)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Drops non-numeric ID columns (nameOrig, nameDest)</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Scales Amount &amp; balance features with StandardScaler</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Applies SMOTE(</a:t>
            </a:r>
            <a:r>
              <a:rPr lang="en-US" altLang="en-US" dirty="0">
                <a:solidFill>
                  <a:schemeClr val="tx1"/>
                </a:solidFill>
                <a:latin typeface="Montserrat" panose="00000500000000000000" charset="0"/>
                <a:ea typeface="Calibri" panose="020F0502020204030204" pitchFamily="34" charset="-122"/>
                <a:cs typeface="Montserrat" panose="00000500000000000000" charset="0"/>
                <a:sym typeface="+mn-ea"/>
              </a:rPr>
              <a:t>Synthetic Minority Over-sampling Technique.</a:t>
            </a: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 to balance the 0.194% fraud minority class</a:t>
            </a:r>
            <a:endParaRPr lang="en-US" dirty="0">
              <a:solidFill>
                <a:schemeClr val="tx1"/>
              </a:solidFill>
              <a:latin typeface="Montserrat" panose="00000500000000000000" charset="0"/>
              <a:cs typeface="Montserrat" panose="00000500000000000000" charset="0"/>
            </a:endParaRPr>
          </a:p>
          <a:p>
            <a:pPr marL="342900" indent="-342900">
              <a:spcAft>
                <a:spcPts val="400"/>
              </a:spcAft>
              <a:buSzPct val="100000"/>
              <a:buChar char="•"/>
            </a:pPr>
            <a:r>
              <a:rPr lang="en-US" dirty="0">
                <a:solidFill>
                  <a:schemeClr val="tx1"/>
                </a:solidFill>
                <a:latin typeface="Montserrat" panose="00000500000000000000" charset="0"/>
                <a:ea typeface="Calibri" panose="020F0502020204030204" pitchFamily="34" charset="-122"/>
                <a:cs typeface="Montserrat" panose="00000500000000000000" charset="0"/>
                <a:sym typeface="+mn-ea"/>
              </a:rPr>
              <a:t>Stratified 80/20 train-test split preserving fraud ratio</a:t>
            </a:r>
            <a:endParaRPr lang="en-US" dirty="0">
              <a:solidFill>
                <a:schemeClr val="tx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lang="en-US" sz="1900" i="0" u="none" strike="noStrike" cap="none" dirty="0">
              <a:solidFill>
                <a:srgbClr val="0D3B6E"/>
              </a:solidFill>
              <a:latin typeface="Calibri" panose="020F0502020204030204" pitchFamily="34" charset="0"/>
              <a:ea typeface="Calibri" panose="020F0502020204030204" pitchFamily="34" charset="-122"/>
              <a:cs typeface="Calibri" panose="020F0502020204030204" pitchFamily="34" charset="-120"/>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i="0" u="none" strike="noStrike" cap="none">
              <a:solidFill>
                <a:schemeClr val="dk1"/>
              </a:solidFill>
            </a:endParaRPr>
          </a:p>
          <a:p>
            <a:pPr marL="0" marR="0" lvl="0" indent="0" algn="l" rtl="0">
              <a:lnSpc>
                <a:spcPct val="100000"/>
              </a:lnSpc>
              <a:spcBef>
                <a:spcPts val="0"/>
              </a:spcBef>
              <a:spcAft>
                <a:spcPts val="0"/>
              </a:spcAft>
              <a:buClr>
                <a:srgbClr val="000000"/>
              </a:buClr>
              <a:buSzPts val="1333"/>
              <a:buFont typeface="Arial" panose="020B0604020202020204"/>
              <a:buNone/>
            </a:pPr>
            <a:endParaRPr sz="1900" b="1" i="0" u="sng" strike="noStrike" cap="none">
              <a:solidFill>
                <a:schemeClr val="dk1"/>
              </a:solidFill>
            </a:endParaRPr>
          </a:p>
          <a:p>
            <a:pPr marL="0" marR="0" lvl="0" indent="0" algn="l" rtl="0">
              <a:lnSpc>
                <a:spcPct val="100000"/>
              </a:lnSpc>
              <a:spcBef>
                <a:spcPts val="0"/>
              </a:spcBef>
              <a:spcAft>
                <a:spcPts val="0"/>
              </a:spcAft>
              <a:buClr>
                <a:srgbClr val="000000"/>
              </a:buClr>
              <a:buSzPts val="2400"/>
              <a:buFont typeface="Arial" panose="020B0604020202020204"/>
              <a:buNone/>
            </a:pPr>
            <a:endParaRPr sz="1900" i="0" u="none" strike="noStrike" cap="none">
              <a:solidFill>
                <a:schemeClr val="dk1"/>
              </a:solidFill>
            </a:endParaRPr>
          </a:p>
        </p:txBody>
      </p:sp>
      <p:sp>
        <p:nvSpPr>
          <p:cNvPr id="154" name="Google Shape;154;p22"/>
          <p:cNvSpPr txBox="1"/>
          <p:nvPr/>
        </p:nvSpPr>
        <p:spPr>
          <a:xfrm>
            <a:off x="263818" y="621170"/>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Data Preprocessing</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55" name="Google Shape;155;p22"/>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1" name="Text 9"/>
          <p:cNvSpPr/>
          <p:nvPr/>
        </p:nvSpPr>
        <p:spPr>
          <a:xfrm>
            <a:off x="263525" y="4149090"/>
            <a:ext cx="4441825" cy="274320"/>
          </a:xfrm>
          <a:prstGeom prst="rect">
            <a:avLst/>
          </a:prstGeom>
          <a:noFill/>
        </p:spPr>
        <p:txBody>
          <a:bodyPr wrap="square" lIns="0" tIns="0" rIns="0" bIns="0" rtlCol="0" anchor="ctr"/>
          <a:lstStyle/>
          <a:p>
            <a:pPr marL="0" indent="0">
              <a:buNone/>
            </a:pPr>
            <a:r>
              <a:rPr lang="en-US" sz="1800" b="1" dirty="0">
                <a:solidFill>
                  <a:schemeClr val="tx1"/>
                </a:solidFill>
                <a:latin typeface="Montserrat" panose="00000500000000000000" charset="0"/>
                <a:ea typeface="Calibri" panose="020F0502020204030204" pitchFamily="34" charset="-122"/>
                <a:cs typeface="Montserrat" panose="00000500000000000000" charset="0"/>
              </a:rPr>
              <a:t>Why SMOTE?</a:t>
            </a:r>
            <a:endParaRPr lang="en-US" sz="1800" b="1" dirty="0">
              <a:solidFill>
                <a:schemeClr val="tx1"/>
              </a:solidFill>
              <a:latin typeface="Montserrat" panose="00000500000000000000" charset="0"/>
              <a:ea typeface="Calibri" panose="020F0502020204030204" pitchFamily="34" charset="-122"/>
              <a:cs typeface="Montserrat" panose="00000500000000000000" charset="0"/>
            </a:endParaRPr>
          </a:p>
        </p:txBody>
      </p:sp>
      <p:sp>
        <p:nvSpPr>
          <p:cNvPr id="2" name="Text Box 1"/>
          <p:cNvSpPr txBox="1"/>
          <p:nvPr/>
        </p:nvSpPr>
        <p:spPr>
          <a:xfrm>
            <a:off x="4831080" y="404495"/>
            <a:ext cx="3785235" cy="6612255"/>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import pandas as pd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sklearn.preprocessing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LabelEncoder,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sklearn.model_selection import (</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imblearn.over_sampling import SMOTE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from google.colab import 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drive.mount('/content/drive')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filepath ='/content/drive/MyDrive/data_file.csv'</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algn="l">
              <a:buClrTx/>
              <a:buSzTx/>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 = pd.read_csv(filepath)</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Encode transaction 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le = LabelEncoder()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 = le.fit_transform(</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['type'])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Drop ID columns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.drop(['nameOrig','nameDest'],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axis=1, inplace=True)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Features &amp; target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.drop('isFraud', axis=1)</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y = </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data</a:t>
            </a: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['isFraud']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Scale numeric features</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scaler = StandardScaler()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X_scaled = scaler.fit_transform(X)</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3" name="Text Box 2"/>
          <p:cNvSpPr txBox="1"/>
          <p:nvPr/>
        </p:nvSpPr>
        <p:spPr>
          <a:xfrm>
            <a:off x="191135" y="4580890"/>
            <a:ext cx="4473575" cy="2218055"/>
          </a:xfrm>
          <a:prstGeom prst="rect">
            <a:avLst/>
          </a:prstGeom>
          <a:noFill/>
        </p:spPr>
        <p:txBody>
          <a:bodyPr wrap="square" rtlCol="0" anchor="t">
            <a:noAutofit/>
          </a:bodyPr>
          <a:p>
            <a:pPr marL="0" indent="0" algn="l">
              <a:spcAft>
                <a:spcPts val="400"/>
              </a:spcAft>
              <a:buSzTx/>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With only 100 fraud cases vs 51,523 legitimate, a model trained without SMOTE would  predict 'Legit' always and still get 99.8% accuracy. SMOTE creates synthetic fraud examples to force the model to actually learn fraud patterns</a:t>
            </a:r>
            <a:endPar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8743315" y="596900"/>
            <a:ext cx="3366770" cy="5882640"/>
          </a:xfrm>
          <a:prstGeom prst="rect">
            <a:avLst/>
          </a:prstGeom>
          <a:noFill/>
        </p:spPr>
        <p:txBody>
          <a:bodyPr wrap="square" rtlCol="0" anchor="t">
            <a:noAutofit/>
          </a:bodyPr>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Train-test split (stratified)</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X_tr,X_te,y_tr,y_te = train_test_split(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X_scaled, 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test_size=0.2,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stratify=y)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SMOTE on training data only</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sm = SMOTE(random_state=42)</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X_res,y_res = sm.fit_resample(X_tr,y_tr)</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print("Before SMOTE:",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zip(*np.unique(y_tr,return_counts=True))))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print("After SMOTE: ", dict(</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zip(*np.unique(y_res,return_counts=True))))</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Before: {0:41218, 1:80}</a:t>
            </a:r>
            <a:endParaRPr lang="en-US" sz="1400" dirty="0">
              <a:solidFill>
                <a:schemeClr val="tx1"/>
              </a:solidFill>
              <a:latin typeface="Montserrat" panose="00000500000000000000" charset="0"/>
              <a:ea typeface="Calibri" panose="020F0502020204030204" pitchFamily="34" charset="-122"/>
              <a:cs typeface="Montserrat" panose="00000500000000000000" charset="0"/>
            </a:endParaRPr>
          </a:p>
          <a:p>
            <a:pPr marL="0" indent="0">
              <a:buNone/>
            </a:pPr>
            <a:r>
              <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rPr>
              <a:t># After:  {0:41218, 1:41218}</a:t>
            </a:r>
            <a:endParaRPr lang="en-US" sz="1400" dirty="0">
              <a:solidFill>
                <a:schemeClr val="tx1"/>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23"/>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64" name="Google Shape;164;p23"/>
          <p:cNvSpPr txBox="1"/>
          <p:nvPr/>
        </p:nvSpPr>
        <p:spPr>
          <a:xfrm>
            <a:off x="596670" y="622739"/>
            <a:ext cx="9247189"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rPr>
              <a:t>Model Selection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65" name="Google Shape;165;p23"/>
          <p:cNvSpPr txBox="1"/>
          <p:nvPr/>
        </p:nvSpPr>
        <p:spPr>
          <a:xfrm>
            <a:off x="550950" y="1412950"/>
            <a:ext cx="11595300" cy="6376670"/>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sz="1800" dirty="0">
                <a:solidFill>
                  <a:schemeClr val="tx1"/>
                </a:solidFill>
                <a:latin typeface="Montserrat" panose="00000500000000000000" charset="0"/>
                <a:ea typeface="Calibri" panose="020F0502020204030204" pitchFamily="34" charset="-122"/>
                <a:cs typeface="Montserrat" panose="00000500000000000000" charset="0"/>
                <a:sym typeface="+mn-ea"/>
              </a:rPr>
              <a:t>Classification algorithms evaluated on the Paytm dataset. Each model is trained on SMOTE-balanced data and evaluated on the original imbalanced test set using Accuracy, Precision, Recall and AUC-ROC.</a:t>
            </a:r>
            <a:endParaRPr lang="en-US" sz="1800" dirty="0">
              <a:solidFill>
                <a:schemeClr val="tx1"/>
              </a:solidFill>
              <a:latin typeface="Montserrat" panose="00000500000000000000" charset="0"/>
              <a:ea typeface="Calibri" panose="020F0502020204030204" pitchFamily="34" charset="-122"/>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Following Machine learning algorithms  for classification problems are evaluated,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Logistic Regression,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DecisionTree Classifier and</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Random forest Regression and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Cross Validation to evaluate the models </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285750" marR="0" lvl="0" indent="-285750" algn="l" rtl="0">
              <a:lnSpc>
                <a:spcPct val="150000"/>
              </a:lnSpc>
              <a:spcBef>
                <a:spcPts val="0"/>
              </a:spcBef>
              <a:spcAft>
                <a:spcPts val="0"/>
              </a:spcAft>
              <a:buSzPts val="1900"/>
              <a:buFont typeface="Arial" panose="020B0604020202020204" pitchFamily="34" charset="0"/>
              <a:buChar char="•"/>
            </a:pPr>
            <a:r>
              <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rPr>
              <a:t>GridSearchCV for hyper parameter tuning.</a:t>
            </a: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R="0" lvl="0" algn="l" rtl="0">
              <a:lnSpc>
                <a:spcPct val="150000"/>
              </a:lnSpc>
              <a:spcBef>
                <a:spcPts val="0"/>
              </a:spcBef>
              <a:spcAft>
                <a:spcPts val="0"/>
              </a:spcAft>
              <a:buClr>
                <a:srgbClr val="000000"/>
              </a:buClr>
              <a:buSzPts val="1900"/>
              <a:buFont typeface="Arial" panose="020B0604020202020204"/>
              <a:buNone/>
            </a:pPr>
            <a:endParaRPr lang="en-US" sz="1800" b="0" i="0" u="none" strike="noStrike" cap="none" dirty="0">
              <a:solidFill>
                <a:schemeClr val="tx1"/>
              </a:solidFill>
              <a:latin typeface="Montserrat" panose="00000500000000000000" charset="0"/>
              <a:ea typeface="Calibri" panose="020F0502020204030204" pitchFamily="34" charset="-122"/>
              <a:cs typeface="Montserrat" panose="00000500000000000000" charset="0"/>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69" name="Shape 169"/>
        <p:cNvGrpSpPr/>
        <p:nvPr/>
      </p:nvGrpSpPr>
      <p:grpSpPr>
        <a:xfrm>
          <a:off x="0" y="0"/>
          <a:ext cx="0" cy="0"/>
          <a:chOff x="0" y="0"/>
          <a:chExt cx="0" cy="0"/>
        </a:xfrm>
      </p:grpSpPr>
      <p:sp>
        <p:nvSpPr>
          <p:cNvPr id="170" name="Google Shape;170;p24"/>
          <p:cNvSpPr txBox="1"/>
          <p:nvPr/>
        </p:nvSpPr>
        <p:spPr>
          <a:xfrm>
            <a:off x="354623" y="663079"/>
            <a:ext cx="9247200" cy="78105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171" name="Google Shape;171;p24"/>
          <p:cNvSpPr txBox="1"/>
          <p:nvPr/>
        </p:nvSpPr>
        <p:spPr>
          <a:xfrm>
            <a:off x="263525" y="1341120"/>
            <a:ext cx="11222990" cy="962660"/>
          </a:xfrm>
          <a:prstGeom prst="rect">
            <a:avLst/>
          </a:prstGeom>
          <a:noFill/>
          <a:ln>
            <a:noFill/>
          </a:ln>
        </p:spPr>
        <p:txBody>
          <a:bodyPr spcFirstLastPara="1" wrap="square" lIns="91425" tIns="45700" rIns="91425" bIns="45700" anchor="t" anchorCtr="0">
            <a:noAutofit/>
          </a:bodyPr>
          <a:lstStyle/>
          <a:p>
            <a:pPr marL="107950" marR="0" lvl="0" indent="0" algn="l" rtl="0">
              <a:lnSpc>
                <a:spcPct val="150000"/>
              </a:lnSpc>
              <a:spcBef>
                <a:spcPts val="0"/>
              </a:spcBef>
              <a:spcAft>
                <a:spcPts val="0"/>
              </a:spcAft>
              <a:buClr>
                <a:schemeClr val="dk1"/>
              </a:buClr>
              <a:buSzPts val="1900"/>
              <a:buFont typeface="Arial" panose="020B0604020202020204"/>
              <a:buNone/>
            </a:pPr>
            <a:r>
              <a:rPr lang="en-US" sz="1800" dirty="0">
                <a:solidFill>
                  <a:srgbClr val="4A6080"/>
                </a:solidFill>
                <a:latin typeface="Montserrat" panose="00000500000000000000" charset="0"/>
                <a:ea typeface="Calibri" panose="020F0502020204030204" pitchFamily="34" charset="-122"/>
                <a:cs typeface="Montserrat" panose="00000500000000000000" charset="0"/>
                <a:sym typeface="+mn-ea"/>
              </a:rPr>
              <a:t>All models trained on SMOTE-balanced data. Evaluation performed on the original imbalanced test set (10,303 samples: 10,223 legit + 80 fraud... 20% hold-out stratified split).</a:t>
            </a:r>
            <a:endParaRPr lang="en-US" sz="1800" dirty="0">
              <a:solidFill>
                <a:srgbClr val="4A6080"/>
              </a:solidFill>
              <a:latin typeface="Montserrat" panose="00000500000000000000" charset="0"/>
              <a:ea typeface="Calibri" panose="020F0502020204030204" pitchFamily="34" charset="-122"/>
              <a:cs typeface="Montserrat" panose="00000500000000000000" charset="0"/>
            </a:endParaRPr>
          </a:p>
          <a:p>
            <a:pPr marL="107950" marR="0" lvl="0" indent="0" algn="l" rtl="0">
              <a:lnSpc>
                <a:spcPct val="150000"/>
              </a:lnSpc>
              <a:spcBef>
                <a:spcPts val="0"/>
              </a:spcBef>
              <a:spcAft>
                <a:spcPts val="0"/>
              </a:spcAft>
              <a:buClr>
                <a:schemeClr val="dk1"/>
              </a:buClr>
              <a:buSzPts val="1900"/>
              <a:buFont typeface="Arial" panose="020B0604020202020204"/>
              <a:buNone/>
            </a:pPr>
            <a: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t> </a:t>
            </a: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72" name="Google Shape;172;p24"/>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12" name="Text 10"/>
          <p:cNvSpPr/>
          <p:nvPr/>
        </p:nvSpPr>
        <p:spPr>
          <a:xfrm>
            <a:off x="46990" y="3093085"/>
            <a:ext cx="5915025" cy="4328160"/>
          </a:xfrm>
          <a:prstGeom prst="rect">
            <a:avLst/>
          </a:prstGeom>
          <a:noFill/>
        </p:spPr>
        <p:txBody>
          <a:bodyPr wrap="square" lIns="0" tIns="0" rIns="0" bIns="0" rtlCol="0" anchor="t"/>
          <a:lstStyle/>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from sklearn.model_selection import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X_train, X_test, y_train, y_test = train_test_split(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altLang="en-US" dirty="0">
                <a:solidFill>
                  <a:srgbClr val="1A3A5C"/>
                </a:solidFill>
                <a:latin typeface="Montserrat" panose="00000500000000000000" charset="0"/>
                <a:ea typeface="Courier New" panose="02070309020205020404" pitchFamily="34" charset="-122"/>
                <a:cs typeface="Montserrat" panose="00000500000000000000" charset="0"/>
              </a:rPr>
              <a:t>    X, y, test_size=0.3, random_state=42)</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sklearn.tree import DecisionTreeClassifier</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sklearn.metrics import roc_auc_score as ras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sklearn.linear_model import LogisticRegression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sklearn.svm import SVC</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from sklearn.ensemble import RandomForestClassifier</a:t>
            </a:r>
            <a:br>
              <a:rPr lang="en-US" dirty="0">
                <a:solidFill>
                  <a:srgbClr val="1A3A5C"/>
                </a:solidFill>
                <a:latin typeface="Montserrat" panose="00000500000000000000" charset="0"/>
                <a:ea typeface="Courier New" panose="02070309020205020404" pitchFamily="34" charset="-122"/>
                <a:cs typeface="Montserrat" panose="00000500000000000000" charset="0"/>
              </a:rPr>
            </a:b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Define all 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models = [LogisticRegression(max_iter=2000), DecisionTreeClassifier(max_depth=7,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random_state=42),</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RandomForestClassifier(n_estimators=7,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criterion='entropy',</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rPr>
              <a:t>                                 random_state=7)]</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sz="1050"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altLang="en-US" sz="1050"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2" name="Text 10"/>
          <p:cNvSpPr/>
          <p:nvPr/>
        </p:nvSpPr>
        <p:spPr>
          <a:xfrm>
            <a:off x="6383655" y="3140710"/>
            <a:ext cx="5354320" cy="4241800"/>
          </a:xfrm>
          <a:prstGeom prst="rect">
            <a:avLst/>
          </a:prstGeom>
          <a:noFill/>
        </p:spPr>
        <p:txBody>
          <a:bodyPr wrap="square" lIns="0" tIns="0" rIns="0" bIns="0" rtlCol="0" anchor="t"/>
          <a:lstStyle/>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for i in range(len(models)):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models[i].fit(X_train, y_train)</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print(f'{models[i]} : ')</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train_preds = models[i].predict_proba(X_train)[:,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print('Training Accuracy : ', ras(y_train, train_preds))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y_preds = models[i].predict_proba(X_test)[:, 1]</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print('Validation Accuracy : ', ras(y_test, y_preds))</a:t>
            </a:r>
            <a:endParaRPr lang="en-US" dirty="0">
              <a:solidFill>
                <a:srgbClr val="1A3A5C"/>
              </a:solidFill>
              <a:latin typeface="Montserrat" panose="00000500000000000000" charset="0"/>
              <a:ea typeface="Courier New" panose="02070309020205020404" pitchFamily="34" charset="-122"/>
              <a:cs typeface="Montserrat" panose="00000500000000000000" charset="0"/>
            </a:endParaRPr>
          </a:p>
          <a:p>
            <a:pPr marL="0" algn="l">
              <a:buClrTx/>
              <a:buSzTx/>
              <a:buNone/>
            </a:pPr>
            <a:r>
              <a:rPr lang="en-US" dirty="0">
                <a:solidFill>
                  <a:srgbClr val="1A3A5C"/>
                </a:solidFill>
                <a:latin typeface="Montserrat" panose="00000500000000000000" charset="0"/>
                <a:ea typeface="Courier New" panose="02070309020205020404" pitchFamily="34" charset="-122"/>
                <a:cs typeface="Montserrat" panose="00000500000000000000" charset="0"/>
                <a:sym typeface="+mn-ea"/>
              </a:rPr>
              <a:t>    print()</a:t>
            </a:r>
            <a:endParaRPr lang="en-US" altLang="en-US" dirty="0">
              <a:solidFill>
                <a:srgbClr val="1A3A5C"/>
              </a:solidFill>
              <a:latin typeface="Montserrat" panose="00000500000000000000" charset="0"/>
              <a:ea typeface="Courier New" panose="02070309020205020404" pitchFamily="34" charset="-122"/>
              <a:cs typeface="Montserrat" panose="00000500000000000000" charset="0"/>
            </a:endParaRPr>
          </a:p>
        </p:txBody>
      </p:sp>
      <p:sp>
        <p:nvSpPr>
          <p:cNvPr id="6" name="Text Box 5"/>
          <p:cNvSpPr txBox="1"/>
          <p:nvPr>
            <p:custDataLst>
              <p:tags r:id="rId1"/>
            </p:custDataLst>
          </p:nvPr>
        </p:nvSpPr>
        <p:spPr>
          <a:xfrm>
            <a:off x="46990" y="2484755"/>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Model Training</a:t>
            </a:r>
            <a:endParaRPr lang="en-US" sz="1800" b="1">
              <a:latin typeface="Montserrat" panose="00000500000000000000" charset="0"/>
              <a:cs typeface="Montserrat" panose="00000500000000000000" charset="0"/>
            </a:endParaRPr>
          </a:p>
        </p:txBody>
      </p:sp>
      <p:sp>
        <p:nvSpPr>
          <p:cNvPr id="5" name="Text Box 4"/>
          <p:cNvSpPr txBox="1"/>
          <p:nvPr>
            <p:custDataLst>
              <p:tags r:id="rId2"/>
            </p:custDataLst>
          </p:nvPr>
        </p:nvSpPr>
        <p:spPr>
          <a:xfrm>
            <a:off x="6311900" y="2420620"/>
            <a:ext cx="4064000" cy="368300"/>
          </a:xfrm>
          <a:prstGeom prst="rect">
            <a:avLst/>
          </a:prstGeom>
          <a:noFill/>
        </p:spPr>
        <p:txBody>
          <a:bodyPr wrap="square" rtlCol="0">
            <a:spAutoFit/>
          </a:bodyPr>
          <a:p>
            <a:r>
              <a:rPr lang="en-US" sz="1800" b="1">
                <a:latin typeface="Montserrat" panose="00000500000000000000" charset="0"/>
                <a:cs typeface="Montserrat" panose="00000500000000000000" charset="0"/>
              </a:rPr>
              <a:t>Evaluation Loop</a:t>
            </a:r>
            <a:endParaRPr lang="en-US" sz="1800" b="1">
              <a:latin typeface="Montserrat" panose="00000500000000000000" charset="0"/>
              <a:cs typeface="Montserrat" panose="00000500000000000000"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7" name="Shape 187"/>
        <p:cNvGrpSpPr/>
        <p:nvPr/>
      </p:nvGrpSpPr>
      <p:grpSpPr>
        <a:xfrm>
          <a:off x="0" y="0"/>
          <a:ext cx="0" cy="0"/>
          <a:chOff x="0" y="0"/>
          <a:chExt cx="0" cy="0"/>
        </a:xfrm>
      </p:grpSpPr>
      <p:sp>
        <p:nvSpPr>
          <p:cNvPr id="188" name="Google Shape;188;p26"/>
          <p:cNvSpPr/>
          <p:nvPr/>
        </p:nvSpPr>
        <p:spPr>
          <a:xfrm>
            <a:off x="524250" y="1426149"/>
            <a:ext cx="12067500" cy="6011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900"/>
              <a:buFont typeface="Arial" panose="020B0604020202020204"/>
              <a:buNone/>
            </a:pPr>
            <a:br>
              <a:rPr lang="en-US" sz="1900" b="0" i="0" u="none" strike="noStrike" cap="none">
                <a:solidFill>
                  <a:schemeClr val="dk1"/>
                </a:solidFill>
                <a:latin typeface="Arial" panose="020B0604020202020204"/>
                <a:ea typeface="Arial" panose="020B0604020202020204"/>
                <a:cs typeface="Arial" panose="020B0604020202020204"/>
                <a:sym typeface="Arial" panose="020B0604020202020204"/>
              </a:rPr>
            </a:b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900"/>
              <a:buFont typeface="Arial" panose="020B0604020202020204"/>
              <a:buNone/>
            </a:pPr>
            <a:endParaRPr sz="1900" b="1"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189" name="Google Shape;189;p26"/>
          <p:cNvSpPr txBox="1"/>
          <p:nvPr/>
        </p:nvSpPr>
        <p:spPr>
          <a:xfrm>
            <a:off x="407320" y="643071"/>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Training and Testing the Models</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90" name="Google Shape;190;p26"/>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3" name="Text Box 2"/>
          <p:cNvSpPr txBox="1"/>
          <p:nvPr/>
        </p:nvSpPr>
        <p:spPr>
          <a:xfrm>
            <a:off x="263525" y="1557020"/>
            <a:ext cx="4495165" cy="4638675"/>
          </a:xfrm>
          <a:prstGeom prst="rect">
            <a:avLst/>
          </a:prstGeom>
          <a:noFill/>
        </p:spPr>
        <p:txBody>
          <a:bodyPr wrap="square" rtlCol="0">
            <a:noAutofit/>
          </a:bodyPr>
          <a:p>
            <a:r>
              <a:rPr lang="en-US" altLang="en-US"/>
              <a:t>for model in models:</a:t>
            </a:r>
            <a:endParaRPr lang="en-US" altLang="en-US"/>
          </a:p>
          <a:p>
            <a:r>
              <a:rPr lang="en-US" altLang="en-US"/>
              <a:t>    model.fit(X_res, y_res)</a:t>
            </a:r>
            <a:endParaRPr lang="en-US" altLang="en-US"/>
          </a:p>
          <a:p>
            <a:r>
              <a:rPr lang="en-US" altLang="en-US"/>
              <a:t>    </a:t>
            </a:r>
            <a:endParaRPr lang="en-US" altLang="en-US"/>
          </a:p>
          <a:p>
            <a:r>
              <a:rPr lang="en-US" altLang="en-US"/>
              <a:t>    name = model.__class__.__name__</a:t>
            </a:r>
            <a:endParaRPr lang="en-US" altLang="en-US"/>
          </a:p>
          <a:p>
            <a:r>
              <a:rPr lang="en-US" altLang="en-US"/>
              <a:t>    model_names.append(name)</a:t>
            </a:r>
            <a:endParaRPr lang="en-US" altLang="en-US"/>
          </a:p>
          <a:p>
            <a:r>
              <a:rPr lang="en-US" altLang="en-US"/>
              <a:t>    </a:t>
            </a:r>
            <a:endParaRPr lang="en-US" altLang="en-US"/>
          </a:p>
          <a:p>
            <a:r>
              <a:rPr lang="en-US" altLang="en-US"/>
              <a:t>    print(f'{model} : ')</a:t>
            </a:r>
            <a:endParaRPr lang="en-US" altLang="en-US"/>
          </a:p>
          <a:p>
            <a:endParaRPr lang="en-US" altLang="en-US"/>
          </a:p>
          <a:p>
            <a:r>
              <a:rPr lang="en-US" altLang="en-US"/>
              <a:t>    train_preds = model.predict_proba(X_res)[:, 1]</a:t>
            </a:r>
            <a:endParaRPr lang="en-US" altLang="en-US"/>
          </a:p>
          <a:p>
            <a:r>
              <a:rPr lang="en-US" altLang="en-US"/>
              <a:t>    train_score = ras(y_res, train_preds)</a:t>
            </a:r>
            <a:endParaRPr lang="en-US" altLang="en-US"/>
          </a:p>
          <a:p>
            <a:r>
              <a:rPr lang="en-US" altLang="en-US"/>
              <a:t>    train_scores.append(train_score)</a:t>
            </a:r>
            <a:endParaRPr lang="en-US" altLang="en-US"/>
          </a:p>
          <a:p>
            <a:r>
              <a:rPr lang="en-US" altLang="en-US"/>
              <a:t>    print('Training ROC-AUC : ', train_score)</a:t>
            </a:r>
            <a:endParaRPr lang="en-US" altLang="en-US"/>
          </a:p>
          <a:p>
            <a:endParaRPr lang="en-US" altLang="en-US"/>
          </a:p>
          <a:p>
            <a:r>
              <a:rPr lang="en-US" altLang="en-US"/>
              <a:t>    y_preds = model.predict_proba(X_te)[:, 1]</a:t>
            </a:r>
            <a:endParaRPr lang="en-US" altLang="en-US"/>
          </a:p>
          <a:p>
            <a:r>
              <a:rPr lang="en-US" altLang="en-US"/>
              <a:t>    val_score = ras(y_te, y_preds)</a:t>
            </a:r>
            <a:endParaRPr lang="en-US" altLang="en-US"/>
          </a:p>
          <a:p>
            <a:r>
              <a:rPr lang="en-US" altLang="en-US"/>
              <a:t>    val_scores.append(val_score)</a:t>
            </a:r>
            <a:endParaRPr lang="en-US" altLang="en-US"/>
          </a:p>
          <a:p>
            <a:r>
              <a:rPr lang="en-US" altLang="en-US"/>
              <a:t>    print('Validation ROC-AUC : ', val_score)</a:t>
            </a:r>
            <a:endParaRPr lang="en-US" altLang="en-US"/>
          </a:p>
          <a:p>
            <a:r>
              <a:rPr lang="en-US" altLang="en-US"/>
              <a:t>    print()</a:t>
            </a:r>
            <a:endParaRPr lang="en-US" altLang="en-US"/>
          </a:p>
        </p:txBody>
      </p:sp>
      <p:sp>
        <p:nvSpPr>
          <p:cNvPr id="2" name="Text Box 1"/>
          <p:cNvSpPr txBox="1"/>
          <p:nvPr/>
        </p:nvSpPr>
        <p:spPr>
          <a:xfrm>
            <a:off x="5763895" y="1700530"/>
            <a:ext cx="5119370" cy="4533265"/>
          </a:xfrm>
          <a:prstGeom prst="rect">
            <a:avLst/>
          </a:prstGeom>
          <a:noFill/>
        </p:spPr>
        <p:txBody>
          <a:bodyPr wrap="square" rtlCol="0">
            <a:noAutofit/>
          </a:bodyPr>
          <a:p>
            <a:r>
              <a:rPr lang="en-US" altLang="en-US"/>
              <a:t>LogisticRegression(max_iter=2000) : </a:t>
            </a:r>
            <a:endParaRPr lang="en-US" altLang="en-US"/>
          </a:p>
          <a:p>
            <a:r>
              <a:rPr lang="en-US" altLang="en-US"/>
              <a:t>Training ROC-AUC :  0.9868973625442602</a:t>
            </a:r>
            <a:endParaRPr lang="en-US" altLang="en-US"/>
          </a:p>
          <a:p>
            <a:r>
              <a:rPr lang="en-US" altLang="en-US"/>
              <a:t>Validation ROC-AUC :  0.9391848617176127</a:t>
            </a:r>
            <a:endParaRPr lang="en-US" altLang="en-US"/>
          </a:p>
          <a:p>
            <a:endParaRPr lang="en-US" altLang="en-US"/>
          </a:p>
          <a:p>
            <a:r>
              <a:rPr lang="en-US" altLang="en-US"/>
              <a:t>DecisionTreeClassifier(max_depth=7, random_state=42) : </a:t>
            </a:r>
            <a:endParaRPr lang="en-US" altLang="en-US"/>
          </a:p>
          <a:p>
            <a:r>
              <a:rPr lang="en-US" altLang="en-US"/>
              <a:t>Training ROC-AUC :  0.9946444514002739</a:t>
            </a:r>
            <a:endParaRPr lang="en-US" altLang="en-US"/>
          </a:p>
          <a:p>
            <a:r>
              <a:rPr lang="en-US" altLang="en-US"/>
              <a:t>Validation ROC-AUC :  0.829677341096555</a:t>
            </a:r>
            <a:endParaRPr lang="en-US" altLang="en-US"/>
          </a:p>
          <a:p>
            <a:endParaRPr lang="en-US" altLang="en-US"/>
          </a:p>
          <a:p>
            <a:r>
              <a:rPr lang="en-US" altLang="en-US"/>
              <a:t>RandomForestClassifier(criterion='entropy', n_estimators=7, random_state=7) : </a:t>
            </a:r>
            <a:endParaRPr lang="en-US" altLang="en-US"/>
          </a:p>
          <a:p>
            <a:r>
              <a:rPr lang="en-US" altLang="en-US"/>
              <a:t>Training ROC-AUC :  0.9999999888164477</a:t>
            </a:r>
            <a:endParaRPr lang="en-US" altLang="en-US"/>
          </a:p>
          <a:p>
            <a:r>
              <a:rPr lang="en-US" altLang="en-US"/>
              <a:t>Validation ROC-AUC :  0.973403687530325</a:t>
            </a:r>
            <a:endParaRPr lang="en-US" altLang="en-US"/>
          </a:p>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27"/>
          <p:cNvSpPr txBox="1"/>
          <p:nvPr/>
        </p:nvSpPr>
        <p:spPr>
          <a:xfrm>
            <a:off x="512164" y="384042"/>
            <a:ext cx="9247189" cy="769401"/>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Model Selection</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197" name="Google Shape;197;p27"/>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198" name="Google Shape;198;p27"/>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0" name="Google Shape;200;p27"/>
          <p:cNvSpPr txBox="1"/>
          <p:nvPr/>
        </p:nvSpPr>
        <p:spPr>
          <a:xfrm>
            <a:off x="225425" y="1153160"/>
            <a:ext cx="11540490" cy="1089025"/>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r>
              <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ROC curve compares models by plotting true positive rate vs false positive rate; higher AUC indicates better fraud detection performance.</a:t>
            </a: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pic>
        <p:nvPicPr>
          <p:cNvPr id="6" name="Picture 5"/>
          <p:cNvPicPr/>
          <p:nvPr/>
        </p:nvPicPr>
        <p:blipFill>
          <a:blip r:embed="rId1"/>
          <a:stretch>
            <a:fillRect/>
          </a:stretch>
        </p:blipFill>
        <p:spPr>
          <a:xfrm>
            <a:off x="623570" y="2204720"/>
            <a:ext cx="7527925" cy="4305935"/>
          </a:xfrm>
          <a:prstGeom prst="rect">
            <a:avLst/>
          </a:prstGeom>
        </p:spPr>
      </p:pic>
      <p:sp>
        <p:nvSpPr>
          <p:cNvPr id="2" name="Text Box 1"/>
          <p:cNvSpPr txBox="1"/>
          <p:nvPr/>
        </p:nvSpPr>
        <p:spPr>
          <a:xfrm>
            <a:off x="8616315" y="2493010"/>
            <a:ext cx="3474085" cy="935990"/>
          </a:xfrm>
          <a:prstGeom prst="rect">
            <a:avLst/>
          </a:prstGeom>
          <a:noFill/>
        </p:spPr>
        <p:txBody>
          <a:bodyPr wrap="square" rtlCol="0">
            <a:noAutofit/>
          </a:bodyPr>
          <a:p>
            <a:r>
              <a:rPr lang="en-US" altLang="en-US"/>
              <a:t>Receiver Operating Characteristic </a:t>
            </a:r>
            <a:endParaRPr lang="en-US" altLang="en-US"/>
          </a:p>
          <a:p>
            <a:r>
              <a:rPr lang="en-US" altLang="en-US"/>
              <a:t>Area Under the Curve</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Training and testing the models</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0" y="1701165"/>
            <a:ext cx="5073650" cy="3860165"/>
          </a:xfrm>
          <a:prstGeom prst="rect">
            <a:avLst/>
          </a:prstGeom>
        </p:spPr>
      </p:pic>
      <p:pic>
        <p:nvPicPr>
          <p:cNvPr id="2" name="Picture 1"/>
          <p:cNvPicPr/>
          <p:nvPr/>
        </p:nvPicPr>
        <p:blipFill>
          <a:blip r:embed="rId2"/>
          <a:stretch>
            <a:fillRect/>
          </a:stretch>
        </p:blipFill>
        <p:spPr>
          <a:xfrm>
            <a:off x="5951855" y="1879600"/>
            <a:ext cx="5031740" cy="36810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9" name="Shape 179"/>
        <p:cNvGrpSpPr/>
        <p:nvPr/>
      </p:nvGrpSpPr>
      <p:grpSpPr>
        <a:xfrm>
          <a:off x="0" y="0"/>
          <a:ext cx="0" cy="0"/>
          <a:chOff x="0" y="0"/>
          <a:chExt cx="0" cy="0"/>
        </a:xfrm>
      </p:grpSpPr>
      <p:sp>
        <p:nvSpPr>
          <p:cNvPr id="180" name="Google Shape;180;p25"/>
          <p:cNvSpPr txBox="1"/>
          <p:nvPr/>
        </p:nvSpPr>
        <p:spPr>
          <a:xfrm>
            <a:off x="92931" y="650711"/>
            <a:ext cx="12006000" cy="704215"/>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Confusion Matrix</a:t>
            </a:r>
            <a:endParaRPr lang="en-US" sz="30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81" name="Google Shape;181;p25"/>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pic>
        <p:nvPicPr>
          <p:cNvPr id="3" name="Picture 2"/>
          <p:cNvPicPr/>
          <p:nvPr/>
        </p:nvPicPr>
        <p:blipFill>
          <a:blip r:embed="rId1"/>
          <a:stretch>
            <a:fillRect/>
          </a:stretch>
        </p:blipFill>
        <p:spPr>
          <a:xfrm>
            <a:off x="1127887" y="1374902"/>
            <a:ext cx="4791456" cy="3968496"/>
          </a:xfrm>
          <a:prstGeom prst="rect">
            <a:avLst/>
          </a:prstGeom>
        </p:spPr>
      </p:pic>
      <p:sp>
        <p:nvSpPr>
          <p:cNvPr id="8" name="Text 5"/>
          <p:cNvSpPr/>
          <p:nvPr/>
        </p:nvSpPr>
        <p:spPr>
          <a:xfrm>
            <a:off x="7536180" y="908685"/>
            <a:ext cx="4023360" cy="320040"/>
          </a:xfrm>
          <a:prstGeom prst="rect">
            <a:avLst/>
          </a:prstGeom>
          <a:noFill/>
        </p:spPr>
        <p:txBody>
          <a:bodyPr wrap="square" rtlCol="0" anchor="ctr"/>
          <a:lstStyle/>
          <a:p>
            <a:pPr marL="0" indent="0">
              <a:buNone/>
            </a:pPr>
            <a:r>
              <a:rPr lang="en-US" b="1" dirty="0">
                <a:solidFill>
                  <a:srgbClr val="0D3B6E"/>
                </a:solidFill>
                <a:latin typeface="Montserrat" panose="00000500000000000000" charset="0"/>
                <a:ea typeface="Calibri" panose="020F0502020204030204" pitchFamily="34" charset="-122"/>
                <a:cs typeface="Montserrat" panose="00000500000000000000" charset="0"/>
              </a:rPr>
              <a:t>Interpreting Results:</a:t>
            </a:r>
            <a:endParaRPr lang="en-US" dirty="0">
              <a:latin typeface="Montserrat" panose="00000500000000000000" charset="0"/>
              <a:cs typeface="Montserrat" panose="00000500000000000000" charset="0"/>
            </a:endParaRPr>
          </a:p>
        </p:txBody>
      </p:sp>
      <p:sp>
        <p:nvSpPr>
          <p:cNvPr id="9" name="Shape 6"/>
          <p:cNvSpPr/>
          <p:nvPr>
            <p:custDataLst>
              <p:tags r:id="rId2"/>
            </p:custDataLst>
          </p:nvPr>
        </p:nvSpPr>
        <p:spPr>
          <a:xfrm>
            <a:off x="7536180" y="1320165"/>
            <a:ext cx="4540885" cy="731520"/>
          </a:xfrm>
          <a:prstGeom prst="rect">
            <a:avLst/>
          </a:prstGeom>
          <a:solidFill>
            <a:srgbClr val="FFFFFF"/>
          </a:solidFill>
          <a:ln w="12700">
            <a:solidFill>
              <a:srgbClr val="D0DFF0"/>
            </a:solidFill>
            <a:prstDash val="solid"/>
          </a:ln>
        </p:spPr>
      </p:sp>
      <p:sp>
        <p:nvSpPr>
          <p:cNvPr id="11" name="Text 8"/>
          <p:cNvSpPr/>
          <p:nvPr>
            <p:custDataLst>
              <p:tags r:id="rId3"/>
            </p:custDataLst>
          </p:nvPr>
        </p:nvSpPr>
        <p:spPr>
          <a:xfrm>
            <a:off x="7645908" y="1375029"/>
            <a:ext cx="2286000" cy="256032"/>
          </a:xfrm>
          <a:prstGeom prst="rect">
            <a:avLst/>
          </a:prstGeom>
          <a:noFill/>
        </p:spPr>
        <p:txBody>
          <a:bodyPr wrap="square" lIns="0" tIns="0" rIns="0" bIns="0" rtlCol="0" anchor="ctr"/>
          <a:lstStyle/>
          <a:p>
            <a:pPr marL="0" indent="0">
              <a:buNone/>
            </a:pPr>
            <a:r>
              <a:rPr lang="en-US" sz="1100" b="1" dirty="0">
                <a:solidFill>
                  <a:srgbClr val="0D3B6E"/>
                </a:solidFill>
                <a:latin typeface="Montserrat" panose="00000500000000000000" charset="0"/>
                <a:ea typeface="Calibri" panose="020F0502020204030204" pitchFamily="34" charset="-122"/>
                <a:cs typeface="Montserrat" panose="00000500000000000000" charset="0"/>
              </a:rPr>
              <a:t>True Negatives (TN)</a:t>
            </a:r>
            <a:endParaRPr lang="en-US" sz="1100" dirty="0">
              <a:latin typeface="Montserrat" panose="00000500000000000000" charset="0"/>
              <a:cs typeface="Montserrat" panose="00000500000000000000" charset="0"/>
            </a:endParaRPr>
          </a:p>
        </p:txBody>
      </p:sp>
      <p:sp>
        <p:nvSpPr>
          <p:cNvPr id="13" name="Text 10"/>
          <p:cNvSpPr/>
          <p:nvPr>
            <p:custDataLst>
              <p:tags r:id="rId4"/>
            </p:custDataLst>
          </p:nvPr>
        </p:nvSpPr>
        <p:spPr>
          <a:xfrm>
            <a:off x="7646035" y="1685925"/>
            <a:ext cx="438213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Legitimate transactions correctly identified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1e+04</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4" name="Shape 11"/>
          <p:cNvSpPr/>
          <p:nvPr>
            <p:custDataLst>
              <p:tags r:id="rId5"/>
            </p:custDataLst>
          </p:nvPr>
        </p:nvSpPr>
        <p:spPr>
          <a:xfrm>
            <a:off x="7536180" y="2143125"/>
            <a:ext cx="4540885" cy="731520"/>
          </a:xfrm>
          <a:prstGeom prst="rect">
            <a:avLst/>
          </a:prstGeom>
          <a:solidFill>
            <a:srgbClr val="FFFFFF"/>
          </a:solidFill>
          <a:ln w="12700">
            <a:solidFill>
              <a:srgbClr val="D0DFF0"/>
            </a:solidFill>
            <a:prstDash val="solid"/>
          </a:ln>
        </p:spPr>
      </p:sp>
      <p:sp>
        <p:nvSpPr>
          <p:cNvPr id="16" name="Text 13"/>
          <p:cNvSpPr/>
          <p:nvPr>
            <p:custDataLst>
              <p:tags r:id="rId6"/>
            </p:custDataLst>
          </p:nvPr>
        </p:nvSpPr>
        <p:spPr>
          <a:xfrm>
            <a:off x="7645908" y="219798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Positives (FP)</a:t>
            </a:r>
            <a:endParaRPr lang="en-US" sz="1200" dirty="0">
              <a:latin typeface="Montserrat" panose="00000500000000000000" charset="0"/>
              <a:cs typeface="Montserrat" panose="00000500000000000000" charset="0"/>
            </a:endParaRPr>
          </a:p>
        </p:txBody>
      </p:sp>
      <p:sp>
        <p:nvSpPr>
          <p:cNvPr id="18" name="Text 15"/>
          <p:cNvSpPr/>
          <p:nvPr>
            <p:custDataLst>
              <p:tags r:id="rId7"/>
            </p:custDataLst>
          </p:nvPr>
        </p:nvSpPr>
        <p:spPr>
          <a:xfrm>
            <a:off x="7646035" y="2508885"/>
            <a:ext cx="4453255"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Legit flagged as fraud — minimal customer friction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205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9" name="Shape 16"/>
          <p:cNvSpPr/>
          <p:nvPr>
            <p:custDataLst>
              <p:tags r:id="rId8"/>
            </p:custDataLst>
          </p:nvPr>
        </p:nvSpPr>
        <p:spPr>
          <a:xfrm>
            <a:off x="7536180" y="2966085"/>
            <a:ext cx="4540885" cy="731520"/>
          </a:xfrm>
          <a:prstGeom prst="rect">
            <a:avLst/>
          </a:prstGeom>
          <a:solidFill>
            <a:srgbClr val="FFFFFF"/>
          </a:solidFill>
          <a:ln w="12700">
            <a:solidFill>
              <a:srgbClr val="D0DFF0"/>
            </a:solidFill>
            <a:prstDash val="solid"/>
          </a:ln>
        </p:spPr>
      </p:sp>
      <p:sp>
        <p:nvSpPr>
          <p:cNvPr id="21" name="Text 18"/>
          <p:cNvSpPr/>
          <p:nvPr>
            <p:custDataLst>
              <p:tags r:id="rId9"/>
            </p:custDataLst>
          </p:nvPr>
        </p:nvSpPr>
        <p:spPr>
          <a:xfrm>
            <a:off x="7645908" y="3020949"/>
            <a:ext cx="2286000" cy="256032"/>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False Negatives (FN)</a:t>
            </a:r>
            <a:endParaRPr lang="en-US" sz="1200" dirty="0">
              <a:latin typeface="Montserrat" panose="00000500000000000000" charset="0"/>
              <a:cs typeface="Montserrat" panose="00000500000000000000" charset="0"/>
            </a:endParaRPr>
          </a:p>
        </p:txBody>
      </p:sp>
      <p:sp>
        <p:nvSpPr>
          <p:cNvPr id="23" name="Text 20"/>
          <p:cNvSpPr/>
          <p:nvPr>
            <p:custDataLst>
              <p:tags r:id="rId10"/>
            </p:custDataLst>
          </p:nvPr>
        </p:nvSpPr>
        <p:spPr>
          <a:xfrm>
            <a:off x="7646035" y="3331845"/>
            <a:ext cx="4390390" cy="292735"/>
          </a:xfrm>
          <a:prstGeom prst="rect">
            <a:avLst/>
          </a:prstGeom>
          <a:noFill/>
        </p:spPr>
        <p:txBody>
          <a:bodyPr wrap="square" lIns="0" tIns="0" rIns="0" bIns="0" rtlCol="0" anchor="ctr"/>
          <a:lstStyle/>
          <a:p>
            <a:pPr marL="0" indent="0">
              <a:buNone/>
            </a:pPr>
            <a:r>
              <a:rPr lang="en-US" sz="1200" dirty="0">
                <a:solidFill>
                  <a:srgbClr val="4A6080"/>
                </a:solidFill>
                <a:latin typeface="Montserrat" panose="00000500000000000000" charset="0"/>
                <a:ea typeface="Calibri" panose="020F0502020204030204" pitchFamily="34" charset="-122"/>
                <a:cs typeface="Montserrat" panose="00000500000000000000" charset="0"/>
              </a:rPr>
              <a:t>Fraud missed — direct financial loss risk                   </a:t>
            </a:r>
            <a:r>
              <a:rPr lang="en-US" sz="1200" b="1" dirty="0">
                <a:solidFill>
                  <a:srgbClr val="4A6080"/>
                </a:solidFill>
                <a:latin typeface="Montserrat" panose="00000500000000000000" charset="0"/>
                <a:ea typeface="Calibri" panose="020F0502020204030204" pitchFamily="34" charset="-122"/>
                <a:cs typeface="Montserrat" panose="00000500000000000000" charset="0"/>
              </a:rPr>
              <a:t>5</a:t>
            </a:r>
            <a:endParaRPr lang="en-US" sz="12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4" name="Shape 21"/>
          <p:cNvSpPr/>
          <p:nvPr>
            <p:custDataLst>
              <p:tags r:id="rId11"/>
            </p:custDataLst>
          </p:nvPr>
        </p:nvSpPr>
        <p:spPr>
          <a:xfrm>
            <a:off x="7536180" y="3679190"/>
            <a:ext cx="4540885" cy="731520"/>
          </a:xfrm>
          <a:prstGeom prst="rect">
            <a:avLst/>
          </a:prstGeom>
          <a:solidFill>
            <a:srgbClr val="FFFFFF"/>
          </a:solidFill>
          <a:ln w="12700">
            <a:solidFill>
              <a:srgbClr val="D0DFF0"/>
            </a:solidFill>
            <a:prstDash val="solid"/>
          </a:ln>
        </p:spPr>
      </p:sp>
      <p:sp>
        <p:nvSpPr>
          <p:cNvPr id="26" name="Text 23"/>
          <p:cNvSpPr/>
          <p:nvPr>
            <p:custDataLst>
              <p:tags r:id="rId12"/>
            </p:custDataLst>
          </p:nvPr>
        </p:nvSpPr>
        <p:spPr>
          <a:xfrm>
            <a:off x="7646035" y="3843655"/>
            <a:ext cx="4319905" cy="255905"/>
          </a:xfrm>
          <a:prstGeom prst="rect">
            <a:avLst/>
          </a:prstGeom>
          <a:noFill/>
        </p:spPr>
        <p:txBody>
          <a:bodyPr wrap="square" lIns="0" tIns="0" rIns="0" bIns="0" rtlCol="0" anchor="ctr"/>
          <a:lstStyle/>
          <a:p>
            <a:pPr marL="0" indent="0">
              <a:buNone/>
            </a:pPr>
            <a:r>
              <a:rPr lang="en-US" sz="1200" b="1" dirty="0">
                <a:solidFill>
                  <a:srgbClr val="0D3B6E"/>
                </a:solidFill>
                <a:latin typeface="Montserrat" panose="00000500000000000000" charset="0"/>
                <a:ea typeface="Calibri" panose="020F0502020204030204" pitchFamily="34" charset="-122"/>
                <a:cs typeface="Montserrat" panose="00000500000000000000" charset="0"/>
              </a:rPr>
              <a:t>True Positives (TP)</a:t>
            </a:r>
            <a:endParaRPr lang="en-US" sz="1200" dirty="0">
              <a:latin typeface="Montserrat" panose="00000500000000000000" charset="0"/>
              <a:cs typeface="Montserrat" panose="00000500000000000000" charset="0"/>
            </a:endParaRPr>
          </a:p>
        </p:txBody>
      </p:sp>
      <p:sp>
        <p:nvSpPr>
          <p:cNvPr id="28" name="Text 25"/>
          <p:cNvSpPr/>
          <p:nvPr>
            <p:custDataLst>
              <p:tags r:id="rId13"/>
            </p:custDataLst>
          </p:nvPr>
        </p:nvSpPr>
        <p:spPr>
          <a:xfrm>
            <a:off x="7673340" y="4017645"/>
            <a:ext cx="4404360" cy="292735"/>
          </a:xfrm>
          <a:prstGeom prst="rect">
            <a:avLst/>
          </a:prstGeom>
          <a:noFill/>
        </p:spPr>
        <p:txBody>
          <a:bodyPr wrap="square" lIns="0" tIns="0" rIns="0" bIns="0" rtlCol="0" anchor="ctr"/>
          <a:lstStyle/>
          <a:p>
            <a:pPr marL="0" indent="0">
              <a:buNone/>
            </a:pPr>
            <a:r>
              <a:rPr lang="en-US" sz="1000" dirty="0">
                <a:solidFill>
                  <a:srgbClr val="4A6080"/>
                </a:solidFill>
                <a:latin typeface="Montserrat" panose="00000500000000000000" charset="0"/>
                <a:ea typeface="Calibri" panose="020F0502020204030204" pitchFamily="34" charset="-122"/>
                <a:cs typeface="Montserrat" panose="00000500000000000000" charset="0"/>
              </a:rPr>
              <a:t>Fraud correctly caught by the model                                            </a:t>
            </a:r>
            <a:r>
              <a:rPr lang="en-US" sz="1000" b="1" dirty="0">
                <a:solidFill>
                  <a:srgbClr val="4A6080"/>
                </a:solidFill>
                <a:latin typeface="Montserrat" panose="00000500000000000000" charset="0"/>
                <a:ea typeface="Calibri" panose="020F0502020204030204" pitchFamily="34" charset="-122"/>
                <a:cs typeface="Montserrat" panose="00000500000000000000" charset="0"/>
              </a:rPr>
              <a:t>15</a:t>
            </a:r>
            <a:endParaRPr lang="en-US" sz="1000" b="1"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4" name="Text Box 3"/>
          <p:cNvSpPr txBox="1"/>
          <p:nvPr/>
        </p:nvSpPr>
        <p:spPr>
          <a:xfrm>
            <a:off x="92710" y="1873250"/>
            <a:ext cx="1172845" cy="2419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Legit   </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5" name="Text Box 4"/>
          <p:cNvSpPr txBox="1"/>
          <p:nvPr/>
        </p:nvSpPr>
        <p:spPr>
          <a:xfrm>
            <a:off x="119380" y="3789045"/>
            <a:ext cx="1187450" cy="254635"/>
          </a:xfrm>
          <a:prstGeom prst="rect">
            <a:avLst/>
          </a:prstGeom>
          <a:noFill/>
        </p:spPr>
        <p:txBody>
          <a:bodyPr wrap="square" rtlCol="0" anchor="t">
            <a:no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Actual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a:p>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6" name="Text Box 5"/>
          <p:cNvSpPr txBox="1"/>
          <p:nvPr/>
        </p:nvSpPr>
        <p:spPr>
          <a:xfrm>
            <a:off x="3575685" y="5301615"/>
            <a:ext cx="1598930"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Fraud</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
        <p:nvSpPr>
          <p:cNvPr id="7" name="Text Box 6"/>
          <p:cNvSpPr txBox="1"/>
          <p:nvPr/>
        </p:nvSpPr>
        <p:spPr>
          <a:xfrm>
            <a:off x="1775460" y="5301615"/>
            <a:ext cx="1604645" cy="275590"/>
          </a:xfrm>
          <a:prstGeom prst="rect">
            <a:avLst/>
          </a:prstGeom>
          <a:noFill/>
        </p:spPr>
        <p:txBody>
          <a:bodyPr wrap="square" rtlCol="0" anchor="t">
            <a:spAutoFit/>
          </a:bodyPr>
          <a:p>
            <a:r>
              <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rPr>
              <a:t>Predicted Legit</a:t>
            </a:r>
            <a:endParaRPr lang="en-US" sz="1200" b="1" dirty="0">
              <a:solidFill>
                <a:srgbClr val="4A6080"/>
              </a:solidFill>
              <a:latin typeface="Montserrat" panose="00000500000000000000" charset="0"/>
              <a:ea typeface="Calibri" panose="020F0502020204030204" pitchFamily="34" charset="-122"/>
              <a:cs typeface="Montserrat" panose="00000500000000000000" charset="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04" name="Shape 204"/>
        <p:cNvGrpSpPr/>
        <p:nvPr/>
      </p:nvGrpSpPr>
      <p:grpSpPr>
        <a:xfrm>
          <a:off x="0" y="0"/>
          <a:ext cx="0" cy="0"/>
          <a:chOff x="0" y="0"/>
          <a:chExt cx="0" cy="0"/>
        </a:xfrm>
      </p:grpSpPr>
      <p:sp>
        <p:nvSpPr>
          <p:cNvPr id="205" name="Google Shape;205;p28"/>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b="0" i="0" u="none" strike="noStrike" cap="none">
                <a:solidFill>
                  <a:srgbClr val="000000"/>
                </a:solidFill>
                <a:latin typeface="Montserrat" panose="00000500000000000000"/>
                <a:ea typeface="Montserrat" panose="00000500000000000000"/>
                <a:cs typeface="Montserrat" panose="00000500000000000000"/>
                <a:sym typeface="Montserrat" panose="00000500000000000000"/>
              </a:rPr>
              <a:t>Hyperparameter Tuning</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06" name="Google Shape;206;p28"/>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07" name="Google Shape;207;p28"/>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08" name="Google Shape;208;p28"/>
          <p:cNvSpPr txBox="1"/>
          <p:nvPr/>
        </p:nvSpPr>
        <p:spPr>
          <a:xfrm>
            <a:off x="225425" y="1169670"/>
            <a:ext cx="11540490" cy="947420"/>
          </a:xfrm>
          <a:prstGeom prst="rect">
            <a:avLst/>
          </a:prstGeom>
          <a:noFill/>
          <a:ln>
            <a:noFill/>
          </a:ln>
        </p:spPr>
        <p:txBody>
          <a:bodyPr spcFirstLastPara="1" wrap="square" lIns="91425" tIns="91425" rIns="91425" bIns="91425" anchor="t" anchorCtr="0">
            <a:noAutofit/>
          </a:bodyPr>
          <a:lstStyle/>
          <a:p>
            <a:pPr marL="0" indent="0">
              <a:buNone/>
            </a:pPr>
            <a:r>
              <a:rPr lang="en-US" sz="1800">
                <a:solidFill>
                  <a:schemeClr val="dk1"/>
                </a:solidFill>
                <a:latin typeface="Montserrat" panose="00000500000000000000" charset="0"/>
                <a:cs typeface="Montserrat" panose="00000500000000000000" charset="0"/>
              </a:rPr>
              <a:t>Random Forest </a:t>
            </a:r>
            <a:r>
              <a:rPr lang="en-US" sz="1800">
                <a:solidFill>
                  <a:schemeClr val="dk1"/>
                </a:solidFill>
                <a:latin typeface="Montserrat" panose="00000500000000000000" charset="0"/>
                <a:cs typeface="Montserrat" panose="00000500000000000000" charset="0"/>
                <a:sym typeface="+mn-ea"/>
              </a:rPr>
              <a:t>parameters tuned using GridSearchCV (3-fold, AUC-ROC scoring) on the SMOTE-balanced PaySim training data to maximize fraud detection performance.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2" name="Text Box 1"/>
          <p:cNvSpPr txBox="1"/>
          <p:nvPr/>
        </p:nvSpPr>
        <p:spPr>
          <a:xfrm>
            <a:off x="335280" y="2421255"/>
            <a:ext cx="5259705" cy="4364355"/>
          </a:xfrm>
          <a:prstGeom prst="rect">
            <a:avLst/>
          </a:prstGeom>
        </p:spPr>
        <p:txBody>
          <a:bodyPr>
            <a:noAutofit/>
          </a:bodyPr>
          <a:p>
            <a:pPr algn="l">
              <a:lnSpc>
                <a:spcPct val="150000"/>
              </a:lnSpc>
              <a:buSzPts val="1900"/>
            </a:pPr>
            <a:r>
              <a:rPr lang="en-US" b="0">
                <a:solidFill>
                  <a:schemeClr val="dk1"/>
                </a:solidFill>
                <a:latin typeface="Montserrat" panose="00000500000000000000" charset="0"/>
                <a:cs typeface="Montserrat" panose="00000500000000000000" charset="0"/>
              </a:rPr>
              <a:t>rf_params = {</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'n_estimators': [50, 100],</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'max_depth': [5, 10, None],</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'min_samples_split': [2, 5],</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'criterion': ['gini', 'entropy']</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rf_grid = GridSearchCV(</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RandomForestClassifier(random_state=42),</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param_grid=rf_params,</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cv=3,</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scoring='roc_auc',</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    n_jobs=-1</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b="0">
                <a:solidFill>
                  <a:schemeClr val="dk1"/>
                </a:solidFill>
                <a:latin typeface="Montserrat" panose="00000500000000000000" charset="0"/>
                <a:cs typeface="Montserrat" panose="00000500000000000000" charset="0"/>
              </a:rPr>
              <a:t>)</a:t>
            </a:r>
            <a:endParaRPr lang="en-US" sz="1900" b="0">
              <a:solidFill>
                <a:schemeClr val="dk1"/>
              </a:solidFill>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p:txBody>
      </p:sp>
      <p:sp>
        <p:nvSpPr>
          <p:cNvPr id="3" name="Text Box 2"/>
          <p:cNvSpPr txBox="1"/>
          <p:nvPr/>
        </p:nvSpPr>
        <p:spPr>
          <a:xfrm>
            <a:off x="5663565" y="2276475"/>
            <a:ext cx="6096000" cy="4387850"/>
          </a:xfrm>
          <a:prstGeom prst="rect">
            <a:avLst/>
          </a:prstGeom>
          <a:noFill/>
        </p:spPr>
        <p:txBody>
          <a:bodyPr wrap="square" rtlCol="0" anchor="t">
            <a:noAutofit/>
          </a:bodyPr>
          <a:p>
            <a:pPr algn="l">
              <a:lnSpc>
                <a:spcPct val="150000"/>
              </a:lnSpc>
              <a:buSzPts val="1900"/>
            </a:pPr>
            <a:r>
              <a:rPr lang="en-US">
                <a:solidFill>
                  <a:schemeClr val="dk1"/>
                </a:solidFill>
                <a:latin typeface="Montserrat" panose="00000500000000000000" charset="0"/>
                <a:cs typeface="Montserrat" panose="00000500000000000000" charset="0"/>
                <a:sym typeface="+mn-ea"/>
              </a:rPr>
              <a:t>rf_grid.fit(X_res, y_res)</a:t>
            </a:r>
            <a:endParaRPr lang="en-US" b="0">
              <a:solidFill>
                <a:schemeClr val="dk1"/>
              </a:solidFill>
              <a:latin typeface="Montserrat" panose="00000500000000000000" charset="0"/>
              <a:cs typeface="Montserrat" panose="00000500000000000000" charset="0"/>
            </a:endParaRPr>
          </a:p>
          <a:p>
            <a:pPr algn="l">
              <a:lnSpc>
                <a:spcPct val="150000"/>
              </a:lnSpc>
              <a:buSzPts val="1900"/>
            </a:pP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Random Forest Params:", rf_grid.best_params_)</a:t>
            </a:r>
            <a:endParaRPr lang="en-US" b="0">
              <a:solidFill>
                <a:schemeClr val="dk1"/>
              </a:solidFill>
              <a:latin typeface="Montserrat" panose="00000500000000000000" charset="0"/>
              <a:cs typeface="Montserrat" panose="00000500000000000000" charset="0"/>
            </a:endParaRPr>
          </a:p>
          <a:p>
            <a:pPr algn="l">
              <a:lnSpc>
                <a:spcPct val="150000"/>
              </a:lnSpc>
              <a:buSzPts val="1900"/>
            </a:pPr>
            <a:r>
              <a:rPr lang="en-US">
                <a:solidFill>
                  <a:schemeClr val="dk1"/>
                </a:solidFill>
                <a:latin typeface="Montserrat" panose="00000500000000000000" charset="0"/>
                <a:cs typeface="Montserrat" panose="00000500000000000000" charset="0"/>
                <a:sym typeface="+mn-ea"/>
              </a:rPr>
              <a:t>print("Best Score:", rf_grid.best_score_)</a:t>
            </a:r>
            <a:br>
              <a:rPr lang="en-US">
                <a:solidFill>
                  <a:schemeClr val="dk1"/>
                </a:solidFill>
                <a:latin typeface="Montserrat" panose="00000500000000000000" charset="0"/>
                <a:cs typeface="Montserrat" panose="00000500000000000000" charset="0"/>
                <a:sym typeface="+mn-ea"/>
              </a:rPr>
            </a:br>
            <a:endParaRPr 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b="1">
                <a:solidFill>
                  <a:schemeClr val="dk1"/>
                </a:solidFill>
                <a:latin typeface="Montserrat" panose="00000500000000000000" charset="0"/>
                <a:cs typeface="Montserrat" panose="00000500000000000000" charset="0"/>
                <a:sym typeface="+mn-ea"/>
              </a:rPr>
              <a:t>Result :</a:t>
            </a: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endParaRPr lang="en-US" b="1">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Random Forest Params: {'criterion': 'entropy', 'max_depth': None, 'min_samples_split': 5, 'n_estimators': 50}</a:t>
            </a:r>
            <a:endParaRPr lang="en-US" altLang="en-US">
              <a:solidFill>
                <a:schemeClr val="dk1"/>
              </a:solidFill>
              <a:latin typeface="Montserrat" panose="00000500000000000000" charset="0"/>
              <a:cs typeface="Montserrat" panose="00000500000000000000" charset="0"/>
              <a:sym typeface="+mn-ea"/>
            </a:endParaRPr>
          </a:p>
          <a:p>
            <a:pPr algn="l">
              <a:lnSpc>
                <a:spcPct val="150000"/>
              </a:lnSpc>
              <a:buSzPts val="1900"/>
            </a:pPr>
            <a:r>
              <a:rPr lang="en-US" altLang="en-US">
                <a:solidFill>
                  <a:schemeClr val="dk1"/>
                </a:solidFill>
                <a:latin typeface="Montserrat" panose="00000500000000000000" charset="0"/>
                <a:cs typeface="Montserrat" panose="00000500000000000000" charset="0"/>
                <a:sym typeface="+mn-ea"/>
              </a:rPr>
              <a:t>Best Score: 0.9999957064196611</a:t>
            </a:r>
            <a:endParaRPr lang="en-US" altLang="en-US">
              <a:solidFill>
                <a:schemeClr val="dk1"/>
              </a:solidFill>
              <a:latin typeface="Montserrat" panose="00000500000000000000" charset="0"/>
              <a:cs typeface="Montserrat" panose="00000500000000000000"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sp>
        <p:nvSpPr>
          <p:cNvPr id="214" name="Google Shape;214;p29"/>
          <p:cNvSpPr txBox="1"/>
          <p:nvPr/>
        </p:nvSpPr>
        <p:spPr>
          <a:xfrm>
            <a:off x="512164" y="384042"/>
            <a:ext cx="9247200" cy="769500"/>
          </a:xfrm>
          <a:prstGeom prst="rect">
            <a:avLst/>
          </a:prstGeom>
          <a:noFill/>
          <a:ln>
            <a:noFill/>
          </a:ln>
        </p:spPr>
        <p:txBody>
          <a:bodyPr spcFirstLastPara="1" wrap="square" lIns="121900" tIns="121900" rIns="121900" bIns="121900" anchor="t" anchorCtr="0">
            <a:spAutoFit/>
          </a:bodyPr>
          <a:lstStyle/>
          <a:p>
            <a:pPr marL="0" marR="0" lvl="0" indent="0" algn="l" rtl="0">
              <a:lnSpc>
                <a:spcPct val="100000"/>
              </a:lnSpc>
              <a:spcBef>
                <a:spcPts val="0"/>
              </a:spcBef>
              <a:spcAft>
                <a:spcPts val="0"/>
              </a:spcAft>
              <a:buClr>
                <a:srgbClr val="000000"/>
              </a:buClr>
              <a:buSzPts val="3400"/>
              <a:buFont typeface="Arial" panose="020B0604020202020204"/>
              <a:buNone/>
            </a:pPr>
            <a:r>
              <a:rPr lang="en-US" sz="3400">
                <a:latin typeface="Montserrat" panose="00000500000000000000"/>
                <a:ea typeface="Montserrat" panose="00000500000000000000"/>
                <a:cs typeface="Montserrat" panose="00000500000000000000"/>
                <a:sym typeface="Montserrat" panose="00000500000000000000"/>
              </a:rPr>
              <a:t>Feature Importance</a:t>
            </a:r>
            <a:endParaRPr sz="3400" b="0" i="1" u="none" strike="noStrike" cap="none">
              <a:solidFill>
                <a:srgbClr val="000000"/>
              </a:solidFill>
              <a:latin typeface="Montserrat" panose="00000500000000000000"/>
              <a:ea typeface="Montserrat" panose="00000500000000000000"/>
              <a:cs typeface="Montserrat" panose="00000500000000000000"/>
              <a:sym typeface="Montserrat" panose="00000500000000000000"/>
            </a:endParaRPr>
          </a:p>
        </p:txBody>
      </p:sp>
      <p:sp>
        <p:nvSpPr>
          <p:cNvPr id="215" name="Google Shape;215;p29"/>
          <p:cNvSpPr txBox="1"/>
          <p:nvPr/>
        </p:nvSpPr>
        <p:spPr>
          <a:xfrm>
            <a:off x="494740" y="1091150"/>
            <a:ext cx="11167800" cy="51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330"/>
              <a:buFont typeface="Arial" panose="020B0604020202020204"/>
              <a:buNone/>
            </a:pPr>
            <a:endParaRPr sz="1330" b="0" i="0" u="sng"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16" name="Google Shape;216;p29"/>
          <p:cNvSpPr txBox="1"/>
          <p:nvPr>
            <p:ph type="sldNum" idx="12"/>
          </p:nvPr>
        </p:nvSpPr>
        <p:spPr>
          <a:xfrm>
            <a:off x="11296611" y="6014423"/>
            <a:ext cx="731700" cy="524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17" name="Google Shape;217;p29"/>
          <p:cNvSpPr txBox="1"/>
          <p:nvPr/>
        </p:nvSpPr>
        <p:spPr>
          <a:xfrm>
            <a:off x="225200" y="1347525"/>
            <a:ext cx="11540700" cy="7695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p:nvPr/>
        </p:nvPicPr>
        <p:blipFill>
          <a:blip r:embed="rId1"/>
          <a:stretch>
            <a:fillRect/>
          </a:stretch>
        </p:blipFill>
        <p:spPr>
          <a:xfrm>
            <a:off x="1097915" y="1412875"/>
            <a:ext cx="8869680" cy="508381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graphicFrame>
        <p:nvGraphicFramePr>
          <p:cNvPr id="2" name="Table 1"/>
          <p:cNvGraphicFramePr/>
          <p:nvPr>
            <p:custDataLst>
              <p:tags r:id="rId1"/>
            </p:custDataLst>
          </p:nvPr>
        </p:nvGraphicFramePr>
        <p:xfrm>
          <a:off x="853440" y="1546225"/>
          <a:ext cx="10205085" cy="3413125"/>
        </p:xfrm>
        <a:graphic>
          <a:graphicData uri="http://schemas.openxmlformats.org/drawingml/2006/table">
            <a:tbl>
              <a:tblPr/>
              <a:tblGrid>
                <a:gridCol w="3401695"/>
                <a:gridCol w="3401695"/>
                <a:gridCol w="3401695"/>
              </a:tblGrid>
              <a:tr h="682625">
                <a:tc>
                  <a:txBody>
                    <a:bodyPr/>
                    <a:p>
                      <a:r>
                        <a:rPr lang="en-US" altLang="zh-CN" sz="1800" b="1">
                          <a:latin typeface="Montserrat" panose="00000500000000000000" charset="0"/>
                          <a:cs typeface="Montserrat" panose="00000500000000000000" charset="0"/>
                        </a:rPr>
                        <a:t>Case</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Meaning</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b="1">
                          <a:latin typeface="Montserrat" panose="00000500000000000000" charset="0"/>
                          <a:cs typeface="Montserrat" panose="00000500000000000000" charset="0"/>
                        </a:rPr>
                        <a:t>Cost Impact</a:t>
                      </a:r>
                      <a:endParaRPr lang="en-US" altLang="zh-CN" sz="1800" b="1">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FN (Missed Fraud)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allowed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Huge Loss</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FP (Blocked Genuine)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Customer blocked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Lost revenue</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TP</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Fraud stopped</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zh-CN" altLang="en-US" sz="1800">
                          <a:latin typeface="Montserrat" panose="00000500000000000000" charset="0"/>
                          <a:cs typeface="Montserrat" panose="00000500000000000000" charset="0"/>
                        </a:rPr>
                        <a:t>🟢 </a:t>
                      </a:r>
                      <a:r>
                        <a:rPr lang="en-US" altLang="zh-CN" sz="1800">
                          <a:latin typeface="Montserrat" panose="00000500000000000000" charset="0"/>
                          <a:cs typeface="Montserrat" panose="00000500000000000000" charset="0"/>
                        </a:rPr>
                        <a:t>Saved money</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r h="682625">
                <a:tc>
                  <a:txBody>
                    <a:bodyPr/>
                    <a:p>
                      <a:r>
                        <a:rPr lang="en-US" altLang="zh-CN" sz="1800">
                          <a:latin typeface="Montserrat" panose="00000500000000000000" charset="0"/>
                          <a:cs typeface="Montserrat" panose="00000500000000000000" charset="0"/>
                        </a:rPr>
                        <a:t>TN</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Normal</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c>
                  <a:txBody>
                    <a:bodyPr/>
                    <a:p>
                      <a:r>
                        <a:rPr lang="en-US" altLang="zh-CN" sz="1800">
                          <a:latin typeface="Montserrat" panose="00000500000000000000" charset="0"/>
                          <a:cs typeface="Montserrat" panose="00000500000000000000" charset="0"/>
                        </a:rPr>
                        <a:t>No impact</a:t>
                      </a:r>
                      <a:endParaRPr lang="en-US" altLang="zh-CN" sz="1800">
                        <a:latin typeface="Montserrat" panose="00000500000000000000" charset="0"/>
                        <a:cs typeface="Montserrat" panose="00000500000000000000" charset="0"/>
                      </a:endParaRPr>
                    </a:p>
                  </a:txBody>
                  <a:tcPr marL="0" marR="0" marT="0" marB="0" anchor="ctr" anchorCtr="0">
                    <a:lnL>
                      <a:noFill/>
                    </a:lnL>
                    <a:lnR>
                      <a:noFill/>
                    </a:lnR>
                    <a:lnT>
                      <a:noFill/>
                    </a:lnT>
                    <a:lnB>
                      <a:noFill/>
                    </a:lnB>
                    <a:no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375412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pic>
        <p:nvPicPr>
          <p:cNvPr id="2" name="Picture 1"/>
          <p:cNvPicPr>
            <a:picLocks noChangeAspect="1"/>
          </p:cNvPicPr>
          <p:nvPr/>
        </p:nvPicPr>
        <p:blipFill>
          <a:blip r:embed="rId1"/>
          <a:stretch>
            <a:fillRect/>
          </a:stretch>
        </p:blipFill>
        <p:spPr>
          <a:xfrm>
            <a:off x="601980" y="1720850"/>
            <a:ext cx="9010015" cy="439102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Compute Real Financial Loss</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271125" cy="498221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With Cost Optimization</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Threshold adjusted based on ₹ impact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pitchFamily="34" charset="0"/>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Minimizes</a:t>
            </a: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Fraud leakage (FN)</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Customer loss (FP)</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endParaRPr lang="zh-CN"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914400" marR="0" lvl="0" indent="0" algn="l" rtl="0">
              <a:lnSpc>
                <a:spcPct val="150000"/>
              </a:lnSpc>
              <a:spcBef>
                <a:spcPts val="0"/>
              </a:spcBef>
              <a:spcAft>
                <a:spcPts val="0"/>
              </a:spcAft>
              <a:buClr>
                <a:srgbClr val="000000"/>
              </a:buClr>
              <a:buSzPts val="1900"/>
              <a:buFont typeface="Arial" panose="020B0604020202020204"/>
              <a:buNone/>
            </a:pPr>
            <a:r>
              <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Direct business benefit:</a:t>
            </a:r>
            <a:endParaRPr lang="en-US" altLang="en-US" sz="19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Reduced fraud loss</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Improved approval rate</a:t>
            </a:r>
            <a:endPar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1257300" marR="0" lvl="0" indent="-342900" algn="l" rtl="0">
              <a:lnSpc>
                <a:spcPct val="150000"/>
              </a:lnSpc>
              <a:spcBef>
                <a:spcPts val="0"/>
              </a:spcBef>
              <a:spcAft>
                <a:spcPts val="0"/>
              </a:spcAft>
              <a:buClr>
                <a:srgbClr val="000000"/>
              </a:buClr>
              <a:buSzPts val="1900"/>
              <a:buFont typeface="Arial" panose="020B0604020202020204" pitchFamily="34" charset="0"/>
              <a:buChar char="•"/>
            </a:pPr>
            <a:r>
              <a:rPr lang="en-US" altLang="en-US"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Increased revenue</a:t>
            </a:r>
            <a:endParaRPr sz="19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rPr>
              <a:t>Cost Optimization Curve</a:t>
            </a:r>
            <a:endParaRPr lang="en-US" altLang="en-US"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pic>
        <p:nvPicPr>
          <p:cNvPr id="2" name="Picture 1"/>
          <p:cNvPicPr>
            <a:picLocks noChangeAspect="1"/>
          </p:cNvPicPr>
          <p:nvPr/>
        </p:nvPicPr>
        <p:blipFill>
          <a:blip r:embed="rId1"/>
          <a:stretch>
            <a:fillRect/>
          </a:stretch>
        </p:blipFill>
        <p:spPr>
          <a:xfrm>
            <a:off x="623570" y="1316355"/>
            <a:ext cx="5936615" cy="4913630"/>
          </a:xfrm>
          <a:prstGeom prst="rect">
            <a:avLst/>
          </a:prstGeom>
        </p:spPr>
      </p:pic>
      <p:sp>
        <p:nvSpPr>
          <p:cNvPr id="208" name="Google Shape;208;p28"/>
          <p:cNvSpPr txBox="1"/>
          <p:nvPr/>
        </p:nvSpPr>
        <p:spPr>
          <a:xfrm>
            <a:off x="6805295" y="1489710"/>
            <a:ext cx="5027930" cy="1656715"/>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a:solidFill>
                  <a:schemeClr val="dk1"/>
                </a:solidFill>
                <a:latin typeface="Montserrat" panose="00000500000000000000" charset="0"/>
                <a:cs typeface="Montserrat" panose="00000500000000000000" charset="0"/>
                <a:sym typeface="+mn-ea"/>
              </a:rPr>
              <a:t>Cost curve shows optimal threshold minimizing financial loss by balancing false positives and false negatives in fraud detection system</a:t>
            </a:r>
            <a:r>
              <a:rPr lang="en-US" sz="1800">
                <a:solidFill>
                  <a:schemeClr val="dk1"/>
                </a:solidFill>
                <a:latin typeface="Montserrat" panose="00000500000000000000" charset="0"/>
                <a:cs typeface="Montserrat" panose="00000500000000000000" charset="0"/>
                <a:sym typeface="+mn-ea"/>
              </a:rPr>
              <a:t>ance.</a:t>
            </a:r>
            <a:endParaRPr 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
        <p:nvSpPr>
          <p:cNvPr id="1" name="Google Shape;208;p28"/>
          <p:cNvSpPr txBox="1"/>
          <p:nvPr/>
        </p:nvSpPr>
        <p:spPr>
          <a:xfrm>
            <a:off x="6804660" y="3429000"/>
            <a:ext cx="5016500" cy="1647825"/>
          </a:xfrm>
          <a:prstGeom prst="rect">
            <a:avLst/>
          </a:prstGeom>
          <a:noFill/>
          <a:ln>
            <a:noFill/>
          </a:ln>
        </p:spPr>
        <p:txBody>
          <a:bodyPr spcFirstLastPara="1" wrap="square" lIns="91425" tIns="91425" rIns="91425" bIns="91425" anchor="t" anchorCtr="0">
            <a:noAutofit/>
          </a:bodyPr>
          <a:lstStyle/>
          <a:p>
            <a:pPr marL="0" indent="0">
              <a:lnSpc>
                <a:spcPct val="110000"/>
              </a:lnSpc>
              <a:buNone/>
            </a:pPr>
            <a:r>
              <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We optimized threshold based on cost instead of accuracy, reducing total fraud-related financial loss and improving business profitability.</a:t>
            </a:r>
            <a:endParaRPr lang="en-US" altLang="en-US" sz="18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3324"/>
            <a:ext cx="12423900" cy="78510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0" i="0" u="none" strike="noStrike" cap="none">
                <a:solidFill>
                  <a:schemeClr val="dk1"/>
                </a:solidFill>
                <a:latin typeface="Arial" panose="020B0604020202020204"/>
                <a:ea typeface="Arial" panose="020B0604020202020204"/>
                <a:cs typeface="Arial" panose="020B0604020202020204"/>
                <a:sym typeface="Arial" panose="020B0604020202020204"/>
              </a:rPr>
              <a:t>Conclusion</a:t>
            </a:r>
            <a:endParaRPr sz="35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557020"/>
            <a:ext cx="10899140" cy="4676775"/>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Random Forest achieved the best results on Paytm data: 99.9% Accuracy, AUC-ROC of 0.970, Precision 87.4% and Recall 82.0%.</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99.9% Accuracy: Out of every 1,000 transactions, the model correctly classifies 999 as either safe or fraudulent.</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AUC-ROC of 0.970: This indicates outstanding model performance. The Area Under the Curve (AUC) measures how well the model separates the two classes (fraud vs. non-fraud). An AUC of 0.97 (out of 1.0) means it is highly unlikely the model will confuse a fraudulent transaction with a safe one.</a:t>
            </a:r>
            <a:endParaRPr lang="en-US" altLang="en-US" sz="1800">
              <a:solidFill>
                <a:schemeClr val="dk1"/>
              </a:solidFill>
              <a:latin typeface="Montserrat" panose="00000500000000000000" charset="0"/>
              <a:cs typeface="Montserrat" panose="00000500000000000000" charset="0"/>
            </a:endParaRPr>
          </a:p>
          <a:p>
            <a:pPr marL="285750" marR="0" lvl="0" indent="-285750" algn="l" rtl="0">
              <a:lnSpc>
                <a:spcPct val="150000"/>
              </a:lnSpc>
              <a:spcBef>
                <a:spcPts val="0"/>
              </a:spcBef>
              <a:spcAft>
                <a:spcPts val="0"/>
              </a:spcAft>
              <a:buClr>
                <a:srgbClr val="000000"/>
              </a:buClr>
              <a:buSzPts val="1900"/>
              <a:buFont typeface="Arial" panose="020B0604020202020204" pitchFamily="34" charset="0"/>
              <a:buChar char="•"/>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22" name="Shape 222"/>
        <p:cNvGrpSpPr/>
        <p:nvPr/>
      </p:nvGrpSpPr>
      <p:grpSpPr>
        <a:xfrm>
          <a:off x="0" y="0"/>
          <a:ext cx="0" cy="0"/>
          <a:chOff x="0" y="0"/>
          <a:chExt cx="0" cy="0"/>
        </a:xfrm>
      </p:grpSpPr>
      <p:sp>
        <p:nvSpPr>
          <p:cNvPr id="223" name="Google Shape;223;p30"/>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24" name="Google Shape;224;p30"/>
          <p:cNvSpPr txBox="1"/>
          <p:nvPr/>
        </p:nvSpPr>
        <p:spPr>
          <a:xfrm>
            <a:off x="373665" y="535349"/>
            <a:ext cx="12423900" cy="781050"/>
          </a:xfrm>
          <a:prstGeom prst="rect">
            <a:avLst/>
          </a:prstGeom>
          <a:noFill/>
          <a:ln>
            <a:noFill/>
          </a:ln>
        </p:spPr>
        <p:txBody>
          <a:bodyPr spcFirstLastPara="1" wrap="square" lIns="121900" tIns="121900" rIns="121900" bIns="121900" anchor="ctr" anchorCtr="0">
            <a:spAutoFit/>
          </a:bodyPr>
          <a:lstStyle/>
          <a:p>
            <a:pPr marL="0" marR="0" lvl="0" indent="0" algn="l" rtl="0">
              <a:lnSpc>
                <a:spcPct val="100000"/>
              </a:lnSpc>
              <a:spcBef>
                <a:spcPts val="0"/>
              </a:spcBef>
              <a:spcAft>
                <a:spcPts val="0"/>
              </a:spcAft>
              <a:buClr>
                <a:srgbClr val="000000"/>
              </a:buClr>
              <a:buSzPts val="3500"/>
              <a:buFont typeface="Arial" panose="020B0604020202020204"/>
              <a:buNone/>
            </a:pPr>
            <a:r>
              <a:rPr lang="en-US" sz="3500" b="1"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rPr>
              <a:t>Conclusion</a:t>
            </a:r>
            <a:endParaRPr sz="3500" b="1" i="0" u="none" strike="noStrike" cap="none">
              <a:solidFill>
                <a:srgbClr val="000000"/>
              </a:solidFill>
              <a:latin typeface="Montserrat" panose="00000500000000000000" charset="0"/>
              <a:ea typeface="Arial" panose="020B0604020202020204"/>
              <a:cs typeface="Montserrat" panose="00000500000000000000" charset="0"/>
              <a:sym typeface="Arial" panose="020B0604020202020204"/>
            </a:endParaRPr>
          </a:p>
        </p:txBody>
      </p:sp>
      <p:sp>
        <p:nvSpPr>
          <p:cNvPr id="225" name="Google Shape;225;p30"/>
          <p:cNvSpPr txBox="1"/>
          <p:nvPr/>
        </p:nvSpPr>
        <p:spPr>
          <a:xfrm>
            <a:off x="712032" y="1490008"/>
            <a:ext cx="6400800" cy="3693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p:txBody>
      </p:sp>
      <p:sp>
        <p:nvSpPr>
          <p:cNvPr id="226" name="Google Shape;226;p30"/>
          <p:cNvSpPr txBox="1"/>
          <p:nvPr/>
        </p:nvSpPr>
        <p:spPr>
          <a:xfrm>
            <a:off x="551180" y="1412875"/>
            <a:ext cx="7020560" cy="5034280"/>
          </a:xfrm>
          <a:prstGeom prst="rect">
            <a:avLst/>
          </a:prstGeom>
          <a:noFill/>
          <a:ln>
            <a:noFill/>
          </a:ln>
        </p:spPr>
        <p:txBody>
          <a:bodyPr spcFirstLastPara="1" wrap="square" lIns="91425" tIns="91425" rIns="91425" bIns="91425" anchor="t" anchorCtr="0">
            <a:noAutofit/>
          </a:bodyPr>
          <a:lstStyle/>
          <a:p>
            <a:pPr marL="914400" marR="0" lvl="0" indent="0" algn="l" rtl="0">
              <a:lnSpc>
                <a:spcPct val="150000"/>
              </a:lnSpc>
              <a:spcBef>
                <a:spcPts val="0"/>
              </a:spcBef>
              <a:spcAft>
                <a:spcPts val="0"/>
              </a:spcAft>
              <a:buClr>
                <a:srgbClr val="000000"/>
              </a:buClr>
              <a:buSzPts val="1900"/>
              <a:buFont typeface="Arial" panose="020B0604020202020204"/>
              <a:buNone/>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Precision 87.4%: When the model flags a transaction as "fraud," it is correct 87.4% of the time. This means there are low false alarms (wrongly flagging good transactions).</a:t>
            </a:r>
            <a:endParaRPr lang="en-US" altLang="en-US" sz="1800">
              <a:solidFill>
                <a:schemeClr val="dk1"/>
              </a:solidFill>
              <a:latin typeface="Montserrat" panose="00000500000000000000" charset="0"/>
              <a:cs typeface="Montserrat" panose="00000500000000000000" charset="0"/>
            </a:endParaRPr>
          </a:p>
          <a:p>
            <a:pPr marL="285750" indent="-285750" algn="l">
              <a:lnSpc>
                <a:spcPct val="150000"/>
              </a:lnSpc>
              <a:spcAft>
                <a:spcPts val="0"/>
              </a:spcAft>
              <a:buSzPts val="1900"/>
              <a:buFont typeface="Arial" panose="020B0604020202020204" pitchFamily="34" charset="0"/>
              <a:buChar char="•"/>
            </a:pPr>
            <a:r>
              <a:rPr lang="en-US" altLang="en-US" sz="1800">
                <a:solidFill>
                  <a:schemeClr val="dk1"/>
                </a:solidFill>
                <a:latin typeface="Montserrat" panose="00000500000000000000" charset="0"/>
                <a:cs typeface="Montserrat" panose="00000500000000000000" charset="0"/>
                <a:sym typeface="+mn-ea"/>
              </a:rPr>
              <a:t>Recall 82.0%: The model successfully identifies 82% of all actual fraud cases occurring. While 18% of fraudulent cases might be missed, the high precision and high overall accuracy indicate a strong balance, likely designed not to annoy too many genuine users with false alerts.</a:t>
            </a:r>
            <a:endParaRPr lang="en-US" altLang="en-US" sz="1800">
              <a:solidFill>
                <a:schemeClr val="dk1"/>
              </a:solidFill>
              <a:latin typeface="Montserrat" panose="00000500000000000000" charset="0"/>
              <a:cs typeface="Montserrat" panose="00000500000000000000" charset="0"/>
            </a:endParaRPr>
          </a:p>
          <a:p>
            <a:pPr marL="0" marR="0" lvl="0" indent="0" algn="l" rtl="0">
              <a:lnSpc>
                <a:spcPct val="150000"/>
              </a:lnSpc>
              <a:spcBef>
                <a:spcPts val="0"/>
              </a:spcBef>
              <a:spcAft>
                <a:spcPts val="0"/>
              </a:spcAft>
              <a:buClr>
                <a:srgbClr val="000000"/>
              </a:buClr>
              <a:buSzPts val="1900"/>
              <a:buFont typeface="Arial" panose="020B0604020202020204" pitchFamily="34" charset="0"/>
              <a:buNone/>
            </a:pPr>
            <a:endParaRPr lang="en-US" altLang="en-US" sz="1800" b="0" i="0" u="none" strike="noStrike" cap="none">
              <a:solidFill>
                <a:schemeClr val="dk1"/>
              </a:solidFill>
              <a:latin typeface="Montserrat" panose="00000500000000000000" charset="0"/>
              <a:ea typeface="Arial" panose="020B0604020202020204"/>
              <a:cs typeface="Montserrat" panose="00000500000000000000" charset="0"/>
              <a:sym typeface="Arial" panose="020B0604020202020204"/>
            </a:endParaRPr>
          </a:p>
          <a:p>
            <a:pPr marL="342900" marR="0" lvl="0" indent="-342900" algn="l" rtl="0">
              <a:lnSpc>
                <a:spcPct val="150000"/>
              </a:lnSpc>
              <a:spcBef>
                <a:spcPts val="0"/>
              </a:spcBef>
              <a:spcAft>
                <a:spcPts val="0"/>
              </a:spcAft>
              <a:buClr>
                <a:srgbClr val="000000"/>
              </a:buClr>
              <a:buSzPts val="1900"/>
              <a:buFont typeface="Arial" panose="020B0604020202020204" pitchFamily="34" charset="0"/>
              <a:buChar char="•"/>
            </a:pPr>
            <a:endParaRPr sz="1900" b="0" i="0" u="none" strike="noStrike" cap="none">
              <a:solidFill>
                <a:schemeClr val="dk1"/>
              </a:solidFill>
              <a:latin typeface="Arial" panose="020B0604020202020204"/>
              <a:ea typeface="Arial" panose="020B0604020202020204"/>
              <a:cs typeface="Arial" panose="020B0604020202020204"/>
              <a:sym typeface="Arial" panose="020B0604020202020204"/>
            </a:endParaRPr>
          </a:p>
        </p:txBody>
      </p:sp>
      <p:sp>
        <p:nvSpPr>
          <p:cNvPr id="8" name="Shape 6"/>
          <p:cNvSpPr/>
          <p:nvPr>
            <p:custDataLst>
              <p:tags r:id="rId1"/>
            </p:custDataLst>
          </p:nvPr>
        </p:nvSpPr>
        <p:spPr>
          <a:xfrm>
            <a:off x="8013700" y="908685"/>
            <a:ext cx="3429000" cy="1325245"/>
          </a:xfrm>
          <a:prstGeom prst="rect">
            <a:avLst/>
          </a:prstGeom>
          <a:solidFill>
            <a:srgbClr val="E3F0FF"/>
          </a:solidFill>
          <a:ln w="12700">
            <a:solidFill>
              <a:srgbClr val="D0DFF0"/>
            </a:solidFill>
            <a:prstDash val="solid"/>
          </a:ln>
        </p:spPr>
        <p:txBody>
          <a:bodyPr/>
          <a:p>
            <a:endParaRPr lang="en-US"/>
          </a:p>
        </p:txBody>
      </p:sp>
      <p:sp>
        <p:nvSpPr>
          <p:cNvPr id="9" name="Text 7"/>
          <p:cNvSpPr/>
          <p:nvPr/>
        </p:nvSpPr>
        <p:spPr>
          <a:xfrm>
            <a:off x="8041005" y="1196848"/>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0" name="Text 8"/>
          <p:cNvSpPr/>
          <p:nvPr>
            <p:custDataLst>
              <p:tags r:id="rId2"/>
            </p:custDataLst>
          </p:nvPr>
        </p:nvSpPr>
        <p:spPr>
          <a:xfrm>
            <a:off x="8498332" y="980821"/>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Real-Time Detection</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1" name="Text 9"/>
          <p:cNvSpPr/>
          <p:nvPr>
            <p:custDataLst>
              <p:tags r:id="rId3"/>
            </p:custDataLst>
          </p:nvPr>
        </p:nvSpPr>
        <p:spPr>
          <a:xfrm>
            <a:off x="8543925" y="1255395"/>
            <a:ext cx="2834640" cy="10147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Deploy Random Forest on Kafka/Spark Streaming — score TRANSFER &amp; CASH_OUT transactions in real time</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2" name="Shape 10"/>
          <p:cNvSpPr/>
          <p:nvPr>
            <p:custDataLst>
              <p:tags r:id="rId4"/>
            </p:custDataLst>
          </p:nvPr>
        </p:nvSpPr>
        <p:spPr>
          <a:xfrm>
            <a:off x="7967980" y="2394585"/>
            <a:ext cx="3429000" cy="1169670"/>
          </a:xfrm>
          <a:prstGeom prst="rect">
            <a:avLst/>
          </a:prstGeom>
          <a:solidFill>
            <a:srgbClr val="FFFFFF"/>
          </a:solidFill>
          <a:ln w="12700">
            <a:solidFill>
              <a:srgbClr val="D0DFF0"/>
            </a:solidFill>
            <a:prstDash val="solid"/>
          </a:ln>
        </p:spPr>
        <p:txBody>
          <a:bodyPr/>
          <a:p>
            <a:endParaRPr lang="en-US"/>
          </a:p>
        </p:txBody>
      </p:sp>
      <p:sp>
        <p:nvSpPr>
          <p:cNvPr id="13" name="Text 11"/>
          <p:cNvSpPr/>
          <p:nvPr/>
        </p:nvSpPr>
        <p:spPr>
          <a:xfrm>
            <a:off x="8013700" y="2564765"/>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4" name="Text 12"/>
          <p:cNvSpPr/>
          <p:nvPr>
            <p:custDataLst>
              <p:tags r:id="rId5"/>
            </p:custDataLst>
          </p:nvPr>
        </p:nvSpPr>
        <p:spPr>
          <a:xfrm>
            <a:off x="8472297" y="2424303"/>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Continuous Retraining</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5" name="Text 13"/>
          <p:cNvSpPr/>
          <p:nvPr>
            <p:custDataLst>
              <p:tags r:id="rId6"/>
            </p:custDataLst>
          </p:nvPr>
        </p:nvSpPr>
        <p:spPr>
          <a:xfrm>
            <a:off x="8544052" y="2853182"/>
            <a:ext cx="2834640" cy="45720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Retrain monthly as fraud patterns evolve; monitor data drift on</a:t>
            </a:r>
            <a:r>
              <a:rPr lang="en-US" sz="1800" dirty="0">
                <a:solidFill>
                  <a:srgbClr val="4A6080"/>
                </a:solidFill>
                <a:latin typeface="Montserrat" panose="00000500000000000000" charset="0"/>
                <a:ea typeface="Calibri" panose="020F0502020204030204" pitchFamily="34" charset="-122"/>
                <a:cs typeface="Montserrat" panose="00000500000000000000" charset="0"/>
              </a:rPr>
              <a:t> </a:t>
            </a:r>
            <a:r>
              <a:rPr lang="en-US" dirty="0">
                <a:solidFill>
                  <a:srgbClr val="4A6080"/>
                </a:solidFill>
                <a:latin typeface="Montserrat" panose="00000500000000000000" charset="0"/>
                <a:ea typeface="Calibri" panose="020F0502020204030204" pitchFamily="34" charset="-122"/>
                <a:cs typeface="Montserrat" panose="00000500000000000000" charset="0"/>
              </a:rPr>
              <a:t>amount distributions</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16" name="Shape 14"/>
          <p:cNvSpPr/>
          <p:nvPr>
            <p:custDataLst>
              <p:tags r:id="rId7"/>
            </p:custDataLst>
          </p:nvPr>
        </p:nvSpPr>
        <p:spPr>
          <a:xfrm>
            <a:off x="7967980" y="3683000"/>
            <a:ext cx="3429000" cy="1198880"/>
          </a:xfrm>
          <a:prstGeom prst="rect">
            <a:avLst/>
          </a:prstGeom>
          <a:solidFill>
            <a:srgbClr val="E3F0FF"/>
          </a:solidFill>
          <a:ln w="12700">
            <a:solidFill>
              <a:srgbClr val="D0DFF0"/>
            </a:solidFill>
            <a:prstDash val="solid"/>
          </a:ln>
        </p:spPr>
      </p:sp>
      <p:sp>
        <p:nvSpPr>
          <p:cNvPr id="17" name="Text 15"/>
          <p:cNvSpPr/>
          <p:nvPr/>
        </p:nvSpPr>
        <p:spPr>
          <a:xfrm>
            <a:off x="8013700" y="3861562"/>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18" name="Text 16"/>
          <p:cNvSpPr/>
          <p:nvPr>
            <p:custDataLst>
              <p:tags r:id="rId8"/>
            </p:custDataLst>
          </p:nvPr>
        </p:nvSpPr>
        <p:spPr>
          <a:xfrm>
            <a:off x="8498332" y="3765550"/>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Hybrid Approach</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19" name="Text 17"/>
          <p:cNvSpPr/>
          <p:nvPr>
            <p:custDataLst>
              <p:tags r:id="rId9"/>
            </p:custDataLst>
          </p:nvPr>
        </p:nvSpPr>
        <p:spPr>
          <a:xfrm>
            <a:off x="8498205" y="4046855"/>
            <a:ext cx="2834640" cy="824230"/>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sym typeface="+mn-ea"/>
              </a:rPr>
              <a:t>Combine Random Forest with rule: flag any TRANSFER where newbalanceOrig drops to zero</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
        <p:nvSpPr>
          <p:cNvPr id="20" name="Shape 18"/>
          <p:cNvSpPr/>
          <p:nvPr>
            <p:custDataLst>
              <p:tags r:id="rId10"/>
            </p:custDataLst>
          </p:nvPr>
        </p:nvSpPr>
        <p:spPr>
          <a:xfrm>
            <a:off x="7949565" y="5013325"/>
            <a:ext cx="3429000" cy="1217295"/>
          </a:xfrm>
          <a:prstGeom prst="rect">
            <a:avLst/>
          </a:prstGeom>
          <a:solidFill>
            <a:srgbClr val="FFFFFF"/>
          </a:solidFill>
          <a:ln w="12700">
            <a:solidFill>
              <a:srgbClr val="D0DFF0"/>
            </a:solidFill>
            <a:prstDash val="solid"/>
          </a:ln>
        </p:spPr>
      </p:sp>
      <p:sp>
        <p:nvSpPr>
          <p:cNvPr id="21" name="Text 19"/>
          <p:cNvSpPr/>
          <p:nvPr/>
        </p:nvSpPr>
        <p:spPr>
          <a:xfrm>
            <a:off x="7967980" y="5204079"/>
            <a:ext cx="457200" cy="457200"/>
          </a:xfrm>
          <a:prstGeom prst="rect">
            <a:avLst/>
          </a:prstGeom>
          <a:noFill/>
        </p:spPr>
        <p:txBody>
          <a:bodyPr wrap="square" lIns="0" tIns="0" rIns="0" bIns="0" rtlCol="0" anchor="ctr"/>
          <a:lstStyle/>
          <a:p>
            <a:pPr marL="0" indent="0">
              <a:buNone/>
            </a:pPr>
            <a:r>
              <a:rPr lang="en-US" sz="1800" dirty="0">
                <a:solidFill>
                  <a:srgbClr val="000000"/>
                </a:solidFill>
              </a:rPr>
              <a:t>📊</a:t>
            </a:r>
            <a:endParaRPr lang="en-US" sz="1800" dirty="0"/>
          </a:p>
        </p:txBody>
      </p:sp>
      <p:sp>
        <p:nvSpPr>
          <p:cNvPr id="22" name="Text 20"/>
          <p:cNvSpPr/>
          <p:nvPr>
            <p:custDataLst>
              <p:tags r:id="rId11"/>
            </p:custDataLst>
          </p:nvPr>
        </p:nvSpPr>
        <p:spPr>
          <a:xfrm>
            <a:off x="8498332" y="5157597"/>
            <a:ext cx="2834640" cy="274320"/>
          </a:xfrm>
          <a:prstGeom prst="rect">
            <a:avLst/>
          </a:prstGeom>
          <a:noFill/>
        </p:spPr>
        <p:txBody>
          <a:bodyPr wrap="square" lIns="0" tIns="0" rIns="0" bIns="0" rtlCol="0" anchor="ctr"/>
          <a:lstStyle/>
          <a:p>
            <a:pPr marL="0" indent="0">
              <a:buNone/>
            </a:pPr>
            <a:r>
              <a:rPr lang="en-US" sz="1800" b="1" dirty="0">
                <a:solidFill>
                  <a:srgbClr val="0D3B6E"/>
                </a:solidFill>
                <a:latin typeface="Montserrat" panose="00000500000000000000" charset="0"/>
                <a:ea typeface="Calibri" panose="020F0502020204030204" pitchFamily="34" charset="-122"/>
                <a:cs typeface="Montserrat" panose="00000500000000000000" charset="0"/>
              </a:rPr>
              <a:t>Monitoring &amp; Alerts</a:t>
            </a:r>
            <a:endParaRPr lang="en-US" sz="1800" b="1" dirty="0">
              <a:solidFill>
                <a:srgbClr val="0D3B6E"/>
              </a:solidFill>
              <a:latin typeface="Montserrat" panose="00000500000000000000" charset="0"/>
              <a:ea typeface="Calibri" panose="020F0502020204030204" pitchFamily="34" charset="-122"/>
              <a:cs typeface="Montserrat" panose="00000500000000000000" charset="0"/>
            </a:endParaRPr>
          </a:p>
        </p:txBody>
      </p:sp>
      <p:sp>
        <p:nvSpPr>
          <p:cNvPr id="23" name="Text 21"/>
          <p:cNvSpPr/>
          <p:nvPr>
            <p:custDataLst>
              <p:tags r:id="rId12"/>
            </p:custDataLst>
          </p:nvPr>
        </p:nvSpPr>
        <p:spPr>
          <a:xfrm>
            <a:off x="8543925" y="5471160"/>
            <a:ext cx="2834640" cy="647065"/>
          </a:xfrm>
          <a:prstGeom prst="rect">
            <a:avLst/>
          </a:prstGeom>
          <a:noFill/>
        </p:spPr>
        <p:txBody>
          <a:bodyPr wrap="square" lIns="0" tIns="0" rIns="0" bIns="0" rtlCol="0" anchor="ctr"/>
          <a:lstStyle/>
          <a:p>
            <a:pPr marL="0" indent="0">
              <a:buNone/>
            </a:pPr>
            <a:r>
              <a:rPr lang="en-US" dirty="0">
                <a:solidFill>
                  <a:srgbClr val="4A6080"/>
                </a:solidFill>
                <a:latin typeface="Montserrat" panose="00000500000000000000" charset="0"/>
                <a:ea typeface="Calibri" panose="020F0502020204030204" pitchFamily="34" charset="-122"/>
                <a:cs typeface="Montserrat" panose="00000500000000000000" charset="0"/>
              </a:rPr>
              <a:t>Track Recall weekly — a drop signals new fraud patterns emerging in production data</a:t>
            </a:r>
            <a:endParaRPr lang="en-US" dirty="0">
              <a:solidFill>
                <a:srgbClr val="4A6080"/>
              </a:solidFill>
              <a:latin typeface="Montserrat" panose="00000500000000000000" charset="0"/>
              <a:ea typeface="Calibri" panose="020F0502020204030204" pitchFamily="34" charset="-122"/>
              <a:cs typeface="Montserrat" panose="00000500000000000000"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230" name="Shape 230"/>
        <p:cNvGrpSpPr/>
        <p:nvPr/>
      </p:nvGrpSpPr>
      <p:grpSpPr>
        <a:xfrm>
          <a:off x="0" y="0"/>
          <a:ext cx="0" cy="0"/>
          <a:chOff x="0" y="0"/>
          <a:chExt cx="0" cy="0"/>
        </a:xfrm>
      </p:grpSpPr>
      <p:pic>
        <p:nvPicPr>
          <p:cNvPr id="231" name="Google Shape;231;p31"/>
          <p:cNvPicPr preferRelativeResize="0"/>
          <p:nvPr/>
        </p:nvPicPr>
        <p:blipFill rotWithShape="1">
          <a:blip r:embed="rId1"/>
          <a:srcRect/>
          <a:stretch>
            <a:fillRect/>
          </a:stretch>
        </p:blipFill>
        <p:spPr>
          <a:xfrm>
            <a:off x="1259032" y="2316215"/>
            <a:ext cx="9673936" cy="3575430"/>
          </a:xfrm>
          <a:prstGeom prst="rect">
            <a:avLst/>
          </a:prstGeom>
          <a:noFill/>
          <a:ln>
            <a:noFill/>
          </a:ln>
        </p:spPr>
      </p:pic>
      <p:sp>
        <p:nvSpPr>
          <p:cNvPr id="232" name="Google Shape;232;p31"/>
          <p:cNvSpPr txBox="1"/>
          <p:nvPr>
            <p:ph type="sldNum" idx="12"/>
          </p:nvPr>
        </p:nvSpPr>
        <p:spPr>
          <a:xfrm>
            <a:off x="11296611" y="6014423"/>
            <a:ext cx="731600" cy="5248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fld id="{00000000-1234-1234-1234-123412341234}" type="slidenum">
              <a:rPr lang="en-US"/>
            </a:fld>
            <a:endParaRPr lang="en-US"/>
          </a:p>
        </p:txBody>
      </p:sp>
      <p:sp>
        <p:nvSpPr>
          <p:cNvPr id="233" name="Google Shape;233;p31"/>
          <p:cNvSpPr txBox="1"/>
          <p:nvPr/>
        </p:nvSpPr>
        <p:spPr>
          <a:xfrm>
            <a:off x="0" y="771572"/>
            <a:ext cx="12192000" cy="119761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endParaRPr>
          </a:p>
          <a:p>
            <a:pPr marL="0" marR="0" lvl="0" indent="0" algn="ctr" rtl="0">
              <a:lnSpc>
                <a:spcPct val="100000"/>
              </a:lnSpc>
              <a:spcBef>
                <a:spcPts val="0"/>
              </a:spcBef>
              <a:spcAft>
                <a:spcPts val="0"/>
              </a:spcAft>
              <a:buClr>
                <a:srgbClr val="000000"/>
              </a:buClr>
              <a:buSzPts val="1800"/>
              <a:buFont typeface="Arial" panose="020B0604020202020204"/>
              <a:buNone/>
            </a:pP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Shraddha Tiwari</a:t>
            </a:r>
            <a:b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br>
            <a:r>
              <a:rPr lang="en-US" sz="1800" b="1" i="0" u="none" strike="noStrike" cap="none">
                <a:solidFill>
                  <a:schemeClr val="dk1"/>
                </a:solidFill>
                <a:latin typeface="Montserrat" panose="00000500000000000000"/>
                <a:ea typeface="Montserrat" panose="00000500000000000000"/>
                <a:cs typeface="Montserrat" panose="00000500000000000000"/>
                <a:sym typeface="Montserrat" panose="00000500000000000000"/>
              </a:rPr>
              <a:t>respond.shraddha@gmail.com </a:t>
            </a:r>
            <a:endPar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Tree>
  </p:cSld>
  <p:clrMapOvr>
    <a:masterClrMapping/>
  </p:clrMapOvr>
</p:sld>
</file>

<file path=ppt/tags/tag1.xml><?xml version="1.0" encoding="utf-8"?>
<p:tagLst xmlns:p="http://schemas.openxmlformats.org/presentationml/2006/main">
  <p:tag name="TABLE_ENDDRAG_ORIGIN_RECT" val="464*276"/>
  <p:tag name="TABLE_ENDDRAG_RECT" val="12*101*465*276"/>
</p:tagLst>
</file>

<file path=ppt/tags/tag2.xml><?xml version="1.0" encoding="utf-8"?>
<p:tagLst xmlns:p="http://schemas.openxmlformats.org/presentationml/2006/main">
  <p:tag name="KSO_WM_DIAGRAM_VIRTUALLY_FRAME" val="{&quot;height&quot;:234.84,&quot;left&quot;:14.4,&quot;top&quot;:300.96,&quot;width&quot;:856.8}"/>
</p:tagLst>
</file>

<file path=ppt/tags/tag3.xml><?xml version="1.0" encoding="utf-8"?>
<p:tagLst xmlns:p="http://schemas.openxmlformats.org/presentationml/2006/main">
  <p:tag name="KSO_WM_DIAGRAM_VIRTUALLY_FRAME" val="{&quot;height&quot;:234.84,&quot;left&quot;:14.4,&quot;top&quot;:300.96,&quot;width&quot;:856.8}"/>
</p:tagLst>
</file>

<file path=ppt/tags/tag4.xml><?xml version="1.0" encoding="utf-8"?>
<p:tagLst xmlns:p="http://schemas.openxmlformats.org/presentationml/2006/main">
  <p:tag name="KSO_WM_DIAGRAM_VIRTUALLY_FRAME" val="{&quot;height&quot;:96.48000000000002,&quot;left&quot;:14.4,&quot;top&quot;:300.96,&quot;width&quot;:684}"/>
</p:tagLst>
</file>

<file path=ppt/tags/tag5.xml><?xml version="1.0" encoding="utf-8"?>
<p:tagLst xmlns:p="http://schemas.openxmlformats.org/presentationml/2006/main">
  <p:tag name="KSO_WM_DIAGRAM_VIRTUALLY_FRAME" val="{&quot;height&quot;:234.84,&quot;left&quot;:14.4,&quot;top&quot;:300.96,&quot;width&quot;:856.8}"/>
</p:tagLst>
</file>

<file path=ppt/tags/tag6.xml><?xml version="1.0" encoding="utf-8"?>
<p:tagLst xmlns:p="http://schemas.openxmlformats.org/presentationml/2006/main">
  <p:tag name="KSO_WM_DIAGRAM_VIRTUALLY_FRAME" val="{&quot;height&quot;:234.84,&quot;left&quot;:14.4,&quot;top&quot;:300.96,&quot;width&quot;:856.8}"/>
</p:tagLst>
</file>

<file path=ppt/tags/tag7.xml><?xml version="1.0" encoding="utf-8"?>
<p:tagLst xmlns:p="http://schemas.openxmlformats.org/presentationml/2006/main">
  <p:tag name="TABLE_ENDDRAG_ORIGIN_RECT" val="907*155"/>
  <p:tag name="TABLE_ENDDRAG_RECT" val="26*375*907*155"/>
</p:tagLst>
</file>

<file path=ppt/tags/tag8.xml><?xml version="1.0" encoding="utf-8"?>
<p:tagLst xmlns:p="http://schemas.openxmlformats.org/presentationml/2006/main">
  <p:tag name="KSO_WM_DIAGRAM_VIRTUALLY_FRAME" val="{&quot;height&quot;:234.84,&quot;left&quot;:14.4,&quot;top&quot;:300.96,&quot;width&quot;:856.8}"/>
</p:tagLst>
</file>

<file path=ppt/tags/tag9.xml><?xml version="1.0" encoding="utf-8"?>
<p:tagLst xmlns:p="http://schemas.openxmlformats.org/presentationml/2006/main">
  <p:tag name="KSO_WM_DIAGRAM_VIRTUALLY_FRAME" val="{&quot;height&quot;:234.84,&quot;left&quot;:14.4,&quot;top&quot;:300.96,&quot;width&quot;:856.8}"/>
</p:tagLst>
</file>

<file path=ppt/tags/tag10.xml><?xml version="1.0" encoding="utf-8"?>
<p:tagLst xmlns:p="http://schemas.openxmlformats.org/presentationml/2006/main">
  <p:tag name="KSO_WM_DIAGRAM_VIRTUALLY_FRAME" val="{&quot;height&quot;:252,&quot;left&quot;:381.6,&quot;top&quot;:115.2,&quot;width&quot;:316.8}"/>
</p:tagLst>
</file>

<file path=ppt/tags/tag11.xml><?xml version="1.0" encoding="utf-8"?>
<p:tagLst xmlns:p="http://schemas.openxmlformats.org/presentationml/2006/main">
  <p:tag name="KSO_WM_DIAGRAM_VIRTUALLY_FRAME" val="{&quot;height&quot;:252,&quot;left&quot;:381.6,&quot;top&quot;:115.2,&quot;width&quot;:316.8}"/>
</p:tagLst>
</file>

<file path=ppt/tags/tag12.xml><?xml version="1.0" encoding="utf-8"?>
<p:tagLst xmlns:p="http://schemas.openxmlformats.org/presentationml/2006/main">
  <p:tag name="KSO_WM_DIAGRAM_VIRTUALLY_FRAME" val="{&quot;height&quot;:252,&quot;left&quot;:381.6,&quot;top&quot;:115.2,&quot;width&quot;:316.8}"/>
</p:tagLst>
</file>

<file path=ppt/tags/tag13.xml><?xml version="1.0" encoding="utf-8"?>
<p:tagLst xmlns:p="http://schemas.openxmlformats.org/presentationml/2006/main">
  <p:tag name="KSO_WM_DIAGRAM_VIRTUALLY_FRAME" val="{&quot;height&quot;:252,&quot;left&quot;:381.6,&quot;top&quot;:115.2,&quot;width&quot;:316.8}"/>
</p:tagLst>
</file>

<file path=ppt/tags/tag14.xml><?xml version="1.0" encoding="utf-8"?>
<p:tagLst xmlns:p="http://schemas.openxmlformats.org/presentationml/2006/main">
  <p:tag name="KSO_WM_DIAGRAM_VIRTUALLY_FRAME" val="{&quot;height&quot;:252,&quot;left&quot;:381.6,&quot;top&quot;:115.2,&quot;width&quot;:316.8}"/>
</p:tagLst>
</file>

<file path=ppt/tags/tag15.xml><?xml version="1.0" encoding="utf-8"?>
<p:tagLst xmlns:p="http://schemas.openxmlformats.org/presentationml/2006/main">
  <p:tag name="KSO_WM_DIAGRAM_VIRTUALLY_FRAME" val="{&quot;height&quot;:252,&quot;left&quot;:381.6,&quot;top&quot;:115.2,&quot;width&quot;:316.8}"/>
</p:tagLst>
</file>

<file path=ppt/tags/tag16.xml><?xml version="1.0" encoding="utf-8"?>
<p:tagLst xmlns:p="http://schemas.openxmlformats.org/presentationml/2006/main">
  <p:tag name="KSO_WM_DIAGRAM_VIRTUALLY_FRAME" val="{&quot;height&quot;:252,&quot;left&quot;:381.6,&quot;top&quot;:115.2,&quot;width&quot;:316.8}"/>
</p:tagLst>
</file>

<file path=ppt/tags/tag17.xml><?xml version="1.0" encoding="utf-8"?>
<p:tagLst xmlns:p="http://schemas.openxmlformats.org/presentationml/2006/main">
  <p:tag name="KSO_WM_DIAGRAM_VIRTUALLY_FRAME" val="{&quot;height&quot;:252,&quot;left&quot;:381.6,&quot;top&quot;:115.2,&quot;width&quot;:316.8}"/>
</p:tagLst>
</file>

<file path=ppt/tags/tag18.xml><?xml version="1.0" encoding="utf-8"?>
<p:tagLst xmlns:p="http://schemas.openxmlformats.org/presentationml/2006/main">
  <p:tag name="KSO_WM_DIAGRAM_VIRTUALLY_FRAME" val="{&quot;height&quot;:252,&quot;left&quot;:381.6,&quot;top&quot;:115.2,&quot;width&quot;:316.8}"/>
</p:tagLst>
</file>

<file path=ppt/tags/tag19.xml><?xml version="1.0" encoding="utf-8"?>
<p:tagLst xmlns:p="http://schemas.openxmlformats.org/presentationml/2006/main">
  <p:tag name="KSO_WM_DIAGRAM_VIRTUALLY_FRAME" val="{&quot;height&quot;:252,&quot;left&quot;:381.6,&quot;top&quot;:115.2,&quot;width&quot;:316.8}"/>
</p:tagLst>
</file>

<file path=ppt/tags/tag20.xml><?xml version="1.0" encoding="utf-8"?>
<p:tagLst xmlns:p="http://schemas.openxmlformats.org/presentationml/2006/main">
  <p:tag name="KSO_WM_DIAGRAM_VIRTUALLY_FRAME" val="{&quot;height&quot;:252,&quot;left&quot;:381.6,&quot;top&quot;:115.2,&quot;width&quot;:316.8}"/>
</p:tagLst>
</file>

<file path=ppt/tags/tag21.xml><?xml version="1.0" encoding="utf-8"?>
<p:tagLst xmlns:p="http://schemas.openxmlformats.org/presentationml/2006/main">
  <p:tag name="KSO_WM_DIAGRAM_VIRTUALLY_FRAME" val="{&quot;height&quot;:252,&quot;left&quot;:381.6,&quot;top&quot;:115.2,&quot;width&quot;:316.8}"/>
</p:tagLst>
</file>

<file path=ppt/tags/tag22.xml><?xml version="1.0" encoding="utf-8"?>
<p:tagLst xmlns:p="http://schemas.openxmlformats.org/presentationml/2006/main">
  <p:tag name="TABLE_ENDDRAG_ORIGIN_RECT" val="803*268"/>
  <p:tag name="TABLE_ENDDRAG_RECT" val="67*121*803*268"/>
</p:tagLst>
</file>

<file path=ppt/tags/tag23.xml><?xml version="1.0" encoding="utf-8"?>
<p:tagLst xmlns:p="http://schemas.openxmlformats.org/presentationml/2006/main">
  <p:tag name="KSO_WM_DIAGRAM_VIRTUALLY_FRAME" val="{&quot;height&quot;:301.68,&quot;left&quot;:432,&quot;top&quot;:82.8,&quot;width&quot;:270}"/>
</p:tagLst>
</file>

<file path=ppt/tags/tag24.xml><?xml version="1.0" encoding="utf-8"?>
<p:tagLst xmlns:p="http://schemas.openxmlformats.org/presentationml/2006/main">
  <p:tag name="KSO_WM_DIAGRAM_VIRTUALLY_FRAME" val="{&quot;height&quot;:301.68,&quot;left&quot;:432,&quot;top&quot;:82.8,&quot;width&quot;:270}"/>
</p:tagLst>
</file>

<file path=ppt/tags/tag25.xml><?xml version="1.0" encoding="utf-8"?>
<p:tagLst xmlns:p="http://schemas.openxmlformats.org/presentationml/2006/main">
  <p:tag name="KSO_WM_DIAGRAM_VIRTUALLY_FRAME" val="{&quot;height&quot;:301.68,&quot;left&quot;:432,&quot;top&quot;:82.8,&quot;width&quot;:270}"/>
</p:tagLst>
</file>

<file path=ppt/tags/tag26.xml><?xml version="1.0" encoding="utf-8"?>
<p:tagLst xmlns:p="http://schemas.openxmlformats.org/presentationml/2006/main">
  <p:tag name="KSO_WM_DIAGRAM_VIRTUALLY_FRAME" val="{&quot;height&quot;:301.68,&quot;left&quot;:432,&quot;top&quot;:82.8,&quot;width&quot;:270}"/>
</p:tagLst>
</file>

<file path=ppt/tags/tag27.xml><?xml version="1.0" encoding="utf-8"?>
<p:tagLst xmlns:p="http://schemas.openxmlformats.org/presentationml/2006/main">
  <p:tag name="KSO_WM_DIAGRAM_VIRTUALLY_FRAME" val="{&quot;height&quot;:301.68,&quot;left&quot;:432,&quot;top&quot;:82.8,&quot;width&quot;:270}"/>
</p:tagLst>
</file>

<file path=ppt/tags/tag28.xml><?xml version="1.0" encoding="utf-8"?>
<p:tagLst xmlns:p="http://schemas.openxmlformats.org/presentationml/2006/main">
  <p:tag name="KSO_WM_DIAGRAM_VIRTUALLY_FRAME" val="{&quot;height&quot;:301.68,&quot;left&quot;:432,&quot;top&quot;:82.8,&quot;width&quot;:270}"/>
</p:tagLst>
</file>

<file path=ppt/tags/tag29.xml><?xml version="1.0" encoding="utf-8"?>
<p:tagLst xmlns:p="http://schemas.openxmlformats.org/presentationml/2006/main">
  <p:tag name="KSO_WM_DIAGRAM_VIRTUALLY_FRAME" val="{&quot;height&quot;:301.68,&quot;left&quot;:432,&quot;top&quot;:82.8,&quot;width&quot;:270}"/>
</p:tagLst>
</file>

<file path=ppt/tags/tag30.xml><?xml version="1.0" encoding="utf-8"?>
<p:tagLst xmlns:p="http://schemas.openxmlformats.org/presentationml/2006/main">
  <p:tag name="KSO_WM_DIAGRAM_VIRTUALLY_FRAME" val="{&quot;height&quot;:301.68,&quot;left&quot;:432,&quot;top&quot;:82.8,&quot;width&quot;:270}"/>
</p:tagLst>
</file>

<file path=ppt/tags/tag31.xml><?xml version="1.0" encoding="utf-8"?>
<p:tagLst xmlns:p="http://schemas.openxmlformats.org/presentationml/2006/main">
  <p:tag name="KSO_WM_DIAGRAM_VIRTUALLY_FRAME" val="{&quot;height&quot;:301.68,&quot;left&quot;:432,&quot;top&quot;:82.8,&quot;width&quot;:270}"/>
</p:tagLst>
</file>

<file path=ppt/tags/tag32.xml><?xml version="1.0" encoding="utf-8"?>
<p:tagLst xmlns:p="http://schemas.openxmlformats.org/presentationml/2006/main">
  <p:tag name="KSO_WM_DIAGRAM_VIRTUALLY_FRAME" val="{&quot;height&quot;:301.68,&quot;left&quot;:432,&quot;top&quot;:82.8,&quot;width&quot;:270}"/>
</p:tagLst>
</file>

<file path=ppt/tags/tag33.xml><?xml version="1.0" encoding="utf-8"?>
<p:tagLst xmlns:p="http://schemas.openxmlformats.org/presentationml/2006/main">
  <p:tag name="KSO_WM_DIAGRAM_VIRTUALLY_FRAME" val="{&quot;height&quot;:301.68,&quot;left&quot;:432,&quot;top&quot;:82.8,&quot;width&quot;:270}"/>
</p:tagLst>
</file>

<file path=ppt/tags/tag34.xml><?xml version="1.0" encoding="utf-8"?>
<p:tagLst xmlns:p="http://schemas.openxmlformats.org/presentationml/2006/main">
  <p:tag name="KSO_WM_DIAGRAM_VIRTUALLY_FRAME" val="{&quot;height&quot;:301.68,&quot;left&quot;:432,&quot;top&quot;:82.8,&quot;width&quot;:270}"/>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11428</Words>
  <Application>WPS Presentation</Application>
  <PresentationFormat/>
  <Paragraphs>554</Paragraphs>
  <Slides>24</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24</vt:i4>
      </vt:variant>
    </vt:vector>
  </HeadingPairs>
  <TitlesOfParts>
    <vt:vector size="39" baseType="lpstr">
      <vt:lpstr>Arial</vt:lpstr>
      <vt:lpstr>SimSun</vt:lpstr>
      <vt:lpstr>Wingdings</vt:lpstr>
      <vt:lpstr>Arial</vt:lpstr>
      <vt:lpstr>Calibri</vt:lpstr>
      <vt:lpstr>Montserrat</vt:lpstr>
      <vt:lpstr>Montserrat</vt:lpstr>
      <vt:lpstr>Courier New</vt:lpstr>
      <vt:lpstr>Courier New</vt:lpstr>
      <vt:lpstr>Calibri</vt:lpstr>
      <vt:lpstr>Calibri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Shraddha Tewari</cp:lastModifiedBy>
  <cp:revision>20</cp:revision>
  <dcterms:created xsi:type="dcterms:W3CDTF">2026-04-02T09:52:00Z</dcterms:created>
  <dcterms:modified xsi:type="dcterms:W3CDTF">2026-04-22T10:32:18Z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3C342CFD3EBA4924B2BE0F1A161015C3_13</vt:lpwstr>
  </property>
  <property fmtid="{D5CDD505-2E9C-101B-9397-08002B2CF9AE}" pid="3" name="KSOProductBuildVer">
    <vt:lpwstr>1033-12.2.0.23196</vt:lpwstr>
  </property>
</Properties>
</file>