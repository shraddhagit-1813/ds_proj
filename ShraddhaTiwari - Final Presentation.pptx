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73" r:id="rId11"/>
    <p:sldId id="263" r:id="rId12"/>
    <p:sldId id="264" r:id="rId13"/>
    <p:sldId id="281" r:id="rId14"/>
    <p:sldId id="265" r:id="rId15"/>
    <p:sldId id="267" r:id="rId16"/>
    <p:sldId id="268" r:id="rId17"/>
    <p:sldId id="274" r:id="rId18"/>
    <p:sldId id="276" r:id="rId19"/>
    <p:sldId id="269" r:id="rId20"/>
    <p:sldId id="270" r:id="rId21"/>
    <p:sldId id="277" r:id="rId22"/>
    <p:sldId id="278" r:id="rId23"/>
    <p:sldId id="279" r:id="rId24"/>
    <p:sldId id="280" r:id="rId25"/>
    <p:sldId id="271" r:id="rId26"/>
    <p:sldId id="275" r:id="rId27"/>
    <p:sldId id="272" r:id="rId28"/>
  </p:sldIdLst>
  <p:sldSz cx="12192000" cy="6858000"/>
  <p:notesSz cx="6858000" cy="9144000"/>
  <p:embeddedFontLst>
    <p:embeddedFont>
      <p:font typeface="Calibri" panose="020F0502020204030204"/>
      <p:regular r:id="rId32"/>
    </p:embeddedFont>
    <p:embeddedFont>
      <p:font typeface="Montserrat" panose="00000500000000000000" charset="0"/>
      <p:regular r:id="rId33"/>
    </p:embeddedFont>
    <p:embeddedFont>
      <p:font typeface="Montserrat" panose="00000500000000000000"/>
      <p:regular r:id="rId34"/>
    </p:embeddedFont>
    <p:embeddedFont>
      <p:font typeface="Calibri" panose="020F0502020204030204" pitchFamily="34" charset="-122"/>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p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panose="020F0502020204030204"/>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1" name="Google Shape;101;p2:notes"/>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a:t>Sunday, 26 March 2023</a:t>
            </a:r>
            <a:endParaRPr lang="en-US"/>
          </a:p>
        </p:txBody>
      </p:sp>
      <p:sp>
        <p:nvSpPr>
          <p:cNvPr id="102" name="Google Shape;102;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endParaRPr sz="1200">
              <a:solidFill>
                <a:schemeClr val="dk1"/>
              </a:solidFill>
            </a:endParaRPr>
          </a:p>
          <a:p>
            <a:pPr marL="0" lvl="0" indent="0" algn="l" rtl="0">
              <a:lnSpc>
                <a:spcPct val="100000"/>
              </a:lnSpc>
              <a:spcBef>
                <a:spcPts val="0"/>
              </a:spcBef>
              <a:spcAft>
                <a:spcPts val="0"/>
              </a:spcAft>
              <a:buClr>
                <a:schemeClr val="dk1"/>
              </a:buClr>
              <a:buSzPts val="1100"/>
              <a:buFont typeface="Arial" panose="020B0604020202020204"/>
              <a:buNone/>
            </a:pP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 name="Shape 132"/>
        <p:cNvGrpSpPr/>
        <p:nvPr/>
      </p:nvGrpSpPr>
      <p:grpSpPr>
        <a:xfrm>
          <a:off x="0" y="0"/>
          <a:ext cx="0" cy="0"/>
          <a:chOff x="0" y="0"/>
          <a:chExt cx="0" cy="0"/>
        </a:xfrm>
      </p:grpSpPr>
      <p:sp>
        <p:nvSpPr>
          <p:cNvPr id="133" name="Google Shape;133;p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p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0" name="Google Shape;160;p9:notes"/>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a:t>Sunday, 26 March 2023</a:t>
            </a:r>
            <a:endParaRPr lang="en-US"/>
          </a:p>
        </p:txBody>
      </p:sp>
      <p:sp>
        <p:nvSpPr>
          <p:cNvPr id="161" name="Google Shape;161;p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p1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2" name="Shape 192"/>
        <p:cNvGrpSpPr/>
        <p:nvPr/>
      </p:nvGrpSpPr>
      <p:grpSpPr>
        <a:xfrm>
          <a:off x="0" y="0"/>
          <a:ext cx="0" cy="0"/>
          <a:chOff x="0" y="0"/>
          <a:chExt cx="0" cy="0"/>
        </a:xfrm>
      </p:grpSpPr>
      <p:sp>
        <p:nvSpPr>
          <p:cNvPr id="193" name="Google Shape;193;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4" name="Google Shape;194;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p1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p1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1200"/>
              </a:spcAft>
              <a:buClr>
                <a:schemeClr val="dk1"/>
              </a:buClr>
              <a:buSzPts val="1100"/>
              <a:buFont typeface="Calibri" panose="020F0502020204030204"/>
              <a:buNone/>
            </a:pP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1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3" name="Google Shape;20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g30f48fe88b2_0_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g30f48fe88b2_0_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1" name="Google Shape;22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1" name="Google Shape;22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1" name="Google Shape;22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1" name="Google Shape;22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1" name="Google Shape;22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1" name="Google Shape;221;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p1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1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panose="020F0502020204030204"/>
              <a:buNone/>
            </a:p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matchingName="Title and body">
  <p:cSld name="TITLE_AND_BODY">
    <p:bg>
      <p:bgPr>
        <a:blipFill>
          <a:blip r:embed="rId2"/>
          <a:stretch>
            <a:fillRect/>
          </a:stretch>
        </a:blipFill>
        <a:effectLst/>
      </p:bgPr>
    </p:bg>
    <p:spTree>
      <p:nvGrpSpPr>
        <p:cNvPr id="15" name="Shape 15"/>
        <p:cNvGrpSpPr/>
        <p:nvPr/>
      </p:nvGrpSpPr>
      <p:grpSpPr>
        <a:xfrm>
          <a:off x="0" y="0"/>
          <a:ext cx="0" cy="0"/>
          <a:chOff x="0" y="0"/>
          <a:chExt cx="0" cy="0"/>
        </a:xfrm>
      </p:grpSpPr>
      <p:sp>
        <p:nvSpPr>
          <p:cNvPr id="16" name="Google Shape;16;p2"/>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US"/>
            </a:fld>
            <a:endParaRPr lang="en-US"/>
          </a:p>
        </p:txBody>
      </p:sp>
      <p:pic>
        <p:nvPicPr>
          <p:cNvPr id="17" name="Google Shape;17;p2"/>
          <p:cNvPicPr preferRelativeResize="0"/>
          <p:nvPr/>
        </p:nvPicPr>
        <p:blipFill rotWithShape="1">
          <a:blip r:embed="rId3"/>
          <a:srcRect l="-4728" t="-53157" r="-4727" b="-53198"/>
          <a:stretch>
            <a:fillRect/>
          </a:stretch>
        </p:blipFill>
        <p:spPr>
          <a:xfrm>
            <a:off x="366467" y="134733"/>
            <a:ext cx="1942867" cy="475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5">
  <p:cSld name="Title and body 5">
    <p:bg>
      <p:bgPr>
        <a:blipFill>
          <a:blip r:embed="rId2"/>
          <a:stretch>
            <a:fillRect/>
          </a:stretch>
        </a:blipFill>
        <a:effectLst/>
      </p:bgPr>
    </p:bg>
    <p:spTree>
      <p:nvGrpSpPr>
        <p:cNvPr id="18" name="Shape 18"/>
        <p:cNvGrpSpPr/>
        <p:nvPr/>
      </p:nvGrpSpPr>
      <p:grpSpPr>
        <a:xfrm>
          <a:off x="0" y="0"/>
          <a:ext cx="0" cy="0"/>
          <a:chOff x="0" y="0"/>
          <a:chExt cx="0" cy="0"/>
        </a:xfrm>
      </p:grpSpPr>
      <p:sp>
        <p:nvSpPr>
          <p:cNvPr id="19" name="Google Shape;19;p3"/>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a:lnSpc>
                <a:spcPct val="100000"/>
              </a:lnSpc>
              <a:spcBef>
                <a:spcPts val="0"/>
              </a:spcBef>
              <a:spcAft>
                <a:spcPts val="0"/>
              </a:spcAft>
              <a:buClr>
                <a:srgbClr val="000000"/>
              </a:buClr>
              <a:buSzPts val="1400"/>
              <a:buFont typeface="Arial" panose="020B0604020202020204"/>
              <a:buNone/>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US"/>
            </a:fld>
            <a:endParaRPr lang="en-US"/>
          </a:p>
        </p:txBody>
      </p:sp>
      <p:pic>
        <p:nvPicPr>
          <p:cNvPr id="20" name="Google Shape;20;p3"/>
          <p:cNvPicPr preferRelativeResize="0"/>
          <p:nvPr/>
        </p:nvPicPr>
        <p:blipFill rotWithShape="1">
          <a:blip r:embed="rId3"/>
          <a:srcRect l="-4728" t="-53157" r="-4727" b="-53198"/>
          <a:stretch>
            <a:fillRect/>
          </a:stretch>
        </p:blipFill>
        <p:spPr>
          <a:xfrm>
            <a:off x="366467" y="134733"/>
            <a:ext cx="1942867" cy="475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1" name="Shape 21"/>
        <p:cNvGrpSpPr/>
        <p:nvPr/>
      </p:nvGrpSpPr>
      <p:grpSpPr>
        <a:xfrm>
          <a:off x="0" y="0"/>
          <a:ext cx="0" cy="0"/>
          <a:chOff x="0" y="0"/>
          <a:chExt cx="0" cy="0"/>
        </a:xfrm>
      </p:grpSpPr>
      <p:sp>
        <p:nvSpPr>
          <p:cNvPr id="22" name="Google Shape;22;p4"/>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7" name="Shape 27"/>
        <p:cNvGrpSpPr/>
        <p:nvPr/>
      </p:nvGrpSpPr>
      <p:grpSpPr>
        <a:xfrm>
          <a:off x="0" y="0"/>
          <a:ext cx="0" cy="0"/>
          <a:chOff x="0" y="0"/>
          <a:chExt cx="0" cy="0"/>
        </a:xfrm>
      </p:grpSpPr>
      <p:sp>
        <p:nvSpPr>
          <p:cNvPr id="28" name="Google Shape;28;p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0" name="Google Shape;30;p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3" name="Shape 33"/>
        <p:cNvGrpSpPr/>
        <p:nvPr/>
      </p:nvGrpSpPr>
      <p:grpSpPr>
        <a:xfrm>
          <a:off x="0" y="0"/>
          <a:ext cx="0" cy="0"/>
          <a:chOff x="0" y="0"/>
          <a:chExt cx="0" cy="0"/>
        </a:xfrm>
      </p:grpSpPr>
      <p:sp>
        <p:nvSpPr>
          <p:cNvPr id="34" name="Google Shape;34;p6"/>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6" name="Google Shape;36;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9" name="Shape 39"/>
        <p:cNvGrpSpPr/>
        <p:nvPr/>
      </p:nvGrpSpPr>
      <p:grpSpPr>
        <a:xfrm>
          <a:off x="0" y="0"/>
          <a:ext cx="0" cy="0"/>
          <a:chOff x="0" y="0"/>
          <a:chExt cx="0" cy="0"/>
        </a:xfrm>
      </p:grpSpPr>
      <p:sp>
        <p:nvSpPr>
          <p:cNvPr id="40" name="Google Shape;40;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7"/>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3" name="Google Shape;43;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6" name="Shape 46"/>
        <p:cNvGrpSpPr/>
        <p:nvPr/>
      </p:nvGrpSpPr>
      <p:grpSpPr>
        <a:xfrm>
          <a:off x="0" y="0"/>
          <a:ext cx="0" cy="0"/>
          <a:chOff x="0" y="0"/>
          <a:chExt cx="0" cy="0"/>
        </a:xfrm>
      </p:grpSpPr>
      <p:sp>
        <p:nvSpPr>
          <p:cNvPr id="47" name="Google Shape;47;p8"/>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8"/>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8"/>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1" name="Google Shape;51;p8"/>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2" name="Google Shape;52;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5" name="Shape 55"/>
        <p:cNvGrpSpPr/>
        <p:nvPr/>
      </p:nvGrpSpPr>
      <p:grpSpPr>
        <a:xfrm>
          <a:off x="0" y="0"/>
          <a:ext cx="0" cy="0"/>
          <a:chOff x="0" y="0"/>
          <a:chExt cx="0" cy="0"/>
        </a:xfrm>
      </p:grpSpPr>
      <p:sp>
        <p:nvSpPr>
          <p:cNvPr id="56" name="Google Shape;56;p9"/>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60" name="Shape 60"/>
        <p:cNvGrpSpPr/>
        <p:nvPr/>
      </p:nvGrpSpPr>
      <p:grpSpPr>
        <a:xfrm>
          <a:off x="0" y="0"/>
          <a:ext cx="0" cy="0"/>
          <a:chOff x="0" y="0"/>
          <a:chExt cx="0" cy="0"/>
        </a:xfrm>
      </p:grpSpPr>
      <p:sp>
        <p:nvSpPr>
          <p:cNvPr id="61" name="Google Shape;61;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4" name="Shape 64"/>
        <p:cNvGrpSpPr/>
        <p:nvPr/>
      </p:nvGrpSpPr>
      <p:grpSpPr>
        <a:xfrm>
          <a:off x="0" y="0"/>
          <a:ext cx="0" cy="0"/>
          <a:chOff x="0" y="0"/>
          <a:chExt cx="0" cy="0"/>
        </a:xfrm>
      </p:grpSpPr>
      <p:sp>
        <p:nvSpPr>
          <p:cNvPr id="65" name="Google Shape;65;p11"/>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7" name="Google Shape;67;p11"/>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8" name="Google Shape;68;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1" name="Shape 71"/>
        <p:cNvGrpSpPr/>
        <p:nvPr/>
      </p:nvGrpSpPr>
      <p:grpSpPr>
        <a:xfrm>
          <a:off x="0" y="0"/>
          <a:ext cx="0" cy="0"/>
          <a:chOff x="0" y="0"/>
          <a:chExt cx="0" cy="0"/>
        </a:xfrm>
      </p:grpSpPr>
      <p:sp>
        <p:nvSpPr>
          <p:cNvPr id="72" name="Google Shape;72;p12"/>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p:nvPr>
            <p:ph type="pic" idx="2"/>
          </p:nvPr>
        </p:nvSpPr>
        <p:spPr>
          <a:xfrm>
            <a:off x="5183188" y="987425"/>
            <a:ext cx="6172200" cy="4873625"/>
          </a:xfrm>
          <a:prstGeom prst="rect">
            <a:avLst/>
          </a:prstGeom>
          <a:noFill/>
          <a:ln>
            <a:noFill/>
          </a:ln>
        </p:spPr>
      </p:sp>
      <p:sp>
        <p:nvSpPr>
          <p:cNvPr id="74" name="Google Shape;74;p12"/>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5" name="Google Shape;75;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8" name="Shape 78"/>
        <p:cNvGrpSpPr/>
        <p:nvPr/>
      </p:nvGrpSpPr>
      <p:grpSpPr>
        <a:xfrm>
          <a:off x="0" y="0"/>
          <a:ext cx="0" cy="0"/>
          <a:chOff x="0" y="0"/>
          <a:chExt cx="0" cy="0"/>
        </a:xfrm>
      </p:grpSpPr>
      <p:sp>
        <p:nvSpPr>
          <p:cNvPr id="79" name="Google Shape;79;p1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3"/>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4" name="Shape 84"/>
        <p:cNvGrpSpPr/>
        <p:nvPr/>
      </p:nvGrpSpPr>
      <p:grpSpPr>
        <a:xfrm>
          <a:off x="0" y="0"/>
          <a:ext cx="0" cy="0"/>
          <a:chOff x="0" y="0"/>
          <a:chExt cx="0" cy="0"/>
        </a:xfrm>
      </p:grpSpPr>
      <p:sp>
        <p:nvSpPr>
          <p:cNvPr id="85" name="Google Shape;85;p14"/>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4"/>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7" name="Google Shape;87;p1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1"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7.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tags" Target="../tags/tag9.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11.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5" Type="http://schemas.openxmlformats.org/officeDocument/2006/relationships/notesSlide" Target="../notesSlides/notesSlide16.xml"/><Relationship Id="rId14" Type="http://schemas.openxmlformats.org/officeDocument/2006/relationships/slideLayout" Target="../slideLayouts/slideLayout1.xml"/><Relationship Id="rId13" Type="http://schemas.openxmlformats.org/officeDocument/2006/relationships/image" Target="../media/image13.png"/><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4" Type="http://schemas.openxmlformats.org/officeDocument/2006/relationships/notesSlide" Target="../notesSlides/notesSlide24.xml"/><Relationship Id="rId13" Type="http://schemas.openxmlformats.org/officeDocument/2006/relationships/slideLayout" Target="../slideLayouts/slideLayout2.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15"/>
          <p:cNvSpPr txBox="1"/>
          <p:nvPr/>
        </p:nvSpPr>
        <p:spPr>
          <a:xfrm>
            <a:off x="267600" y="2868567"/>
            <a:ext cx="11656800" cy="1642745"/>
          </a:xfrm>
          <a:prstGeom prst="rect">
            <a:avLst/>
          </a:prstGeom>
          <a:noFill/>
          <a:ln>
            <a:noFill/>
          </a:ln>
        </p:spPr>
        <p:txBody>
          <a:bodyPr spcFirstLastPara="1" wrap="square" lIns="105100" tIns="52525" rIns="105100" bIns="52525" anchor="t" anchorCtr="0">
            <a:spAutoFit/>
          </a:bodyPr>
          <a:lstStyle/>
          <a:p>
            <a:pPr marL="0" marR="0" lvl="0" indent="0" algn="ctr" rtl="0">
              <a:lnSpc>
                <a:spcPct val="100000"/>
              </a:lnSpc>
              <a:spcBef>
                <a:spcPts val="0"/>
              </a:spcBef>
              <a:spcAft>
                <a:spcPts val="0"/>
              </a:spcAft>
              <a:buClr>
                <a:srgbClr val="000000"/>
              </a:buClr>
              <a:buSzPts val="4633"/>
              <a:buFont typeface="Arial" panose="020B0604020202020204"/>
              <a:buNone/>
            </a:pPr>
            <a:r>
              <a:rPr lang="en-US" altLang="en-US" sz="5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Online Payment Fraud Detection</a:t>
            </a:r>
            <a:endParaRPr lang="en-US" altLang="en-US" sz="5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0" marR="0" lvl="0" indent="0" algn="ctr" rtl="0">
              <a:lnSpc>
                <a:spcPct val="100000"/>
              </a:lnSpc>
              <a:spcBef>
                <a:spcPts val="0"/>
              </a:spcBef>
              <a:spcAft>
                <a:spcPts val="0"/>
              </a:spcAft>
              <a:buClr>
                <a:srgbClr val="000000"/>
              </a:buClr>
              <a:buSzPts val="4633"/>
              <a:buFont typeface="Arial" panose="020B0604020202020204"/>
              <a:buNone/>
            </a:pPr>
            <a:r>
              <a:rPr lang="en-US" sz="5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 </a:t>
            </a:r>
            <a:endParaRPr sz="5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96" name="Google Shape;96;p15"/>
          <p:cNvSpPr txBox="1"/>
          <p:nvPr/>
        </p:nvSpPr>
        <p:spPr>
          <a:xfrm>
            <a:off x="2215515" y="3733800"/>
            <a:ext cx="7761605" cy="103251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US" sz="2800" b="1" i="0" u="none" strike="noStrike" cap="none">
                <a:solidFill>
                  <a:srgbClr val="7030A0"/>
                </a:solidFill>
                <a:latin typeface="Montserrat" panose="00000500000000000000" charset="0"/>
                <a:ea typeface="Arial" panose="020B0604020202020204"/>
                <a:cs typeface="Montserrat" panose="00000500000000000000" charset="0"/>
                <a:sym typeface="Arial" panose="020B0604020202020204"/>
              </a:rPr>
              <a:t>Final Project: </a:t>
            </a:r>
            <a:r>
              <a:rPr lang="en-US" altLang="en-US" sz="2800" b="0"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rPr>
              <a:t>Paytm Financial Fraud Dataset (51,623 transactions)</a:t>
            </a:r>
            <a:endParaRPr lang="en-US" altLang="en-US" sz="2800" b="0"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
        <p:nvSpPr>
          <p:cNvPr id="97" name="Google Shape;97;p15"/>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 name="Google Shape;96;p15"/>
          <p:cNvSpPr txBox="1"/>
          <p:nvPr/>
        </p:nvSpPr>
        <p:spPr>
          <a:xfrm>
            <a:off x="3506470" y="4797425"/>
            <a:ext cx="5049520" cy="64579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US" altLang="en-US" sz="1800" b="0"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rPr>
              <a:t>Presented By : Shraddha Tiwari</a:t>
            </a:r>
            <a:endParaRPr lang="en-US" altLang="en-US" sz="1800" b="0"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16"/>
          <p:cNvSpPr txBox="1"/>
          <p:nvPr/>
        </p:nvSpPr>
        <p:spPr>
          <a:xfrm>
            <a:off x="191346" y="836761"/>
            <a:ext cx="11656800" cy="719455"/>
          </a:xfrm>
          <a:prstGeom prst="rect">
            <a:avLst/>
          </a:prstGeom>
          <a:noFill/>
          <a:ln>
            <a:noFill/>
          </a:ln>
        </p:spPr>
        <p:txBody>
          <a:bodyPr spcFirstLastPara="1" wrap="square" lIns="105100" tIns="52525" rIns="105100" bIns="52525" anchor="t" anchorCtr="0">
            <a:spAutoFit/>
          </a:bodyPr>
          <a:lstStyle/>
          <a:p>
            <a:pPr marL="0" marR="0" lvl="0" indent="0" algn="l" rtl="0">
              <a:lnSpc>
                <a:spcPct val="100000"/>
              </a:lnSpc>
              <a:spcBef>
                <a:spcPts val="0"/>
              </a:spcBef>
              <a:spcAft>
                <a:spcPts val="0"/>
              </a:spcAft>
              <a:buClr>
                <a:srgbClr val="000000"/>
              </a:buClr>
              <a:buSzPts val="3533"/>
              <a:buFont typeface="Arial" panose="020B0604020202020204"/>
              <a:buNone/>
            </a:pPr>
            <a:r>
              <a:rPr lang="en-US" sz="4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Problem Statement</a:t>
            </a:r>
            <a:endParaRPr sz="4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105" name="Google Shape;105;p16"/>
          <p:cNvSpPr txBox="1"/>
          <p:nvPr/>
        </p:nvSpPr>
        <p:spPr>
          <a:xfrm>
            <a:off x="318770" y="1718945"/>
            <a:ext cx="11679555" cy="4859020"/>
          </a:xfrm>
          <a:prstGeom prst="rect">
            <a:avLst/>
          </a:prstGeom>
          <a:noFill/>
          <a:ln>
            <a:noFill/>
          </a:ln>
        </p:spPr>
        <p:txBody>
          <a:bodyPr spcFirstLastPara="1" wrap="square" lIns="121900" tIns="121900" rIns="121900" bIns="121900" anchor="t" anchorCtr="0">
            <a:spAutoFit/>
          </a:bodyPr>
          <a:lstStyle/>
          <a:p>
            <a:pPr marL="457200" marR="0" lvl="0" indent="0" algn="just" rtl="0">
              <a:lnSpc>
                <a:spcPct val="200000"/>
              </a:lnSpc>
              <a:spcBef>
                <a:spcPts val="1600"/>
              </a:spcBef>
              <a:spcAft>
                <a:spcPts val="0"/>
              </a:spcAft>
              <a:buClr>
                <a:srgbClr val="000000"/>
              </a:buClr>
              <a:buSzPts val="2500"/>
              <a:buFont typeface="Arial" panose="020B0604020202020204"/>
              <a:buNone/>
            </a:pPr>
            <a:r>
              <a:rPr lang="en-US" altLang="en-US" sz="2500" b="0"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rPr>
              <a:t>Online payment systems have become widely used due to their convenience and speed. However, the rise in digital transactions has also increased the risk of fraud, where unauthorized users exploit system vulnerabilities. This creates financial losses and reduces user trust. Therefore, an effective system is needed to detect and prevent fraudulent transactions in real time.</a:t>
            </a:r>
            <a:endParaRPr lang="en-US" altLang="en-US" sz="2500" b="0"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
        <p:nvSpPr>
          <p:cNvPr id="106" name="Google Shape;106;p16"/>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07" name="Google Shape;107;p16"/>
          <p:cNvSpPr txBox="1"/>
          <p:nvPr/>
        </p:nvSpPr>
        <p:spPr>
          <a:xfrm>
            <a:off x="169121" y="3541809"/>
            <a:ext cx="11656800" cy="649800"/>
          </a:xfrm>
          <a:prstGeom prst="rect">
            <a:avLst/>
          </a:prstGeom>
          <a:noFill/>
          <a:ln>
            <a:noFill/>
          </a:ln>
        </p:spPr>
        <p:txBody>
          <a:bodyPr spcFirstLastPara="1" wrap="square" lIns="105100" tIns="52525" rIns="105100" bIns="52525" anchor="t" anchorCtr="0">
            <a:spAutoFit/>
          </a:bodyPr>
          <a:lstStyle/>
          <a:p>
            <a:pPr marL="0" marR="0" lvl="0" indent="0" algn="l" rtl="0">
              <a:lnSpc>
                <a:spcPct val="100000"/>
              </a:lnSpc>
              <a:spcBef>
                <a:spcPts val="0"/>
              </a:spcBef>
              <a:spcAft>
                <a:spcPts val="0"/>
              </a:spcAft>
              <a:buClr>
                <a:srgbClr val="000000"/>
              </a:buClr>
              <a:buSzPts val="3533"/>
              <a:buFont typeface="Arial" panose="020B0604020202020204"/>
              <a:buNone/>
            </a:pPr>
            <a:endParaRPr sz="3535"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17"/>
          <p:cNvSpPr txBox="1"/>
          <p:nvPr/>
        </p:nvSpPr>
        <p:spPr>
          <a:xfrm>
            <a:off x="695325" y="548640"/>
            <a:ext cx="6976745" cy="74549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3533"/>
              <a:buFont typeface="Arial" panose="020B0604020202020204"/>
              <a:buNone/>
            </a:pPr>
            <a:r>
              <a:rPr lang="en-US" sz="3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Key Objectives</a:t>
            </a:r>
            <a:endParaRPr lang="en-US" sz="3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113" name="Google Shape;113;p17"/>
          <p:cNvSpPr txBox="1"/>
          <p:nvPr/>
        </p:nvSpPr>
        <p:spPr>
          <a:xfrm>
            <a:off x="767244" y="1053110"/>
            <a:ext cx="10835100" cy="5012690"/>
          </a:xfrm>
          <a:prstGeom prst="rect">
            <a:avLst/>
          </a:prstGeom>
          <a:noFill/>
          <a:ln>
            <a:noFill/>
          </a:ln>
        </p:spPr>
        <p:txBody>
          <a:bodyPr spcFirstLastPara="1" wrap="square" lIns="121900" tIns="121900" rIns="121900" bIns="121900" anchor="t" anchorCtr="0">
            <a:spAutoFit/>
          </a:bodyPr>
          <a:lstStyle/>
          <a:p>
            <a:pPr marL="457200" marR="0" lvl="0" indent="-368300" algn="l" rtl="0">
              <a:lnSpc>
                <a:spcPct val="150000"/>
              </a:lnSpc>
              <a:spcBef>
                <a:spcPts val="1600"/>
              </a:spcBef>
              <a:spcAft>
                <a:spcPts val="0"/>
              </a:spcAft>
              <a:buClr>
                <a:schemeClr val="dk1"/>
              </a:buClr>
              <a:buSzPts val="2200"/>
              <a:buFont typeface="Montserrat" panose="00000500000000000000"/>
              <a:buChar char="●"/>
            </a:pPr>
            <a:r>
              <a:rPr lang="en-US" altLang="en-US" sz="2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Detect Fraud Accurately</a:t>
            </a:r>
            <a:r>
              <a:rPr lang="en-US" sz="2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 </a:t>
            </a:r>
            <a:r>
              <a:rPr lang="en-US" altLang="en-US" sz="2000">
                <a:solidFill>
                  <a:schemeClr val="dk1"/>
                </a:solidFill>
                <a:latin typeface="Montserrat" panose="00000500000000000000" charset="0"/>
                <a:cs typeface="Montserrat" panose="00000500000000000000" charset="0"/>
                <a:sym typeface="Arial" panose="020B0604020202020204"/>
              </a:rPr>
              <a:t>Build models to precisely identify fraudulent transactions using patterns, anomalies, and user behavior from historical payment data.</a:t>
            </a:r>
            <a:endParaRPr lang="en-US" altLang="en-US" sz="2000">
              <a:solidFill>
                <a:schemeClr val="dk1"/>
              </a:solidFill>
              <a:latin typeface="Montserrat" panose="00000500000000000000" charset="0"/>
              <a:cs typeface="Montserrat" panose="00000500000000000000" charset="0"/>
              <a:sym typeface="Arial" panose="020B0604020202020204"/>
            </a:endParaRPr>
          </a:p>
          <a:p>
            <a:pPr marL="457200" marR="0" lvl="0" indent="-368300" algn="l" rtl="0">
              <a:lnSpc>
                <a:spcPct val="150000"/>
              </a:lnSpc>
              <a:spcBef>
                <a:spcPts val="1600"/>
              </a:spcBef>
              <a:spcAft>
                <a:spcPts val="0"/>
              </a:spcAft>
              <a:buClr>
                <a:schemeClr val="dk1"/>
              </a:buClr>
              <a:buSzPts val="2200"/>
              <a:buFont typeface="Montserrat" panose="00000500000000000000"/>
              <a:buChar char="●"/>
            </a:pPr>
            <a:r>
              <a:rPr lang="en-US" altLang="en-US" sz="2000" b="1">
                <a:solidFill>
                  <a:schemeClr val="dk1"/>
                </a:solidFill>
                <a:latin typeface="Montserrat" panose="00000500000000000000" charset="0"/>
                <a:cs typeface="Montserrat" panose="00000500000000000000" charset="0"/>
                <a:sym typeface="Arial" panose="020B0604020202020204"/>
              </a:rPr>
              <a:t>Compare Multiple Models</a:t>
            </a:r>
            <a:r>
              <a:rPr lang="en-US" sz="2000">
                <a:solidFill>
                  <a:schemeClr val="dk1"/>
                </a:solidFill>
                <a:latin typeface="Montserrat" panose="00000500000000000000" charset="0"/>
                <a:cs typeface="Montserrat" panose="00000500000000000000" charset="0"/>
                <a:sym typeface="Arial" panose="020B0604020202020204"/>
              </a:rPr>
              <a:t>: </a:t>
            </a:r>
            <a:r>
              <a:rPr lang="en-US" altLang="en-US" sz="2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Evaluate algorithms like Logistic Regression, Decision Tree, and Random Forest to select the most effective fraud detection model.</a:t>
            </a:r>
            <a:endParaRPr lang="en-US" altLang="en-US" sz="2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457200" marR="0" lvl="0" indent="-368300" algn="l" rtl="0">
              <a:lnSpc>
                <a:spcPct val="150000"/>
              </a:lnSpc>
              <a:spcBef>
                <a:spcPts val="1600"/>
              </a:spcBef>
              <a:spcAft>
                <a:spcPts val="0"/>
              </a:spcAft>
              <a:buClr>
                <a:schemeClr val="dk1"/>
              </a:buClr>
              <a:buSzPts val="2200"/>
              <a:buFont typeface="Montserrat" panose="00000500000000000000"/>
              <a:buChar char="●"/>
            </a:pPr>
            <a:r>
              <a:rPr lang="en-US" altLang="en-US" sz="2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Optimize Performance</a:t>
            </a:r>
            <a:r>
              <a:rPr lang="en-US" sz="2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 </a:t>
            </a:r>
            <a:r>
              <a:rPr lang="en-US" altLang="en-US" sz="2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Tune hyperparameters and improve model accuracy, precision, recall, and F1-score to ensure reliable and efficient fraud detection.</a:t>
            </a:r>
            <a:endParaRPr lang="en-US" altLang="en-US" sz="2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457200" marR="0" lvl="0" indent="0" algn="l" rtl="0">
              <a:lnSpc>
                <a:spcPct val="150000"/>
              </a:lnSpc>
              <a:spcBef>
                <a:spcPts val="1600"/>
              </a:spcBef>
              <a:spcAft>
                <a:spcPts val="0"/>
              </a:spcAft>
              <a:buClr>
                <a:srgbClr val="000000"/>
              </a:buClr>
              <a:buSzPts val="2200"/>
              <a:buFont typeface="Arial" panose="020B0604020202020204"/>
              <a:buNone/>
            </a:pPr>
            <a:endParaRPr sz="2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114" name="Google Shape;114;p17"/>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18"/>
          <p:cNvSpPr/>
          <p:nvPr/>
        </p:nvSpPr>
        <p:spPr>
          <a:xfrm>
            <a:off x="1286561" y="709742"/>
            <a:ext cx="7373961" cy="120032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panose="020B0604020202020204"/>
              <a:buNone/>
            </a:pPr>
            <a:br>
              <a:rPr lang="en-US" sz="24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000000"/>
              </a:buClr>
              <a:buSzPts val="2400"/>
              <a:buFont typeface="Arial" panose="020B0604020202020204"/>
              <a:buNone/>
            </a:pPr>
            <a:endParaRPr sz="24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18"/>
          <p:cNvSpPr txBox="1"/>
          <p:nvPr/>
        </p:nvSpPr>
        <p:spPr>
          <a:xfrm>
            <a:off x="349946" y="477135"/>
            <a:ext cx="11472000" cy="704215"/>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0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rPr>
              <a:t>Exploratory Data Analysis</a:t>
            </a:r>
            <a:endParaRPr lang="en-US" sz="30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
        <p:nvSpPr>
          <p:cNvPr id="121" name="Google Shape;121;p18"/>
          <p:cNvSpPr/>
          <p:nvPr/>
        </p:nvSpPr>
        <p:spPr>
          <a:xfrm>
            <a:off x="407035" y="1052830"/>
            <a:ext cx="6397625" cy="208153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1900"/>
              <a:buFont typeface="Arial" panose="020B0604020202020204"/>
              <a:buNone/>
            </a:pPr>
            <a:r>
              <a:rPr lang="en-US" alt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The Paytm dataset contains mobile money transactions with 10 columns. The target column 'isFraud' marks fraudulent transactions. Key features include transaction amount, type, and sender/receiver balance changes.</a:t>
            </a:r>
            <a:endParaRPr lang="en-US" alt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285750" marR="0" lvl="0" indent="-285750" algn="l" rtl="0">
              <a:lnSpc>
                <a:spcPct val="150000"/>
              </a:lnSpc>
              <a:spcBef>
                <a:spcPts val="0"/>
              </a:spcBef>
              <a:spcAft>
                <a:spcPts val="0"/>
              </a:spcAft>
              <a:buClr>
                <a:srgbClr val="000000"/>
              </a:buClr>
              <a:buSzPts val="1900"/>
              <a:buFont typeface="Arial" panose="020B0604020202020204" pitchFamily="34" charset="0"/>
              <a:buChar char="•"/>
            </a:pPr>
            <a:r>
              <a:rPr lang="en-US" altLang="en-US" sz="1800">
                <a:solidFill>
                  <a:schemeClr val="dk1"/>
                </a:solidFill>
                <a:latin typeface="Montserrat" panose="00000500000000000000" charset="0"/>
                <a:cs typeface="Montserrat" panose="00000500000000000000" charset="0"/>
                <a:sym typeface="Calibri" panose="020F0502020204030204"/>
              </a:rPr>
              <a:t>51,623 total transactions (rows)</a:t>
            </a:r>
            <a:endParaRPr lang="en-US" altLang="en-US" sz="1800" b="0" i="0" u="none" strike="noStrike" cap="none">
              <a:solidFill>
                <a:schemeClr val="dk1"/>
              </a:solidFill>
              <a:latin typeface="Montserrat" panose="00000500000000000000" charset="0"/>
              <a:cs typeface="Montserrat" panose="00000500000000000000" charset="0"/>
              <a:sym typeface="Calibri" panose="020F0502020204030204"/>
            </a:endParaRPr>
          </a:p>
          <a:p>
            <a:pPr marL="285750" marR="0" lvl="0" indent="-285750" algn="l" rtl="0">
              <a:lnSpc>
                <a:spcPct val="150000"/>
              </a:lnSpc>
              <a:spcBef>
                <a:spcPts val="0"/>
              </a:spcBef>
              <a:spcAft>
                <a:spcPts val="0"/>
              </a:spcAft>
              <a:buClr>
                <a:srgbClr val="000000"/>
              </a:buClr>
              <a:buSzPts val="1900"/>
              <a:buFont typeface="Arial" panose="020B0604020202020204" pitchFamily="34" charset="0"/>
              <a:buChar char="•"/>
            </a:pPr>
            <a:r>
              <a:rPr lang="en-US" altLang="en-US" sz="1800" b="0" i="0" u="none" strike="noStrike" cap="none">
                <a:solidFill>
                  <a:schemeClr val="dk1"/>
                </a:solidFill>
                <a:latin typeface="Montserrat" panose="00000500000000000000" charset="0"/>
                <a:cs typeface="Montserrat" panose="00000500000000000000" charset="0"/>
                <a:sym typeface="Calibri" panose="020F0502020204030204"/>
              </a:rPr>
              <a:t>10 columns: step, type, amount, nameOrig, oldbalanceOrg,</a:t>
            </a:r>
            <a:endParaRPr lang="en-US" altLang="en-US" sz="1800" b="0" i="0" u="none" strike="noStrike" cap="none">
              <a:solidFill>
                <a:schemeClr val="dk1"/>
              </a:solidFill>
              <a:latin typeface="Montserrat" panose="00000500000000000000" charset="0"/>
              <a:cs typeface="Montserrat" panose="00000500000000000000" charset="0"/>
              <a:sym typeface="Calibri" panose="020F0502020204030204"/>
            </a:endParaRPr>
          </a:p>
          <a:p>
            <a:pPr marL="285750" marR="0" lvl="0" indent="-285750" algn="l" rtl="0">
              <a:lnSpc>
                <a:spcPct val="150000"/>
              </a:lnSpc>
              <a:spcBef>
                <a:spcPts val="0"/>
              </a:spcBef>
              <a:spcAft>
                <a:spcPts val="0"/>
              </a:spcAft>
              <a:buClr>
                <a:srgbClr val="000000"/>
              </a:buClr>
              <a:buSzPts val="1900"/>
              <a:buFont typeface="Arial" panose="020B0604020202020204" pitchFamily="34" charset="0"/>
              <a:buChar char="•"/>
            </a:pPr>
            <a:r>
              <a:rPr lang="en-US" altLang="en-US" sz="1800" b="0" i="0" u="none" strike="noStrike" cap="none">
                <a:solidFill>
                  <a:schemeClr val="dk1"/>
                </a:solidFill>
                <a:latin typeface="Montserrat" panose="00000500000000000000" charset="0"/>
                <a:cs typeface="Montserrat" panose="00000500000000000000" charset="0"/>
                <a:sym typeface="Calibri" panose="020F0502020204030204"/>
              </a:rPr>
              <a:t>newbalanceOrig, nameDest, oldbalanceDest, newbalanceDest, isFraud</a:t>
            </a:r>
            <a:endParaRPr lang="en-US" altLang="en-US" sz="1800" b="0" i="0" u="none" strike="noStrike" cap="none">
              <a:solidFill>
                <a:schemeClr val="dk1"/>
              </a:solidFill>
              <a:latin typeface="Montserrat" panose="00000500000000000000" charset="0"/>
              <a:cs typeface="Montserrat" panose="00000500000000000000" charset="0"/>
              <a:sym typeface="Calibri" panose="020F0502020204030204"/>
            </a:endParaRPr>
          </a:p>
          <a:p>
            <a:pPr marL="285750" marR="0" lvl="0" indent="-285750" algn="l" rtl="0">
              <a:lnSpc>
                <a:spcPct val="150000"/>
              </a:lnSpc>
              <a:spcBef>
                <a:spcPts val="0"/>
              </a:spcBef>
              <a:spcAft>
                <a:spcPts val="0"/>
              </a:spcAft>
              <a:buClr>
                <a:srgbClr val="000000"/>
              </a:buClr>
              <a:buSzPts val="1900"/>
              <a:buFont typeface="Arial" panose="020B0604020202020204" pitchFamily="34" charset="0"/>
              <a:buChar char="•"/>
            </a:pPr>
            <a:r>
              <a:rPr lang="en-US" altLang="en-US" sz="1800" b="0" i="0" u="none" strike="noStrike" cap="none">
                <a:solidFill>
                  <a:schemeClr val="dk1"/>
                </a:solidFill>
                <a:latin typeface="Montserrat" panose="00000500000000000000" charset="0"/>
                <a:cs typeface="Montserrat" panose="00000500000000000000" charset="0"/>
                <a:sym typeface="Calibri" panose="020F0502020204030204"/>
              </a:rPr>
              <a:t>5 types: PAYMENT, CASH_OUT, CASH_IN, TRANSFER, DEBIT</a:t>
            </a:r>
            <a:endParaRPr lang="en-US" altLang="en-US" sz="1800" b="0" i="0" u="none" strike="noStrike" cap="none">
              <a:solidFill>
                <a:schemeClr val="dk1"/>
              </a:solidFill>
              <a:latin typeface="Montserrat" panose="00000500000000000000" charset="0"/>
              <a:cs typeface="Montserrat" panose="00000500000000000000" charset="0"/>
              <a:sym typeface="Calibri" panose="020F0502020204030204"/>
            </a:endParaRPr>
          </a:p>
          <a:p>
            <a:pPr marL="285750" marR="0" lvl="0" indent="-285750" algn="l" rtl="0">
              <a:lnSpc>
                <a:spcPct val="150000"/>
              </a:lnSpc>
              <a:spcBef>
                <a:spcPts val="0"/>
              </a:spcBef>
              <a:spcAft>
                <a:spcPts val="0"/>
              </a:spcAft>
              <a:buClr>
                <a:srgbClr val="000000"/>
              </a:buClr>
              <a:buSzPts val="1900"/>
              <a:buFont typeface="Arial" panose="020B0604020202020204" pitchFamily="34" charset="0"/>
              <a:buChar char="•"/>
            </a:pPr>
            <a:r>
              <a:rPr lang="en-US" altLang="en-US" sz="1800" b="0" i="0" u="none" strike="noStrike" cap="none">
                <a:solidFill>
                  <a:schemeClr val="dk1"/>
                </a:solidFill>
                <a:latin typeface="Montserrat" panose="00000500000000000000" charset="0"/>
                <a:cs typeface="Montserrat" panose="00000500000000000000" charset="0"/>
                <a:sym typeface="Calibri" panose="020F0502020204030204"/>
              </a:rPr>
              <a:t>Target: isFraud (0 = Legit, 1 = Fraud)</a:t>
            </a:r>
            <a:endParaRPr lang="en-US" altLang="en-US" sz="1800" b="0" i="0" u="none" strike="noStrike" cap="none">
              <a:solidFill>
                <a:schemeClr val="dk1"/>
              </a:solidFill>
              <a:latin typeface="Montserrat" panose="00000500000000000000" charset="0"/>
              <a:cs typeface="Montserrat" panose="00000500000000000000" charset="0"/>
              <a:sym typeface="Calibri" panose="020F0502020204030204"/>
            </a:endParaRPr>
          </a:p>
          <a:p>
            <a:pPr marL="285750" marR="0" lvl="0" indent="-285750" algn="l" rtl="0">
              <a:lnSpc>
                <a:spcPct val="150000"/>
              </a:lnSpc>
              <a:spcBef>
                <a:spcPts val="0"/>
              </a:spcBef>
              <a:spcAft>
                <a:spcPts val="0"/>
              </a:spcAft>
              <a:buClr>
                <a:srgbClr val="000000"/>
              </a:buClr>
              <a:buSzPts val="1900"/>
              <a:buFont typeface="Arial" panose="020B0604020202020204" pitchFamily="34" charset="0"/>
              <a:buChar char="•"/>
            </a:pPr>
            <a:r>
              <a:rPr lang="en-US" altLang="en-US" sz="1800" b="0" i="0" u="none" strike="noStrike" cap="none">
                <a:solidFill>
                  <a:schemeClr val="dk1"/>
                </a:solidFill>
                <a:latin typeface="Montserrat" panose="00000500000000000000" charset="0"/>
                <a:cs typeface="Montserrat" panose="00000500000000000000" charset="0"/>
                <a:sym typeface="Calibri" panose="020F0502020204030204"/>
              </a:rPr>
              <a:t>No missing values — clean dataset</a:t>
            </a:r>
            <a:endParaRPr lang="en-US" altLang="en-US" sz="1800" b="0" i="0" u="none" strike="noStrike" cap="none">
              <a:solidFill>
                <a:schemeClr val="dk1"/>
              </a:solidFill>
              <a:latin typeface="Montserrat" panose="00000500000000000000" charset="0"/>
              <a:cs typeface="Montserrat" panose="00000500000000000000" charset="0"/>
              <a:sym typeface="Calibri" panose="020F0502020204030204"/>
            </a:endParaRPr>
          </a:p>
          <a:p>
            <a:pPr marL="0" marR="0" lvl="0" indent="0" algn="l" rtl="0">
              <a:lnSpc>
                <a:spcPct val="150000"/>
              </a:lnSpc>
              <a:spcBef>
                <a:spcPts val="0"/>
              </a:spcBef>
              <a:spcAft>
                <a:spcPts val="0"/>
              </a:spcAft>
              <a:buClr>
                <a:schemeClr val="dk1"/>
              </a:buClr>
              <a:buSzPts val="1100"/>
              <a:buFont typeface="Arial" panose="020B0604020202020204"/>
              <a:buNone/>
            </a:pPr>
            <a:endParaRPr sz="750" b="0" i="0" u="none" strike="noStrike" cap="none">
              <a:solidFill>
                <a:schemeClr val="dk1"/>
              </a:solidFill>
              <a:highlight>
                <a:srgbClr val="F7F7F7"/>
              </a:highlight>
              <a:latin typeface="Courier New" panose="02070309020205020404"/>
              <a:ea typeface="Courier New" panose="02070309020205020404"/>
              <a:cs typeface="Courier New" panose="02070309020205020404"/>
              <a:sym typeface="Courier New" panose="02070309020205020404"/>
            </a:endParaRPr>
          </a:p>
          <a:p>
            <a:pPr marL="0" marR="0" lvl="0" indent="0" algn="l" rtl="0">
              <a:lnSpc>
                <a:spcPct val="150000"/>
              </a:lnSpc>
              <a:spcBef>
                <a:spcPts val="0"/>
              </a:spcBef>
              <a:spcAft>
                <a:spcPts val="0"/>
              </a:spcAft>
              <a:buClr>
                <a:srgbClr val="000000"/>
              </a:buClr>
              <a:buSzPts val="1033"/>
              <a:buFont typeface="Arial" panose="020B0604020202020204"/>
              <a:buNone/>
            </a:pPr>
            <a:br>
              <a:rPr lang="en-US" sz="1035" b="0" i="0" u="none" strike="noStrike" cap="none">
                <a:solidFill>
                  <a:schemeClr val="dk1"/>
                </a:solidFill>
                <a:latin typeface="Calibri" panose="020F0502020204030204"/>
                <a:ea typeface="Calibri" panose="020F0502020204030204"/>
                <a:cs typeface="Calibri" panose="020F0502020204030204"/>
                <a:sym typeface="Calibri" panose="020F0502020204030204"/>
              </a:rPr>
            </a:br>
            <a:endParaRPr sz="1035"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rgbClr val="000000"/>
              </a:buClr>
              <a:buSzPts val="1033"/>
              <a:buFont typeface="Arial" panose="020B0604020202020204"/>
              <a:buNone/>
            </a:pPr>
            <a:endParaRPr sz="1035"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Clr>
                <a:srgbClr val="000000"/>
              </a:buClr>
              <a:buSzPts val="2100"/>
              <a:buFont typeface="Arial" panose="020B0604020202020204"/>
              <a:buNone/>
            </a:pPr>
            <a:b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2" name="Google Shape;122;p18"/>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23" name="Google Shape;123;p18"/>
          <p:cNvSpPr txBox="1"/>
          <p:nvPr/>
        </p:nvSpPr>
        <p:spPr>
          <a:xfrm>
            <a:off x="6887845" y="1052830"/>
            <a:ext cx="5205095" cy="575945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import numpy as np</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import pandas as pd</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import matplotlib.pyplot as plt</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import seaborn as sns</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%matplotlib inline</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from google.colab import drive</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drive.mount('/content/drive')</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filepath ='/content/drive/MyDrive/data_file.csv'</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data = pd.read_csv(filepath)</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data.head()</a:t>
            </a:r>
            <a:endPar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endParaRPr>
          </a:p>
          <a:p>
            <a:pPr marL="0" indent="0">
              <a:buNone/>
            </a:pPr>
            <a:endParaRPr lang="en-US" altLang="en-US" sz="1450" dirty="0">
              <a:highlight>
                <a:srgbClr val="F7F7F7"/>
              </a:highlight>
              <a:latin typeface="Montserrat" panose="00000500000000000000" charset="0"/>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 Dataset overview</a:t>
            </a:r>
            <a:endParaRPr lang="en-US" sz="1450" dirty="0">
              <a:highlight>
                <a:srgbClr val="F7F7F7"/>
              </a:highlight>
              <a:latin typeface="Montserrat" panose="00000500000000000000" charset="0"/>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print("Shape:", </a:t>
            </a: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data</a:t>
            </a: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.shape)          # (51623, 10)</a:t>
            </a:r>
            <a:endParaRPr lang="en-US" sz="1450" dirty="0">
              <a:highlight>
                <a:srgbClr val="F7F7F7"/>
              </a:highlight>
              <a:latin typeface="Montserrat" panose="00000500000000000000" charset="0"/>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print(</a:t>
            </a: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data</a:t>
            </a: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.dtypes)</a:t>
            </a:r>
            <a:endParaRPr lang="en-US" sz="1450" dirty="0">
              <a:highlight>
                <a:srgbClr val="F7F7F7"/>
              </a:highlight>
              <a:latin typeface="Montserrat" panose="00000500000000000000" charset="0"/>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print(</a:t>
            </a: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data</a:t>
            </a: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.isnull().sum())           # No nulls</a:t>
            </a:r>
            <a:endParaRPr lang="en-US" sz="1450" dirty="0">
              <a:highlight>
                <a:srgbClr val="F7F7F7"/>
              </a:highlight>
              <a:latin typeface="Montserrat" panose="00000500000000000000" charset="0"/>
              <a:cs typeface="Montserrat" panose="00000500000000000000" charset="0"/>
            </a:endParaRPr>
          </a:p>
          <a:p>
            <a:pPr marL="0" indent="0">
              <a:buNone/>
            </a:pPr>
            <a:endParaRPr lang="en-US" sz="1450" dirty="0">
              <a:highlight>
                <a:srgbClr val="F7F7F7"/>
              </a:highlight>
              <a:latin typeface="Montserrat" panose="00000500000000000000" charset="0"/>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 Class distribution</a:t>
            </a:r>
            <a:endParaRPr lang="en-US" sz="1450" dirty="0">
              <a:highlight>
                <a:srgbClr val="F7F7F7"/>
              </a:highlight>
              <a:latin typeface="Montserrat" panose="00000500000000000000" charset="0"/>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print(</a:t>
            </a: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data</a:t>
            </a: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['isFraud'].value_counts())</a:t>
            </a:r>
            <a:endParaRPr lang="en-US" sz="1450" dirty="0">
              <a:highlight>
                <a:srgbClr val="F7F7F7"/>
              </a:highlight>
              <a:latin typeface="Montserrat" panose="00000500000000000000" charset="0"/>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 0    51523</a:t>
            </a:r>
            <a:endParaRPr lang="en-US" sz="1450" dirty="0">
              <a:highlight>
                <a:srgbClr val="F7F7F7"/>
              </a:highlight>
              <a:latin typeface="Montserrat" panose="00000500000000000000" charset="0"/>
              <a:cs typeface="Montserrat" panose="00000500000000000000" charset="0"/>
            </a:endParaRPr>
          </a:p>
          <a:p>
            <a:pPr marL="0" indent="0">
              <a:buNone/>
            </a:pPr>
            <a:r>
              <a:rPr lang="en-US" sz="1450" dirty="0">
                <a:solidFill>
                  <a:srgbClr val="1A3A5C"/>
                </a:solidFill>
                <a:highlight>
                  <a:srgbClr val="F7F7F7"/>
                </a:highlight>
                <a:latin typeface="Montserrat" panose="00000500000000000000" charset="0"/>
                <a:ea typeface="Courier New" panose="02070309020205020404" pitchFamily="34" charset="-122"/>
                <a:cs typeface="Montserrat" panose="00000500000000000000" charset="0"/>
                <a:sym typeface="+mn-ea"/>
              </a:rPr>
              <a:t># 1      100</a:t>
            </a:r>
            <a:endParaRPr lang="en-US" sz="1450" dirty="0">
              <a:highlight>
                <a:srgbClr val="F7F7F7"/>
              </a:highlight>
              <a:latin typeface="Montserrat" panose="00000500000000000000" charset="0"/>
              <a:cs typeface="Montserrat" panose="00000500000000000000" charset="0"/>
            </a:endParaRPr>
          </a:p>
          <a:p>
            <a:pPr marL="0" marR="0" lvl="0" indent="0" algn="l" rtl="0">
              <a:lnSpc>
                <a:spcPct val="136000"/>
              </a:lnSpc>
              <a:spcBef>
                <a:spcPts val="0"/>
              </a:spcBef>
              <a:spcAft>
                <a:spcPts val="0"/>
              </a:spcAft>
              <a:buClr>
                <a:srgbClr val="000000"/>
              </a:buClr>
              <a:buSzPts val="1450"/>
              <a:buFont typeface="Arial" panose="020B0604020202020204"/>
              <a:buNone/>
            </a:pPr>
            <a:endParaRPr sz="1450" b="0" i="0" u="none" strike="noStrike" cap="none">
              <a:solidFill>
                <a:schemeClr val="dk1"/>
              </a:solidFill>
              <a:highlight>
                <a:srgbClr val="F7F7F7"/>
              </a:highlight>
              <a:latin typeface="Courier New" panose="02070309020205020404"/>
              <a:ea typeface="Courier New" panose="02070309020205020404"/>
              <a:cs typeface="Courier New" panose="02070309020205020404"/>
              <a:sym typeface="Courier New" panose="02070309020205020404"/>
            </a:endParaRPr>
          </a:p>
          <a:p>
            <a:pPr marL="0" marR="0" lvl="0" indent="0" algn="l" rtl="0">
              <a:lnSpc>
                <a:spcPct val="136000"/>
              </a:lnSpc>
              <a:spcBef>
                <a:spcPts val="0"/>
              </a:spcBef>
              <a:spcAft>
                <a:spcPts val="0"/>
              </a:spcAft>
              <a:buClr>
                <a:schemeClr val="dk1"/>
              </a:buClr>
              <a:buSzPts val="1100"/>
              <a:buFont typeface="Arial" panose="020B0604020202020204"/>
              <a:buNone/>
            </a:pPr>
            <a:endParaRPr sz="1250" b="0" i="0" u="none" strike="noStrike" cap="none">
              <a:solidFill>
                <a:srgbClr val="008000"/>
              </a:solidFill>
              <a:highlight>
                <a:srgbClr val="F7F7F7"/>
              </a:highlight>
              <a:latin typeface="Courier New" panose="02070309020205020404"/>
              <a:ea typeface="Courier New" panose="02070309020205020404"/>
              <a:cs typeface="Courier New" panose="02070309020205020404"/>
              <a:sym typeface="Courier New" panose="020703090202050204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27" name="Shape 127"/>
        <p:cNvGrpSpPr/>
        <p:nvPr/>
      </p:nvGrpSpPr>
      <p:grpSpPr>
        <a:xfrm>
          <a:off x="0" y="0"/>
          <a:ext cx="0" cy="0"/>
          <a:chOff x="0" y="0"/>
          <a:chExt cx="0" cy="0"/>
        </a:xfrm>
      </p:grpSpPr>
      <p:sp>
        <p:nvSpPr>
          <p:cNvPr id="128" name="Google Shape;128;p19"/>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29" name="Google Shape;129;p19"/>
          <p:cNvSpPr txBox="1"/>
          <p:nvPr/>
        </p:nvSpPr>
        <p:spPr>
          <a:xfrm>
            <a:off x="156210" y="549275"/>
            <a:ext cx="9843770" cy="54102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Visual Insights - </a:t>
            </a:r>
            <a:r>
              <a:rPr lang="en-US" altLang="en-US" sz="3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Transaction Type Distribution</a:t>
            </a:r>
            <a:endParaRPr lang="en-US" altLang="en-US" sz="30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131" name="Google Shape;131;p19"/>
          <p:cNvSpPr txBox="1"/>
          <p:nvPr/>
        </p:nvSpPr>
        <p:spPr>
          <a:xfrm>
            <a:off x="156075" y="1443025"/>
            <a:ext cx="3854100" cy="61976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aphicFrame>
        <p:nvGraphicFramePr>
          <p:cNvPr id="2" name="Table 0"/>
          <p:cNvGraphicFramePr>
            <a:graphicFrameLocks noGrp="1"/>
          </p:cNvGraphicFramePr>
          <p:nvPr>
            <p:custDataLst>
              <p:tags r:id="rId1"/>
            </p:custDataLst>
          </p:nvPr>
        </p:nvGraphicFramePr>
        <p:xfrm>
          <a:off x="154940" y="1291590"/>
          <a:ext cx="5905500" cy="3515995"/>
        </p:xfrm>
        <a:graphic>
          <a:graphicData uri="http://schemas.openxmlformats.org/drawingml/2006/table">
            <a:tbl>
              <a:tblPr/>
              <a:tblGrid>
                <a:gridCol w="1476375"/>
                <a:gridCol w="1476375"/>
                <a:gridCol w="1476375"/>
                <a:gridCol w="1476375"/>
              </a:tblGrid>
              <a:tr h="403225">
                <a:tc>
                  <a:txBody>
                    <a:bodyPr/>
                    <a:lstStyle/>
                    <a:p>
                      <a:pPr marL="0" indent="0" algn="ctr">
                        <a:buNone/>
                      </a:pPr>
                      <a:r>
                        <a:rPr lang="en-US" altLang="en-US" sz="1400">
                          <a:solidFill>
                            <a:schemeClr val="bg1"/>
                          </a:solidFill>
                          <a:latin typeface="Montserrat" panose="00000500000000000000" charset="0"/>
                          <a:cs typeface="Montserrat" panose="00000500000000000000" charset="0"/>
                        </a:rPr>
                        <a:t>Type</a:t>
                      </a:r>
                      <a:endParaRPr lang="en-US" altLang="en-US" sz="1400">
                        <a:solidFill>
                          <a:schemeClr val="bg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A5FA8"/>
                    </a:solidFill>
                  </a:tcPr>
                </a:tc>
                <a:tc>
                  <a:txBody>
                    <a:bodyPr/>
                    <a:lstStyle/>
                    <a:p>
                      <a:pPr marL="0" indent="0" algn="ctr">
                        <a:buNone/>
                      </a:pPr>
                      <a:r>
                        <a:rPr lang="en-US" altLang="en-US" sz="1400">
                          <a:solidFill>
                            <a:schemeClr val="bg1"/>
                          </a:solidFill>
                          <a:latin typeface="Montserrat" panose="00000500000000000000" charset="0"/>
                          <a:cs typeface="Montserrat" panose="00000500000000000000" charset="0"/>
                        </a:rPr>
                        <a:t>Count</a:t>
                      </a:r>
                      <a:endParaRPr lang="en-US" altLang="en-US" sz="1400">
                        <a:solidFill>
                          <a:schemeClr val="bg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A5FA8"/>
                    </a:solidFill>
                  </a:tcPr>
                </a:tc>
                <a:tc>
                  <a:txBody>
                    <a:bodyPr/>
                    <a:lstStyle/>
                    <a:p>
                      <a:pPr marL="0" indent="0" algn="ctr">
                        <a:buNone/>
                      </a:pPr>
                      <a:r>
                        <a:rPr lang="en-US" altLang="en-US" sz="1400">
                          <a:solidFill>
                            <a:schemeClr val="bg1"/>
                          </a:solidFill>
                          <a:latin typeface="Montserrat" panose="00000500000000000000" charset="0"/>
                          <a:cs typeface="Montserrat" panose="00000500000000000000" charset="0"/>
                        </a:rPr>
                        <a:t>Share</a:t>
                      </a:r>
                      <a:endParaRPr lang="en-US" altLang="en-US" sz="1400">
                        <a:solidFill>
                          <a:schemeClr val="bg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A5FA8"/>
                    </a:solidFill>
                  </a:tcPr>
                </a:tc>
                <a:tc>
                  <a:txBody>
                    <a:bodyPr/>
                    <a:lstStyle/>
                    <a:p>
                      <a:pPr marL="0" indent="0" algn="ctr">
                        <a:buNone/>
                      </a:pPr>
                      <a:r>
                        <a:rPr lang="en-US" altLang="en-US" sz="1400">
                          <a:solidFill>
                            <a:schemeClr val="bg1"/>
                          </a:solidFill>
                          <a:latin typeface="Montserrat" panose="00000500000000000000" charset="0"/>
                          <a:cs typeface="Montserrat" panose="00000500000000000000" charset="0"/>
                        </a:rPr>
                        <a:t>Fraud?</a:t>
                      </a:r>
                      <a:endParaRPr lang="en-US" altLang="en-US" sz="1400">
                        <a:solidFill>
                          <a:schemeClr val="bg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A5FA8"/>
                    </a:solidFill>
                  </a:tcPr>
                </a:tc>
              </a:tr>
              <a:tr h="677545">
                <a:tc>
                  <a:txBody>
                    <a:bodyPr/>
                    <a:lstStyle/>
                    <a:p>
                      <a:pPr marL="0" indent="0" algn="ctr">
                        <a:buNone/>
                      </a:pPr>
                      <a:r>
                        <a:rPr lang="en-US" altLang="en-US" sz="1400">
                          <a:solidFill>
                            <a:schemeClr val="dk1"/>
                          </a:solidFill>
                          <a:latin typeface="Montserrat" panose="00000500000000000000" charset="0"/>
                          <a:cs typeface="Montserrat" panose="00000500000000000000" charset="0"/>
                        </a:rPr>
                        <a:t>PAYMENT</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22,500</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43.6%</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None</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r h="677545">
                <a:tc>
                  <a:txBody>
                    <a:bodyPr/>
                    <a:lstStyle/>
                    <a:p>
                      <a:pPr marL="0" indent="0" algn="ctr">
                        <a:buNone/>
                      </a:pPr>
                      <a:r>
                        <a:rPr lang="en-US" altLang="en-US" sz="1400">
                          <a:solidFill>
                            <a:schemeClr val="dk1"/>
                          </a:solidFill>
                          <a:latin typeface="Montserrat" panose="00000500000000000000" charset="0"/>
                          <a:cs typeface="Montserrat" panose="00000500000000000000" charset="0"/>
                        </a:rPr>
                        <a:t>CASH_OUT</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14,243</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27.6%</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 51 cases</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r h="676910">
                <a:tc>
                  <a:txBody>
                    <a:bodyPr/>
                    <a:lstStyle/>
                    <a:p>
                      <a:pPr marL="0" indent="0" algn="ctr">
                        <a:buNone/>
                      </a:pPr>
                      <a:r>
                        <a:rPr lang="en-US" altLang="en-US" sz="1400">
                          <a:solidFill>
                            <a:schemeClr val="dk1"/>
                          </a:solidFill>
                          <a:latin typeface="Montserrat" panose="00000500000000000000" charset="0"/>
                          <a:cs typeface="Montserrat" panose="00000500000000000000" charset="0"/>
                        </a:rPr>
                        <a:t>CASH_IN</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 9,358</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18.1%</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None</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r h="677545">
                <a:tc>
                  <a:txBody>
                    <a:bodyPr/>
                    <a:lstStyle/>
                    <a:p>
                      <a:pPr marL="0" indent="0" algn="ctr">
                        <a:buNone/>
                      </a:pPr>
                      <a:r>
                        <a:rPr lang="en-US" altLang="en-US" sz="1400">
                          <a:solidFill>
                            <a:schemeClr val="dk1"/>
                          </a:solidFill>
                          <a:latin typeface="Montserrat" panose="00000500000000000000" charset="0"/>
                          <a:cs typeface="Montserrat" panose="00000500000000000000" charset="0"/>
                        </a:rPr>
                        <a:t>TRANSFER</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 4,855</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 9.4%</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 49 cases</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r h="403225">
                <a:tc>
                  <a:txBody>
                    <a:bodyPr/>
                    <a:lstStyle/>
                    <a:p>
                      <a:pPr marL="0" indent="0" algn="ctr">
                        <a:buNone/>
                      </a:pPr>
                      <a:r>
                        <a:rPr lang="en-US" altLang="en-US" sz="1400">
                          <a:solidFill>
                            <a:schemeClr val="dk1"/>
                          </a:solidFill>
                          <a:latin typeface="Montserrat" panose="00000500000000000000" charset="0"/>
                          <a:cs typeface="Montserrat" panose="00000500000000000000" charset="0"/>
                        </a:rPr>
                        <a:t>DEBIT</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   667</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 1.3%</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altLang="en-US" sz="1400">
                          <a:solidFill>
                            <a:schemeClr val="dk1"/>
                          </a:solidFill>
                          <a:latin typeface="Montserrat" panose="00000500000000000000" charset="0"/>
                          <a:cs typeface="Montserrat" panose="00000500000000000000" charset="0"/>
                        </a:rPr>
                        <a:t>None</a:t>
                      </a:r>
                      <a:endParaRPr lang="en-US" altLang="en-US" sz="1400">
                        <a:solidFill>
                          <a:schemeClr val="dk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bl>
          </a:graphicData>
        </a:graphic>
      </p:graphicFrame>
      <p:pic>
        <p:nvPicPr>
          <p:cNvPr id="7" name="Image 0" descr="/home/claude/v2_chart_type_dist.png"/>
          <p:cNvPicPr>
            <a:picLocks noChangeAspect="1"/>
          </p:cNvPicPr>
          <p:nvPr/>
        </p:nvPicPr>
        <p:blipFill>
          <a:blip r:embed="rId2"/>
          <a:stretch>
            <a:fillRect/>
          </a:stretch>
        </p:blipFill>
        <p:spPr>
          <a:xfrm>
            <a:off x="6678930" y="1195070"/>
            <a:ext cx="5414645" cy="4126865"/>
          </a:xfrm>
          <a:prstGeom prst="rect">
            <a:avLst/>
          </a:prstGeom>
        </p:spPr>
      </p:pic>
      <p:sp>
        <p:nvSpPr>
          <p:cNvPr id="12" name="Text 8"/>
          <p:cNvSpPr/>
          <p:nvPr/>
        </p:nvSpPr>
        <p:spPr>
          <a:xfrm>
            <a:off x="356870" y="4063365"/>
            <a:ext cx="4069080" cy="401955"/>
          </a:xfrm>
          <a:prstGeom prst="rect">
            <a:avLst/>
          </a:prstGeom>
          <a:noFill/>
        </p:spPr>
        <p:txBody>
          <a:bodyPr wrap="square" lIns="0" tIns="0" rIns="0" bIns="0" rtlCol="0" anchor="ctr"/>
          <a:lstStyle/>
          <a:p>
            <a:pPr marL="0" indent="0">
              <a:buNone/>
            </a:pPr>
            <a:endParaRPr lang="en-US" sz="1100" dirty="0"/>
          </a:p>
        </p:txBody>
      </p:sp>
      <p:sp>
        <p:nvSpPr>
          <p:cNvPr id="13" name="Text 9"/>
          <p:cNvSpPr/>
          <p:nvPr/>
        </p:nvSpPr>
        <p:spPr>
          <a:xfrm>
            <a:off x="263525" y="5085080"/>
            <a:ext cx="5636260" cy="1490345"/>
          </a:xfrm>
          <a:prstGeom prst="rect">
            <a:avLst/>
          </a:prstGeom>
          <a:noFill/>
        </p:spPr>
        <p:txBody>
          <a:bodyPr wrap="square" lIns="0" tIns="0" rIns="0" bIns="0" rtlCol="0" anchor="ctr"/>
          <a:lstStyle/>
          <a:p>
            <a:pPr marL="0" indent="0">
              <a:buNone/>
            </a:pPr>
            <a:r>
              <a:rPr lang="en-US" sz="1800" dirty="0">
                <a:solidFill>
                  <a:schemeClr val="tx1"/>
                </a:solidFill>
                <a:latin typeface="Montserrat" panose="00000500000000000000" charset="0"/>
                <a:ea typeface="Calibri" panose="020F0502020204030204" pitchFamily="34" charset="-122"/>
                <a:cs typeface="Montserrat" panose="00000500000000000000" charset="0"/>
              </a:rPr>
              <a:t>Fraud ONLY occurs in CASH_OUT (51 cases, 0.36% rate) and TRANSFER (49 cases, 1.01% rate). PAYMENT, CASH_IN and DEBIT transactions have zero fraud in this dataset.</a:t>
            </a:r>
            <a:endParaRPr lang="en-US" sz="1800" dirty="0">
              <a:solidFill>
                <a:schemeClr val="tx1"/>
              </a:solidFill>
              <a:latin typeface="Montserrat" panose="00000500000000000000" charset="0"/>
              <a:ea typeface="Calibri" panose="020F0502020204030204" pitchFamily="34" charset="-122"/>
              <a:cs typeface="Montserrat" panose="00000500000000000000" charset="0"/>
            </a:endParaRPr>
          </a:p>
        </p:txBody>
      </p:sp>
      <p:sp>
        <p:nvSpPr>
          <p:cNvPr id="18" name="Text 14"/>
          <p:cNvSpPr/>
          <p:nvPr/>
        </p:nvSpPr>
        <p:spPr>
          <a:xfrm>
            <a:off x="6816090" y="5426710"/>
            <a:ext cx="4996815" cy="1410970"/>
          </a:xfrm>
          <a:prstGeom prst="rect">
            <a:avLst/>
          </a:prstGeom>
          <a:noFill/>
        </p:spPr>
        <p:txBody>
          <a:bodyPr wrap="square" lIns="0" tIns="0" rIns="0" bIns="0" rtlCol="0" anchor="t"/>
          <a:lstStyle/>
          <a:p>
            <a:pPr marL="0" indent="0">
              <a:buNone/>
            </a:pPr>
            <a:r>
              <a:rPr lang="en-US" sz="1800" dirty="0">
                <a:solidFill>
                  <a:schemeClr val="tx1"/>
                </a:solidFill>
                <a:latin typeface="Montserrat" panose="00000500000000000000" charset="0"/>
                <a:ea typeface="Calibri" panose="020F0502020204030204" pitchFamily="34" charset="-122"/>
                <a:cs typeface="Montserrat" panose="00000500000000000000" charset="0"/>
              </a:rPr>
              <a:t># Transaction type distribution</a:t>
            </a:r>
            <a:endParaRPr lang="en-US" sz="18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800" dirty="0">
                <a:solidFill>
                  <a:schemeClr val="tx1"/>
                </a:solidFill>
                <a:latin typeface="Montserrat" panose="00000500000000000000" charset="0"/>
                <a:ea typeface="Calibri" panose="020F0502020204030204" pitchFamily="34" charset="-122"/>
                <a:cs typeface="Montserrat" panose="00000500000000000000" charset="0"/>
              </a:rPr>
              <a:t>tc = df['type'].value_counts()</a:t>
            </a:r>
            <a:endParaRPr lang="en-US" sz="18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800" dirty="0">
                <a:solidFill>
                  <a:schemeClr val="tx1"/>
                </a:solidFill>
                <a:latin typeface="Montserrat" panose="00000500000000000000" charset="0"/>
                <a:ea typeface="Calibri" panose="020F0502020204030204" pitchFamily="34" charset="-122"/>
                <a:cs typeface="Montserrat" panose="00000500000000000000" charset="0"/>
              </a:rPr>
              <a:t>tc.plot(kind='bar', color='steelblue')</a:t>
            </a:r>
            <a:endParaRPr lang="en-US" sz="18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800" dirty="0">
                <a:solidFill>
                  <a:schemeClr val="tx1"/>
                </a:solidFill>
                <a:latin typeface="Montserrat" panose="00000500000000000000" charset="0"/>
                <a:ea typeface="Calibri" panose="020F0502020204030204" pitchFamily="34" charset="-122"/>
                <a:cs typeface="Montserrat" panose="00000500000000000000" charset="0"/>
              </a:rPr>
              <a:t>plt.title('Transaction Type Distribution')</a:t>
            </a:r>
            <a:endParaRPr lang="en-US" sz="18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800" dirty="0">
                <a:solidFill>
                  <a:schemeClr val="tx1"/>
                </a:solidFill>
                <a:latin typeface="Montserrat" panose="00000500000000000000" charset="0"/>
                <a:ea typeface="Calibri" panose="020F0502020204030204" pitchFamily="34" charset="-122"/>
                <a:cs typeface="Montserrat" panose="00000500000000000000" charset="0"/>
              </a:rPr>
              <a:t>plt.ylabel('Count'); plt.show()</a:t>
            </a:r>
            <a:endParaRPr lang="en-US" sz="1800" dirty="0">
              <a:solidFill>
                <a:schemeClr val="tx1"/>
              </a:solidFill>
              <a:latin typeface="Montserrat" panose="00000500000000000000" charset="0"/>
              <a:ea typeface="Calibri" panose="020F0502020204030204" pitchFamily="34" charset="-122"/>
              <a:cs typeface="Montserrat" panose="00000500000000000000"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35" name="Shape 135"/>
        <p:cNvGrpSpPr/>
        <p:nvPr/>
      </p:nvGrpSpPr>
      <p:grpSpPr>
        <a:xfrm>
          <a:off x="0" y="0"/>
          <a:ext cx="0" cy="0"/>
          <a:chOff x="0" y="0"/>
          <a:chExt cx="0" cy="0"/>
        </a:xfrm>
      </p:grpSpPr>
      <p:sp>
        <p:nvSpPr>
          <p:cNvPr id="136" name="Google Shape;136;p20"/>
          <p:cNvSpPr txBox="1"/>
          <p:nvPr>
            <p:ph type="sldNum" idx="12"/>
          </p:nvPr>
        </p:nvSpPr>
        <p:spPr>
          <a:xfrm>
            <a:off x="11296611" y="6014423"/>
            <a:ext cx="731700" cy="524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37" name="Google Shape;137;p20"/>
          <p:cNvSpPr txBox="1"/>
          <p:nvPr/>
        </p:nvSpPr>
        <p:spPr>
          <a:xfrm>
            <a:off x="94615" y="620395"/>
            <a:ext cx="11457305" cy="90551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Visual Insights - </a:t>
            </a:r>
            <a:r>
              <a:rPr lang="en-US" alt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Fraud Distribution Analysis</a:t>
            </a:r>
            <a:endParaRPr lang="en-US" alt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pic>
        <p:nvPicPr>
          <p:cNvPr id="7" name="Image 0" descr="/home/claude/v2_chart_donut.png"/>
          <p:cNvPicPr>
            <a:picLocks noChangeAspect="1"/>
          </p:cNvPicPr>
          <p:nvPr/>
        </p:nvPicPr>
        <p:blipFill>
          <a:blip r:embed="rId1"/>
          <a:stretch>
            <a:fillRect/>
          </a:stretch>
        </p:blipFill>
        <p:spPr>
          <a:xfrm>
            <a:off x="0" y="1484630"/>
            <a:ext cx="4749800" cy="3694430"/>
          </a:xfrm>
          <a:prstGeom prst="rect">
            <a:avLst/>
          </a:prstGeom>
        </p:spPr>
      </p:pic>
      <p:pic>
        <p:nvPicPr>
          <p:cNvPr id="8" name="Image 1" descr="/home/claude/v2_chart_fraud_by_type.png"/>
          <p:cNvPicPr>
            <a:picLocks noChangeAspect="1"/>
          </p:cNvPicPr>
          <p:nvPr/>
        </p:nvPicPr>
        <p:blipFill>
          <a:blip r:embed="rId2"/>
          <a:stretch>
            <a:fillRect/>
          </a:stretch>
        </p:blipFill>
        <p:spPr>
          <a:xfrm>
            <a:off x="5880100" y="1484630"/>
            <a:ext cx="5328285" cy="3401060"/>
          </a:xfrm>
          <a:prstGeom prst="rect">
            <a:avLst/>
          </a:prstGeom>
        </p:spPr>
      </p:pic>
      <p:sp>
        <p:nvSpPr>
          <p:cNvPr id="12" name="Text 8"/>
          <p:cNvSpPr/>
          <p:nvPr>
            <p:custDataLst>
              <p:tags r:id="rId3"/>
            </p:custDataLst>
          </p:nvPr>
        </p:nvSpPr>
        <p:spPr>
          <a:xfrm>
            <a:off x="6096000" y="5776595"/>
            <a:ext cx="4968240" cy="894080"/>
          </a:xfrm>
          <a:prstGeom prst="rect">
            <a:avLst/>
          </a:prstGeom>
          <a:noFill/>
        </p:spPr>
        <p:txBody>
          <a:bodyPr wrap="square" rtlCol="0" anchor="ctr"/>
          <a:lstStyle/>
          <a:p>
            <a:pPr marL="0" indent="0">
              <a:buNone/>
            </a:pPr>
            <a:r>
              <a:rPr lang="en-US" sz="1800">
                <a:latin typeface="Montserrat" panose="00000500000000000000" charset="0"/>
                <a:cs typeface="Montserrat" panose="00000500000000000000" charset="0"/>
              </a:rPr>
              <a:t>CASH_OUT: 51 fraud cases (51%)  •  TRANSFER: 49 cases (49%)</a:t>
            </a:r>
            <a:endParaRPr lang="en-US" sz="1800">
              <a:latin typeface="Montserrat" panose="00000500000000000000" charset="0"/>
              <a:cs typeface="Montserrat" panose="00000500000000000000" charset="0"/>
            </a:endParaRPr>
          </a:p>
          <a:p>
            <a:pPr marL="0" indent="0">
              <a:buNone/>
            </a:pPr>
            <a:r>
              <a:rPr lang="en-US" sz="1800">
                <a:latin typeface="Montserrat" panose="00000500000000000000" charset="0"/>
                <a:cs typeface="Montserrat" panose="00000500000000000000" charset="0"/>
              </a:rPr>
              <a:t>Fraud rate: TRANSFER (1.01%) &gt; CASH_OUT (0.36%)</a:t>
            </a:r>
            <a:endParaRPr lang="en-US" sz="1800">
              <a:latin typeface="Montserrat" panose="00000500000000000000" charset="0"/>
              <a:cs typeface="Montserrat" panose="00000500000000000000" charset="0"/>
            </a:endParaRPr>
          </a:p>
        </p:txBody>
      </p:sp>
      <p:sp>
        <p:nvSpPr>
          <p:cNvPr id="10" name="Text 6"/>
          <p:cNvSpPr/>
          <p:nvPr>
            <p:custDataLst>
              <p:tags r:id="rId4"/>
            </p:custDataLst>
          </p:nvPr>
        </p:nvSpPr>
        <p:spPr>
          <a:xfrm>
            <a:off x="317500" y="5696585"/>
            <a:ext cx="4114800" cy="1108075"/>
          </a:xfrm>
          <a:prstGeom prst="rect">
            <a:avLst/>
          </a:prstGeom>
          <a:noFill/>
        </p:spPr>
        <p:txBody>
          <a:bodyPr wrap="square" rtlCol="0" anchor="ctr"/>
          <a:lstStyle/>
          <a:p>
            <a:pPr marL="0" indent="0">
              <a:buNone/>
            </a:pPr>
            <a:r>
              <a:rPr lang="en-US" sz="1800">
                <a:latin typeface="Montserrat" panose="00000500000000000000" charset="0"/>
                <a:cs typeface="Montserrat" panose="00000500000000000000" charset="0"/>
              </a:rPr>
              <a:t>99.81% Legitimate  •  0.19% Fraud — extreme imbalance requiring SMOTE or class weighting</a:t>
            </a:r>
            <a:endParaRPr lang="en-US" sz="1800">
              <a:latin typeface="Montserrat" panose="00000500000000000000" charset="0"/>
              <a:cs typeface="Montserrat" panose="00000500000000000000" charset="0"/>
            </a:endParaRPr>
          </a:p>
        </p:txBody>
      </p:sp>
      <p:sp>
        <p:nvSpPr>
          <p:cNvPr id="5" name="Text 6"/>
          <p:cNvSpPr/>
          <p:nvPr>
            <p:custDataLst>
              <p:tags r:id="rId5"/>
            </p:custDataLst>
          </p:nvPr>
        </p:nvSpPr>
        <p:spPr>
          <a:xfrm>
            <a:off x="335280" y="5300980"/>
            <a:ext cx="4114800" cy="475488"/>
          </a:xfrm>
          <a:prstGeom prst="rect">
            <a:avLst/>
          </a:prstGeom>
          <a:noFill/>
        </p:spPr>
        <p:txBody>
          <a:bodyPr wrap="square" rtlCol="0" anchor="ctr"/>
          <a:lstStyle/>
          <a:p>
            <a:pPr marL="0" indent="0">
              <a:buNone/>
            </a:pPr>
            <a:endParaRPr lang="en-US" sz="1050" dirty="0"/>
          </a:p>
        </p:txBody>
      </p:sp>
      <p:sp>
        <p:nvSpPr>
          <p:cNvPr id="6" name="Text Box 5"/>
          <p:cNvSpPr txBox="1"/>
          <p:nvPr>
            <p:custDataLst>
              <p:tags r:id="rId6"/>
            </p:custDataLst>
          </p:nvPr>
        </p:nvSpPr>
        <p:spPr>
          <a:xfrm>
            <a:off x="263525" y="5339080"/>
            <a:ext cx="4064000" cy="368300"/>
          </a:xfrm>
          <a:prstGeom prst="rect">
            <a:avLst/>
          </a:prstGeom>
          <a:noFill/>
        </p:spPr>
        <p:txBody>
          <a:bodyPr wrap="square" rtlCol="0">
            <a:spAutoFit/>
          </a:bodyPr>
          <a:p>
            <a:r>
              <a:rPr lang="en-US" sz="1800" b="1">
                <a:latin typeface="Montserrat" panose="00000500000000000000" charset="0"/>
                <a:cs typeface="Montserrat" panose="00000500000000000000" charset="0"/>
              </a:rPr>
              <a:t>Class Imbalance</a:t>
            </a:r>
            <a:endParaRPr lang="en-US" sz="1800" b="1">
              <a:latin typeface="Montserrat" panose="00000500000000000000" charset="0"/>
              <a:cs typeface="Montserrat" panose="00000500000000000000" charset="0"/>
            </a:endParaRPr>
          </a:p>
        </p:txBody>
      </p:sp>
      <p:sp>
        <p:nvSpPr>
          <p:cNvPr id="13" name="Text Box 12"/>
          <p:cNvSpPr txBox="1"/>
          <p:nvPr>
            <p:custDataLst>
              <p:tags r:id="rId7"/>
            </p:custDataLst>
          </p:nvPr>
        </p:nvSpPr>
        <p:spPr>
          <a:xfrm>
            <a:off x="6096000" y="5300980"/>
            <a:ext cx="4064000" cy="368300"/>
          </a:xfrm>
          <a:prstGeom prst="rect">
            <a:avLst/>
          </a:prstGeom>
          <a:noFill/>
        </p:spPr>
        <p:txBody>
          <a:bodyPr wrap="square" rtlCol="0">
            <a:spAutoFit/>
          </a:bodyPr>
          <a:p>
            <a:r>
              <a:rPr lang="en-US" sz="1800" b="1">
                <a:latin typeface="Montserrat" panose="00000500000000000000" charset="0"/>
                <a:cs typeface="Montserrat" panose="00000500000000000000" charset="0"/>
              </a:rPr>
              <a:t>Fraud Breakdown</a:t>
            </a:r>
            <a:endParaRPr lang="en-US" sz="1800" b="1">
              <a:latin typeface="Montserrat" panose="00000500000000000000" charset="0"/>
              <a:cs typeface="Montserrat" panose="00000500000000000000"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21"/>
          <p:cNvSpPr txBox="1"/>
          <p:nvPr>
            <p:ph type="sldNum" idx="12"/>
          </p:nvPr>
        </p:nvSpPr>
        <p:spPr>
          <a:xfrm>
            <a:off x="11296611" y="6014423"/>
            <a:ext cx="731700" cy="524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46" name="Google Shape;146;p21"/>
          <p:cNvSpPr txBox="1"/>
          <p:nvPr/>
        </p:nvSpPr>
        <p:spPr>
          <a:xfrm>
            <a:off x="111760" y="581660"/>
            <a:ext cx="11831955" cy="90551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Visual Insights </a:t>
            </a:r>
            <a:r>
              <a:rPr lang="en-US" sz="3500" b="1">
                <a:solidFill>
                  <a:schemeClr val="dk1"/>
                </a:solidFill>
                <a:latin typeface="Montserrat" panose="00000500000000000000" charset="0"/>
                <a:cs typeface="Montserrat" panose="00000500000000000000" charset="0"/>
                <a:sym typeface="+mn-ea"/>
              </a:rPr>
              <a:t>— Fraud Rate &amp; Amount Distribution</a:t>
            </a:r>
            <a:endParaRPr 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pic>
        <p:nvPicPr>
          <p:cNvPr id="7" name="Image 0" descr="/home/claude/v2_chart_fraud_rate.png"/>
          <p:cNvPicPr>
            <a:picLocks noChangeAspect="1"/>
          </p:cNvPicPr>
          <p:nvPr/>
        </p:nvPicPr>
        <p:blipFill>
          <a:blip r:embed="rId1"/>
          <a:stretch>
            <a:fillRect/>
          </a:stretch>
        </p:blipFill>
        <p:spPr>
          <a:xfrm>
            <a:off x="182880" y="1268730"/>
            <a:ext cx="4389120" cy="3205480"/>
          </a:xfrm>
          <a:prstGeom prst="rect">
            <a:avLst/>
          </a:prstGeom>
        </p:spPr>
      </p:pic>
      <p:pic>
        <p:nvPicPr>
          <p:cNvPr id="8" name="Image 1" descr="/home/claude/v2_chart_amount_dist.png"/>
          <p:cNvPicPr>
            <a:picLocks noChangeAspect="1"/>
          </p:cNvPicPr>
          <p:nvPr/>
        </p:nvPicPr>
        <p:blipFill>
          <a:blip r:embed="rId2"/>
          <a:stretch>
            <a:fillRect/>
          </a:stretch>
        </p:blipFill>
        <p:spPr>
          <a:xfrm>
            <a:off x="5375910" y="1124585"/>
            <a:ext cx="5907405" cy="3455035"/>
          </a:xfrm>
          <a:prstGeom prst="rect">
            <a:avLst/>
          </a:prstGeom>
        </p:spPr>
      </p:pic>
      <p:graphicFrame>
        <p:nvGraphicFramePr>
          <p:cNvPr id="9" name="Table 0"/>
          <p:cNvGraphicFramePr>
            <a:graphicFrameLocks noGrp="1"/>
          </p:cNvGraphicFramePr>
          <p:nvPr>
            <p:custDataLst>
              <p:tags r:id="rId3"/>
            </p:custDataLst>
          </p:nvPr>
        </p:nvGraphicFramePr>
        <p:xfrm>
          <a:off x="335280" y="4763770"/>
          <a:ext cx="11525250" cy="2095500"/>
        </p:xfrm>
        <a:graphic>
          <a:graphicData uri="http://schemas.openxmlformats.org/drawingml/2006/table">
            <a:tbl>
              <a:tblPr/>
              <a:tblGrid>
                <a:gridCol w="3841750"/>
                <a:gridCol w="3841750"/>
                <a:gridCol w="3841750"/>
              </a:tblGrid>
              <a:tr h="419100">
                <a:tc>
                  <a:txBody>
                    <a:bodyPr/>
                    <a:lstStyle/>
                    <a:p>
                      <a:pPr marL="0" indent="0" algn="ctr">
                        <a:buNone/>
                      </a:pPr>
                      <a:r>
                        <a:rPr lang="en-US" sz="1800" b="1">
                          <a:solidFill>
                            <a:schemeClr val="bg1"/>
                          </a:solidFill>
                          <a:latin typeface="Montserrat" panose="00000500000000000000" charset="0"/>
                          <a:cs typeface="Montserrat" panose="00000500000000000000" charset="0"/>
                        </a:rPr>
                        <a:t>Metric</a:t>
                      </a:r>
                      <a:endParaRPr lang="en-US" sz="1800" b="1">
                        <a:solidFill>
                          <a:schemeClr val="bg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A5FA8"/>
                    </a:solidFill>
                  </a:tcPr>
                </a:tc>
                <a:tc>
                  <a:txBody>
                    <a:bodyPr/>
                    <a:lstStyle/>
                    <a:p>
                      <a:pPr marL="0" indent="0" algn="ctr">
                        <a:buNone/>
                      </a:pPr>
                      <a:r>
                        <a:rPr lang="en-US" sz="1800" b="1">
                          <a:solidFill>
                            <a:schemeClr val="bg1"/>
                          </a:solidFill>
                          <a:latin typeface="Montserrat" panose="00000500000000000000" charset="0"/>
                          <a:cs typeface="Montserrat" panose="00000500000000000000" charset="0"/>
                        </a:rPr>
                        <a:t>Legitimate</a:t>
                      </a:r>
                      <a:endParaRPr lang="en-US" sz="1800" b="1">
                        <a:solidFill>
                          <a:schemeClr val="bg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A5FA8"/>
                    </a:solidFill>
                  </a:tcPr>
                </a:tc>
                <a:tc>
                  <a:txBody>
                    <a:bodyPr/>
                    <a:lstStyle/>
                    <a:p>
                      <a:pPr marL="0" indent="0" algn="ctr">
                        <a:buNone/>
                      </a:pPr>
                      <a:r>
                        <a:rPr lang="en-US" sz="1800" b="1">
                          <a:solidFill>
                            <a:schemeClr val="bg1"/>
                          </a:solidFill>
                          <a:latin typeface="Montserrat" panose="00000500000000000000" charset="0"/>
                          <a:cs typeface="Montserrat" panose="00000500000000000000" charset="0"/>
                        </a:rPr>
                        <a:t>Fraudulent</a:t>
                      </a:r>
                      <a:endParaRPr lang="en-US" sz="1800" b="1">
                        <a:solidFill>
                          <a:schemeClr val="bg1"/>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solidFill>
                      <a:srgbClr val="1A5FA8"/>
                    </a:solidFill>
                  </a:tcPr>
                </a:tc>
              </a:tr>
              <a:tr h="419100">
                <a:tc>
                  <a:txBody>
                    <a:bodyPr/>
                    <a:lstStyle/>
                    <a:p>
                      <a:pPr marL="0" indent="0" algn="ctr">
                        <a:buNone/>
                      </a:pPr>
                      <a:r>
                        <a:rPr lang="en-US" sz="1800">
                          <a:solidFill>
                            <a:srgbClr val="000000"/>
                          </a:solidFill>
                          <a:latin typeface="Montserrat" panose="00000500000000000000" charset="0"/>
                          <a:cs typeface="Montserrat" panose="00000500000000000000" charset="0"/>
                        </a:rPr>
                        <a:t>Mean Amount</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sz="1800">
                          <a:solidFill>
                            <a:srgbClr val="000000"/>
                          </a:solidFill>
                          <a:latin typeface="Montserrat" panose="00000500000000000000" charset="0"/>
                          <a:cs typeface="Montserrat" panose="00000500000000000000" charset="0"/>
                        </a:rPr>
                        <a:t>$156,716</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sz="1800">
                          <a:solidFill>
                            <a:srgbClr val="000000"/>
                          </a:solidFill>
                          <a:latin typeface="Montserrat" panose="00000500000000000000" charset="0"/>
                          <a:cs typeface="Montserrat" panose="00000500000000000000" charset="0"/>
                        </a:rPr>
                        <a:t>$573,938</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r h="419100">
                <a:tc>
                  <a:txBody>
                    <a:bodyPr/>
                    <a:lstStyle/>
                    <a:p>
                      <a:pPr marL="0" indent="0" algn="ctr">
                        <a:buNone/>
                      </a:pPr>
                      <a:r>
                        <a:rPr lang="en-US" sz="1800">
                          <a:solidFill>
                            <a:srgbClr val="000000"/>
                          </a:solidFill>
                          <a:latin typeface="Montserrat" panose="00000500000000000000" charset="0"/>
                          <a:cs typeface="Montserrat" panose="00000500000000000000" charset="0"/>
                        </a:rPr>
                        <a:t>Median Amount</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sz="1800">
                          <a:solidFill>
                            <a:srgbClr val="000000"/>
                          </a:solidFill>
                          <a:latin typeface="Montserrat" panose="00000500000000000000" charset="0"/>
                          <a:cs typeface="Montserrat" panose="00000500000000000000" charset="0"/>
                        </a:rPr>
                        <a:t>$34,359</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sz="1800">
                          <a:solidFill>
                            <a:srgbClr val="000000"/>
                          </a:solidFill>
                          <a:latin typeface="Montserrat" panose="00000500000000000000" charset="0"/>
                          <a:cs typeface="Montserrat" panose="00000500000000000000" charset="0"/>
                        </a:rPr>
                        <a:t>$31,927</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r h="419100">
                <a:tc>
                  <a:txBody>
                    <a:bodyPr/>
                    <a:lstStyle/>
                    <a:p>
                      <a:pPr marL="0" indent="0" algn="ctr">
                        <a:buNone/>
                      </a:pPr>
                      <a:r>
                        <a:rPr lang="en-US" sz="1800">
                          <a:solidFill>
                            <a:srgbClr val="000000"/>
                          </a:solidFill>
                          <a:latin typeface="Montserrat" panose="00000500000000000000" charset="0"/>
                          <a:cs typeface="Montserrat" panose="00000500000000000000" charset="0"/>
                        </a:rPr>
                        <a:t>Max Amount</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sz="1800">
                          <a:solidFill>
                            <a:srgbClr val="000000"/>
                          </a:solidFill>
                          <a:latin typeface="Montserrat" panose="00000500000000000000" charset="0"/>
                          <a:cs typeface="Montserrat" panose="00000500000000000000" charset="0"/>
                        </a:rPr>
                        <a:t>$5,677,662</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sz="1800">
                          <a:solidFill>
                            <a:srgbClr val="000000"/>
                          </a:solidFill>
                          <a:latin typeface="Montserrat" panose="00000500000000000000" charset="0"/>
                          <a:cs typeface="Montserrat" panose="00000500000000000000" charset="0"/>
                        </a:rPr>
                        <a:t>$10,000,000</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r h="419100">
                <a:tc>
                  <a:txBody>
                    <a:bodyPr/>
                    <a:lstStyle/>
                    <a:p>
                      <a:pPr marL="0" indent="0" algn="ctr">
                        <a:buNone/>
                      </a:pPr>
                      <a:r>
                        <a:rPr lang="en-US" sz="1800">
                          <a:solidFill>
                            <a:srgbClr val="000000"/>
                          </a:solidFill>
                          <a:latin typeface="Montserrat" panose="00000500000000000000" charset="0"/>
                          <a:cs typeface="Montserrat" panose="00000500000000000000" charset="0"/>
                        </a:rPr>
                        <a:t>Std Dev</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sz="1800">
                          <a:solidFill>
                            <a:srgbClr val="000000"/>
                          </a:solidFill>
                          <a:latin typeface="Montserrat" panose="00000500000000000000" charset="0"/>
                          <a:cs typeface="Montserrat" panose="00000500000000000000" charset="0"/>
                        </a:rPr>
                        <a:t>$318,954</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c>
                  <a:txBody>
                    <a:bodyPr/>
                    <a:lstStyle/>
                    <a:p>
                      <a:pPr marL="0" indent="0" algn="ctr">
                        <a:buNone/>
                      </a:pPr>
                      <a:r>
                        <a:rPr lang="en-US" sz="1800">
                          <a:solidFill>
                            <a:srgbClr val="000000"/>
                          </a:solidFill>
                          <a:latin typeface="Montserrat" panose="00000500000000000000" charset="0"/>
                          <a:cs typeface="Montserrat" panose="00000500000000000000" charset="0"/>
                        </a:rPr>
                        <a:t>$1,644,365</a:t>
                      </a:r>
                      <a:endParaRPr lang="en-US" sz="1800">
                        <a:solidFill>
                          <a:srgbClr val="000000"/>
                        </a:solidFill>
                        <a:latin typeface="Montserrat" panose="00000500000000000000" charset="0"/>
                        <a:cs typeface="Montserrat" panose="00000500000000000000" charset="0"/>
                      </a:endParaRPr>
                    </a:p>
                  </a:txBody>
                  <a:tcPr anchor="ctr">
                    <a:lnL w="6350" cap="flat" cmpd="sng" algn="ctr">
                      <a:solidFill>
                        <a:srgbClr val="D0DFF0"/>
                      </a:solidFill>
                      <a:prstDash val="solid"/>
                      <a:round/>
                      <a:headEnd type="none" w="med" len="med"/>
                      <a:tailEnd type="none" w="med" len="med"/>
                    </a:lnL>
                    <a:lnR w="6350" cap="flat" cmpd="sng" algn="ctr">
                      <a:solidFill>
                        <a:srgbClr val="D0DFF0"/>
                      </a:solidFill>
                      <a:prstDash val="solid"/>
                      <a:round/>
                      <a:headEnd type="none" w="med" len="med"/>
                      <a:tailEnd type="none" w="med" len="med"/>
                    </a:lnR>
                    <a:lnT w="6350" cap="flat" cmpd="sng" algn="ctr">
                      <a:solidFill>
                        <a:srgbClr val="D0DFF0"/>
                      </a:solidFill>
                      <a:prstDash val="solid"/>
                      <a:round/>
                      <a:headEnd type="none" w="med" len="med"/>
                      <a:tailEnd type="none" w="med" len="med"/>
                    </a:lnT>
                    <a:lnB w="6350" cap="flat" cmpd="sng" algn="ctr">
                      <a:solidFill>
                        <a:srgbClr val="D0DFF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21"/>
          <p:cNvSpPr txBox="1"/>
          <p:nvPr>
            <p:ph type="sldNum" idx="12"/>
          </p:nvPr>
        </p:nvSpPr>
        <p:spPr>
          <a:xfrm>
            <a:off x="11296611" y="6014423"/>
            <a:ext cx="731700" cy="524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46" name="Google Shape;146;p21"/>
          <p:cNvSpPr txBox="1"/>
          <p:nvPr/>
        </p:nvSpPr>
        <p:spPr>
          <a:xfrm>
            <a:off x="111760" y="581660"/>
            <a:ext cx="11831955" cy="90551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Visual Insights </a:t>
            </a:r>
            <a:r>
              <a:rPr lang="en-US" sz="3500" b="1">
                <a:solidFill>
                  <a:schemeClr val="dk1"/>
                </a:solidFill>
                <a:latin typeface="Montserrat" panose="00000500000000000000" charset="0"/>
                <a:cs typeface="Montserrat" panose="00000500000000000000" charset="0"/>
                <a:sym typeface="+mn-ea"/>
              </a:rPr>
              <a:t>— Feature Correlation Heatmap</a:t>
            </a:r>
            <a:endParaRPr lang="en-US" sz="3500">
              <a:solidFill>
                <a:schemeClr val="dk1"/>
              </a:solidFill>
            </a:endParaRPr>
          </a:p>
          <a:p>
            <a:pPr marL="0" marR="0" lvl="0" indent="0" algn="l" rtl="0">
              <a:lnSpc>
                <a:spcPct val="100000"/>
              </a:lnSpc>
              <a:spcBef>
                <a:spcPts val="0"/>
              </a:spcBef>
              <a:spcAft>
                <a:spcPts val="0"/>
              </a:spcAft>
              <a:buClr>
                <a:srgbClr val="000000"/>
              </a:buClr>
              <a:buSzPts val="3500"/>
              <a:buFont typeface="Arial" panose="020B0604020202020204"/>
              <a:buNone/>
            </a:pPr>
            <a:endPar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4" name="Text 6"/>
          <p:cNvSpPr/>
          <p:nvPr/>
        </p:nvSpPr>
        <p:spPr>
          <a:xfrm>
            <a:off x="7031990" y="1285875"/>
            <a:ext cx="5127625" cy="3260725"/>
          </a:xfrm>
          <a:prstGeom prst="rect">
            <a:avLst/>
          </a:prstGeom>
          <a:noFill/>
        </p:spPr>
        <p:txBody>
          <a:bodyPr wrap="square" rtlCol="0" anchor="ctr"/>
          <a:lstStyle/>
          <a:p>
            <a:pPr marL="342900" indent="-342900">
              <a:spcAft>
                <a:spcPts val="400"/>
              </a:spcAft>
              <a:buSzPct val="100000"/>
              <a:buChar char="•"/>
            </a:pPr>
            <a:r>
              <a:rPr lang="en-US" sz="1800">
                <a:latin typeface="Montserrat" panose="00000500000000000000" charset="0"/>
                <a:cs typeface="Montserrat" panose="00000500000000000000" charset="0"/>
              </a:rPr>
              <a:t>amount has the strongest positive correlation with isFraud (0.056)</a:t>
            </a:r>
            <a:endParaRPr lang="en-US" sz="1800">
              <a:latin typeface="Montserrat" panose="00000500000000000000" charset="0"/>
              <a:cs typeface="Montserrat" panose="00000500000000000000" charset="0"/>
            </a:endParaRPr>
          </a:p>
          <a:p>
            <a:pPr marL="342900" indent="-342900">
              <a:spcAft>
                <a:spcPts val="400"/>
              </a:spcAft>
              <a:buSzPct val="100000"/>
              <a:buChar char="•"/>
            </a:pPr>
            <a:r>
              <a:rPr lang="en-US" sz="1800">
                <a:latin typeface="Montserrat" panose="00000500000000000000" charset="0"/>
                <a:cs typeface="Montserrat" panose="00000500000000000000" charset="0"/>
              </a:rPr>
              <a:t>oldbalanceOrg &amp; newbalanceOrig show negative correlations</a:t>
            </a:r>
            <a:endParaRPr lang="en-US" sz="1800">
              <a:latin typeface="Montserrat" panose="00000500000000000000" charset="0"/>
              <a:cs typeface="Montserrat" panose="00000500000000000000" charset="0"/>
            </a:endParaRPr>
          </a:p>
          <a:p>
            <a:pPr marL="342900" indent="-342900">
              <a:spcAft>
                <a:spcPts val="400"/>
              </a:spcAft>
              <a:buSzPct val="100000"/>
              <a:buChar char="•"/>
            </a:pPr>
            <a:r>
              <a:rPr lang="en-US" sz="1800">
                <a:latin typeface="Montserrat" panose="00000500000000000000" charset="0"/>
                <a:cs typeface="Montserrat" panose="00000500000000000000" charset="0"/>
              </a:rPr>
              <a:t>step has a small negative correlation with fraud</a:t>
            </a:r>
            <a:endParaRPr lang="en-US" sz="1800">
              <a:latin typeface="Montserrat" panose="00000500000000000000" charset="0"/>
              <a:cs typeface="Montserrat" panose="00000500000000000000" charset="0"/>
            </a:endParaRPr>
          </a:p>
          <a:p>
            <a:pPr marL="342900" indent="-342900">
              <a:spcAft>
                <a:spcPts val="400"/>
              </a:spcAft>
              <a:buSzPct val="100000"/>
              <a:buChar char="•"/>
            </a:pPr>
            <a:r>
              <a:rPr lang="en-US" sz="1800">
                <a:latin typeface="Montserrat" panose="00000500000000000000" charset="0"/>
                <a:cs typeface="Montserrat" panose="00000500000000000000" charset="0"/>
              </a:rPr>
              <a:t>oldbalanceDest and newbalanceDest have near-zero correlation</a:t>
            </a:r>
            <a:endParaRPr lang="en-US" sz="1800">
              <a:latin typeface="Montserrat" panose="00000500000000000000" charset="0"/>
              <a:cs typeface="Montserrat" panose="00000500000000000000" charset="0"/>
            </a:endParaRPr>
          </a:p>
          <a:p>
            <a:pPr marL="342900" indent="-342900">
              <a:spcAft>
                <a:spcPts val="400"/>
              </a:spcAft>
              <a:buSzPct val="100000"/>
              <a:buChar char="•"/>
            </a:pPr>
            <a:r>
              <a:rPr lang="en-US" sz="1800">
                <a:latin typeface="Montserrat" panose="00000500000000000000" charset="0"/>
                <a:cs typeface="Montserrat" panose="00000500000000000000" charset="0"/>
              </a:rPr>
              <a:t>No single feature is highly correlated — ML combination needed</a:t>
            </a:r>
            <a:endParaRPr lang="en-US" sz="1800">
              <a:latin typeface="Montserrat" panose="00000500000000000000" charset="0"/>
              <a:cs typeface="Montserrat" panose="00000500000000000000" charset="0"/>
            </a:endParaRPr>
          </a:p>
        </p:txBody>
      </p:sp>
      <p:sp>
        <p:nvSpPr>
          <p:cNvPr id="12" name="Text 9"/>
          <p:cNvSpPr/>
          <p:nvPr/>
        </p:nvSpPr>
        <p:spPr>
          <a:xfrm>
            <a:off x="7103745" y="4653280"/>
            <a:ext cx="3356610" cy="342265"/>
          </a:xfrm>
          <a:prstGeom prst="rect">
            <a:avLst/>
          </a:prstGeom>
          <a:noFill/>
        </p:spPr>
        <p:txBody>
          <a:bodyPr wrap="square" lIns="0" tIns="0" rIns="0" bIns="0" rtlCol="0" anchor="ctr"/>
          <a:lstStyle/>
          <a:p>
            <a:pPr marL="0" indent="0">
              <a:buNone/>
            </a:pPr>
            <a:r>
              <a:rPr lang="en-US" sz="1800" b="1">
                <a:latin typeface="Montserrat" panose="00000500000000000000" charset="0"/>
                <a:cs typeface="Montserrat" panose="00000500000000000000" charset="0"/>
              </a:rPr>
              <a:t>Why Correlation Matters</a:t>
            </a:r>
            <a:endParaRPr lang="en-US" sz="1800" b="1">
              <a:latin typeface="Montserrat" panose="00000500000000000000" charset="0"/>
              <a:cs typeface="Montserrat" panose="00000500000000000000" charset="0"/>
            </a:endParaRPr>
          </a:p>
        </p:txBody>
      </p:sp>
      <p:sp>
        <p:nvSpPr>
          <p:cNvPr id="13" name="Text 10"/>
          <p:cNvSpPr/>
          <p:nvPr/>
        </p:nvSpPr>
        <p:spPr>
          <a:xfrm>
            <a:off x="7103745" y="5157470"/>
            <a:ext cx="4839970" cy="1606550"/>
          </a:xfrm>
          <a:prstGeom prst="rect">
            <a:avLst/>
          </a:prstGeom>
          <a:noFill/>
        </p:spPr>
        <p:txBody>
          <a:bodyPr wrap="square" lIns="0" tIns="0" rIns="0" bIns="0" rtlCol="0" anchor="ctr"/>
          <a:lstStyle/>
          <a:p>
            <a:pPr marL="0" indent="0" algn="l">
              <a:spcAft>
                <a:spcPts val="400"/>
              </a:spcAft>
              <a:buSzTx/>
              <a:buNone/>
            </a:pPr>
            <a:r>
              <a:rPr lang="en-US" sz="1800">
                <a:latin typeface="Montserrat" panose="00000500000000000000" charset="0"/>
                <a:cs typeface="Montserrat" panose="00000500000000000000" charset="0"/>
              </a:rPr>
              <a:t>Low individual correlations mean fraud cannot be detected by simple rules. The combination of amount, balance changes and transaction type together forms a strong fraud signal — ideal for ensemble ML models like Random Forest.</a:t>
            </a:r>
            <a:endParaRPr lang="en-US" sz="1800">
              <a:latin typeface="Montserrat" panose="00000500000000000000" charset="0"/>
              <a:cs typeface="Montserrat" panose="00000500000000000000" charset="0"/>
            </a:endParaRPr>
          </a:p>
        </p:txBody>
      </p:sp>
      <p:pic>
        <p:nvPicPr>
          <p:cNvPr id="14" name="Picture 13" descr="visual_insights"/>
          <p:cNvPicPr>
            <a:picLocks noChangeAspect="1"/>
          </p:cNvPicPr>
          <p:nvPr/>
        </p:nvPicPr>
        <p:blipFill>
          <a:blip r:embed="rId1"/>
          <a:stretch>
            <a:fillRect/>
          </a:stretch>
        </p:blipFill>
        <p:spPr>
          <a:xfrm>
            <a:off x="0" y="1286510"/>
            <a:ext cx="6880860" cy="55721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2" name="Shape 152"/>
        <p:cNvGrpSpPr/>
        <p:nvPr/>
      </p:nvGrpSpPr>
      <p:grpSpPr>
        <a:xfrm>
          <a:off x="0" y="0"/>
          <a:ext cx="0" cy="0"/>
          <a:chOff x="0" y="0"/>
          <a:chExt cx="0" cy="0"/>
        </a:xfrm>
      </p:grpSpPr>
      <p:sp>
        <p:nvSpPr>
          <p:cNvPr id="153" name="Google Shape;153;p22"/>
          <p:cNvSpPr/>
          <p:nvPr/>
        </p:nvSpPr>
        <p:spPr>
          <a:xfrm>
            <a:off x="128270" y="1269365"/>
            <a:ext cx="4817745" cy="292227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33"/>
              <a:buFont typeface="Arial" panose="020B0604020202020204"/>
              <a:buNone/>
            </a:pPr>
            <a:endParaRPr>
              <a:solidFill>
                <a:schemeClr val="dk1"/>
              </a:solidFill>
            </a:endParaRPr>
          </a:p>
          <a:p>
            <a:pPr marL="342900" indent="-342900">
              <a:spcAft>
                <a:spcPts val="400"/>
              </a:spcAft>
              <a:buSzPct val="100000"/>
              <a:buChar char="•"/>
            </a:pPr>
            <a:r>
              <a:rPr lang="en-US" dirty="0">
                <a:solidFill>
                  <a:schemeClr val="tx1"/>
                </a:solidFill>
                <a:latin typeface="Montserrat" panose="00000500000000000000" charset="0"/>
                <a:ea typeface="Calibri" panose="020F0502020204030204" pitchFamily="34" charset="-122"/>
                <a:cs typeface="Montserrat" panose="00000500000000000000" charset="0"/>
                <a:sym typeface="+mn-ea"/>
              </a:rPr>
              <a:t>Encodes 'type' column (LabelEncoder)</a:t>
            </a:r>
            <a:endParaRPr lang="en-US" dirty="0">
              <a:solidFill>
                <a:schemeClr val="tx1"/>
              </a:solidFill>
              <a:latin typeface="Montserrat" panose="00000500000000000000" charset="0"/>
              <a:cs typeface="Montserrat" panose="00000500000000000000" charset="0"/>
            </a:endParaRPr>
          </a:p>
          <a:p>
            <a:pPr marL="342900" indent="-342900">
              <a:spcAft>
                <a:spcPts val="400"/>
              </a:spcAft>
              <a:buSzPct val="100000"/>
              <a:buChar char="•"/>
            </a:pPr>
            <a:r>
              <a:rPr lang="en-US" dirty="0">
                <a:solidFill>
                  <a:schemeClr val="tx1"/>
                </a:solidFill>
                <a:latin typeface="Montserrat" panose="00000500000000000000" charset="0"/>
                <a:ea typeface="Calibri" panose="020F0502020204030204" pitchFamily="34" charset="-122"/>
                <a:cs typeface="Montserrat" panose="00000500000000000000" charset="0"/>
                <a:sym typeface="+mn-ea"/>
              </a:rPr>
              <a:t>Drops non-numeric ID columns (nameOrig, nameDest)</a:t>
            </a:r>
            <a:endParaRPr lang="en-US" dirty="0">
              <a:solidFill>
                <a:schemeClr val="tx1"/>
              </a:solidFill>
              <a:latin typeface="Montserrat" panose="00000500000000000000" charset="0"/>
              <a:cs typeface="Montserrat" panose="00000500000000000000" charset="0"/>
            </a:endParaRPr>
          </a:p>
          <a:p>
            <a:pPr marL="342900" indent="-342900">
              <a:spcAft>
                <a:spcPts val="400"/>
              </a:spcAft>
              <a:buSzPct val="100000"/>
              <a:buChar char="•"/>
            </a:pPr>
            <a:r>
              <a:rPr lang="en-US" dirty="0">
                <a:solidFill>
                  <a:schemeClr val="tx1"/>
                </a:solidFill>
                <a:latin typeface="Montserrat" panose="00000500000000000000" charset="0"/>
                <a:ea typeface="Calibri" panose="020F0502020204030204" pitchFamily="34" charset="-122"/>
                <a:cs typeface="Montserrat" panose="00000500000000000000" charset="0"/>
                <a:sym typeface="+mn-ea"/>
              </a:rPr>
              <a:t>Scales Amount &amp; balance features with StandardScaler</a:t>
            </a:r>
            <a:endParaRPr lang="en-US" dirty="0">
              <a:solidFill>
                <a:schemeClr val="tx1"/>
              </a:solidFill>
              <a:latin typeface="Montserrat" panose="00000500000000000000" charset="0"/>
              <a:cs typeface="Montserrat" panose="00000500000000000000" charset="0"/>
            </a:endParaRPr>
          </a:p>
          <a:p>
            <a:pPr marL="342900" indent="-342900">
              <a:spcAft>
                <a:spcPts val="400"/>
              </a:spcAft>
              <a:buSzPct val="100000"/>
              <a:buChar char="•"/>
            </a:pPr>
            <a:r>
              <a:rPr lang="en-US" dirty="0">
                <a:solidFill>
                  <a:schemeClr val="tx1"/>
                </a:solidFill>
                <a:latin typeface="Montserrat" panose="00000500000000000000" charset="0"/>
                <a:ea typeface="Calibri" panose="020F0502020204030204" pitchFamily="34" charset="-122"/>
                <a:cs typeface="Montserrat" panose="00000500000000000000" charset="0"/>
                <a:sym typeface="+mn-ea"/>
              </a:rPr>
              <a:t>Applies SMOTE(</a:t>
            </a:r>
            <a:r>
              <a:rPr lang="en-US" altLang="en-US" dirty="0">
                <a:solidFill>
                  <a:schemeClr val="tx1"/>
                </a:solidFill>
                <a:latin typeface="Montserrat" panose="00000500000000000000" charset="0"/>
                <a:ea typeface="Calibri" panose="020F0502020204030204" pitchFamily="34" charset="-122"/>
                <a:cs typeface="Montserrat" panose="00000500000000000000" charset="0"/>
                <a:sym typeface="+mn-ea"/>
              </a:rPr>
              <a:t>Synthetic Minority Over-sampling Technique.</a:t>
            </a:r>
            <a:r>
              <a:rPr lang="en-US" dirty="0">
                <a:solidFill>
                  <a:schemeClr val="tx1"/>
                </a:solidFill>
                <a:latin typeface="Montserrat" panose="00000500000000000000" charset="0"/>
                <a:ea typeface="Calibri" panose="020F0502020204030204" pitchFamily="34" charset="-122"/>
                <a:cs typeface="Montserrat" panose="00000500000000000000" charset="0"/>
                <a:sym typeface="+mn-ea"/>
              </a:rPr>
              <a:t>) to balance the 0.194% fraud minority class</a:t>
            </a:r>
            <a:endParaRPr lang="en-US" dirty="0">
              <a:solidFill>
                <a:schemeClr val="tx1"/>
              </a:solidFill>
              <a:latin typeface="Montserrat" panose="00000500000000000000" charset="0"/>
              <a:cs typeface="Montserrat" panose="00000500000000000000" charset="0"/>
            </a:endParaRPr>
          </a:p>
          <a:p>
            <a:pPr marL="342900" indent="-342900">
              <a:spcAft>
                <a:spcPts val="400"/>
              </a:spcAft>
              <a:buSzPct val="100000"/>
              <a:buChar char="•"/>
            </a:pPr>
            <a:r>
              <a:rPr lang="en-US" dirty="0">
                <a:solidFill>
                  <a:schemeClr val="tx1"/>
                </a:solidFill>
                <a:latin typeface="Montserrat" panose="00000500000000000000" charset="0"/>
                <a:ea typeface="Calibri" panose="020F0502020204030204" pitchFamily="34" charset="-122"/>
                <a:cs typeface="Montserrat" panose="00000500000000000000" charset="0"/>
                <a:sym typeface="+mn-ea"/>
              </a:rPr>
              <a:t>Stratified 80/20 train-test split preserving fraud ratio</a:t>
            </a:r>
            <a:endParaRPr lang="en-US" dirty="0">
              <a:solidFill>
                <a:schemeClr val="tx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Clr>
                <a:srgbClr val="000000"/>
              </a:buClr>
              <a:buSzPts val="1333"/>
              <a:buFont typeface="Arial" panose="020B0604020202020204"/>
              <a:buNone/>
            </a:pPr>
            <a:endParaRPr sz="1900">
              <a:solidFill>
                <a:schemeClr val="dk1"/>
              </a:solidFill>
            </a:endParaRPr>
          </a:p>
          <a:p>
            <a:pPr marL="0" marR="0" lvl="0" indent="0" algn="l" rtl="0">
              <a:lnSpc>
                <a:spcPct val="100000"/>
              </a:lnSpc>
              <a:spcBef>
                <a:spcPts val="0"/>
              </a:spcBef>
              <a:spcAft>
                <a:spcPts val="0"/>
              </a:spcAft>
              <a:buClr>
                <a:srgbClr val="000000"/>
              </a:buClr>
              <a:buSzPts val="1333"/>
              <a:buFont typeface="Arial" panose="020B0604020202020204"/>
              <a:buNone/>
            </a:pPr>
            <a:endParaRPr lang="en-US" sz="1900" i="0" u="none" strike="noStrike" cap="none" dirty="0">
              <a:solidFill>
                <a:srgbClr val="0D3B6E"/>
              </a:solidFill>
              <a:latin typeface="Calibri" panose="020F0502020204030204" pitchFamily="34" charset="0"/>
              <a:ea typeface="Calibri" panose="020F0502020204030204" pitchFamily="34" charset="-122"/>
              <a:cs typeface="Calibri" panose="020F0502020204030204" pitchFamily="34" charset="-120"/>
            </a:endParaRPr>
          </a:p>
          <a:p>
            <a:pPr marL="0" marR="0" lvl="0" indent="0" algn="l" rtl="0">
              <a:lnSpc>
                <a:spcPct val="100000"/>
              </a:lnSpc>
              <a:spcBef>
                <a:spcPts val="0"/>
              </a:spcBef>
              <a:spcAft>
                <a:spcPts val="0"/>
              </a:spcAft>
              <a:buClr>
                <a:srgbClr val="000000"/>
              </a:buClr>
              <a:buSzPts val="1333"/>
              <a:buFont typeface="Arial" panose="020B0604020202020204"/>
              <a:buNone/>
            </a:pPr>
            <a:endParaRPr sz="1900" i="0" u="none" strike="noStrike" cap="none">
              <a:solidFill>
                <a:schemeClr val="dk1"/>
              </a:solidFill>
            </a:endParaRPr>
          </a:p>
          <a:p>
            <a:pPr marL="0" marR="0" lvl="0" indent="0" algn="l" rtl="0">
              <a:lnSpc>
                <a:spcPct val="100000"/>
              </a:lnSpc>
              <a:spcBef>
                <a:spcPts val="0"/>
              </a:spcBef>
              <a:spcAft>
                <a:spcPts val="0"/>
              </a:spcAft>
              <a:buClr>
                <a:srgbClr val="000000"/>
              </a:buClr>
              <a:buSzPts val="1333"/>
              <a:buFont typeface="Arial" panose="020B0604020202020204"/>
              <a:buNone/>
            </a:pPr>
            <a:endParaRPr sz="1900" i="0" u="none" strike="noStrike" cap="none">
              <a:solidFill>
                <a:schemeClr val="dk1"/>
              </a:solidFill>
            </a:endParaRPr>
          </a:p>
          <a:p>
            <a:pPr marL="0" marR="0" lvl="0" indent="0" algn="l" rtl="0">
              <a:lnSpc>
                <a:spcPct val="100000"/>
              </a:lnSpc>
              <a:spcBef>
                <a:spcPts val="0"/>
              </a:spcBef>
              <a:spcAft>
                <a:spcPts val="0"/>
              </a:spcAft>
              <a:buClr>
                <a:srgbClr val="000000"/>
              </a:buClr>
              <a:buSzPts val="1333"/>
              <a:buFont typeface="Arial" panose="020B0604020202020204"/>
              <a:buNone/>
            </a:pPr>
            <a:endParaRPr sz="1900" b="1" i="0" u="sng" strike="noStrike" cap="none">
              <a:solidFill>
                <a:schemeClr val="dk1"/>
              </a:solidFill>
            </a:endParaRPr>
          </a:p>
          <a:p>
            <a:pPr marL="0" marR="0" lvl="0" indent="0" algn="l" rtl="0">
              <a:lnSpc>
                <a:spcPct val="100000"/>
              </a:lnSpc>
              <a:spcBef>
                <a:spcPts val="0"/>
              </a:spcBef>
              <a:spcAft>
                <a:spcPts val="0"/>
              </a:spcAft>
              <a:buClr>
                <a:srgbClr val="000000"/>
              </a:buClr>
              <a:buSzPts val="2400"/>
              <a:buFont typeface="Arial" panose="020B0604020202020204"/>
              <a:buNone/>
            </a:pPr>
            <a:endParaRPr sz="1900" i="0" u="none" strike="noStrike" cap="none">
              <a:solidFill>
                <a:schemeClr val="dk1"/>
              </a:solidFill>
            </a:endParaRPr>
          </a:p>
        </p:txBody>
      </p:sp>
      <p:sp>
        <p:nvSpPr>
          <p:cNvPr id="154" name="Google Shape;154;p22"/>
          <p:cNvSpPr txBox="1"/>
          <p:nvPr/>
        </p:nvSpPr>
        <p:spPr>
          <a:xfrm>
            <a:off x="263818" y="621170"/>
            <a:ext cx="9247200" cy="78105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rPr>
              <a:t>Data Preprocessing</a:t>
            </a:r>
            <a:endParaRPr sz="35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
        <p:nvSpPr>
          <p:cNvPr id="155" name="Google Shape;155;p22"/>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1" name="Text 9"/>
          <p:cNvSpPr/>
          <p:nvPr/>
        </p:nvSpPr>
        <p:spPr>
          <a:xfrm>
            <a:off x="263525" y="4149090"/>
            <a:ext cx="4441825" cy="274320"/>
          </a:xfrm>
          <a:prstGeom prst="rect">
            <a:avLst/>
          </a:prstGeom>
          <a:noFill/>
        </p:spPr>
        <p:txBody>
          <a:bodyPr wrap="square" lIns="0" tIns="0" rIns="0" bIns="0" rtlCol="0" anchor="ctr"/>
          <a:lstStyle/>
          <a:p>
            <a:pPr marL="0" indent="0">
              <a:buNone/>
            </a:pPr>
            <a:r>
              <a:rPr lang="en-US" sz="1800" b="1" dirty="0">
                <a:solidFill>
                  <a:schemeClr val="tx1"/>
                </a:solidFill>
                <a:latin typeface="Montserrat" panose="00000500000000000000" charset="0"/>
                <a:ea typeface="Calibri" panose="020F0502020204030204" pitchFamily="34" charset="-122"/>
                <a:cs typeface="Montserrat" panose="00000500000000000000" charset="0"/>
              </a:rPr>
              <a:t>Why SMOTE?</a:t>
            </a:r>
            <a:endParaRPr lang="en-US" sz="1800" b="1" dirty="0">
              <a:solidFill>
                <a:schemeClr val="tx1"/>
              </a:solidFill>
              <a:latin typeface="Montserrat" panose="00000500000000000000" charset="0"/>
              <a:ea typeface="Calibri" panose="020F0502020204030204" pitchFamily="34" charset="-122"/>
              <a:cs typeface="Montserrat" panose="00000500000000000000" charset="0"/>
            </a:endParaRPr>
          </a:p>
        </p:txBody>
      </p:sp>
      <p:sp>
        <p:nvSpPr>
          <p:cNvPr id="2" name="Text Box 1"/>
          <p:cNvSpPr txBox="1"/>
          <p:nvPr/>
        </p:nvSpPr>
        <p:spPr>
          <a:xfrm>
            <a:off x="4831080" y="404495"/>
            <a:ext cx="3785235" cy="6612255"/>
          </a:xfrm>
          <a:prstGeom prst="rect">
            <a:avLst/>
          </a:prstGeom>
          <a:noFill/>
        </p:spPr>
        <p:txBody>
          <a:bodyPr wrap="square" rtlCol="0" anchor="t">
            <a:noAutofit/>
          </a:bodyPr>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import pandas as pd</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from sklearn.preprocessing import (</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LabelEncoder, StandardScaler)</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from sklearn.model_selection import (</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train_test_split)</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from imblearn.over_sampling import SMOTE</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algn="l">
              <a:buClrTx/>
              <a:buSzTx/>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from google.colab import drive</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algn="l">
              <a:buClrTx/>
              <a:buSzTx/>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drive.mount('/content/drive')</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algn="l">
              <a:buClrTx/>
              <a:buSzTx/>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filepath ='/content/drive/MyDrive/data_file.csv'</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algn="l">
              <a:buClrTx/>
              <a:buSzTx/>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data = pd.read_csv(filepath)</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Encode transaction type</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le = LabelEncoder()</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data</a:t>
            </a: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['type'] = le.fit_transform(</a:t>
            </a: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data</a:t>
            </a: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['type'])</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Drop ID columns</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data</a:t>
            </a: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.drop(['nameOrig','nameDest'],</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axis=1, inplace=True)</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Features &amp; target</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X = </a:t>
            </a: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data</a:t>
            </a: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.drop('isFraud', axis=1)</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y = </a:t>
            </a: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data</a:t>
            </a: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['isFraud']</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Scale numeric features</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scaler = StandardScaler()</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X_scaled = scaler.fit_transform(X)</a:t>
            </a:r>
            <a:endPar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endParaRPr>
          </a:p>
        </p:txBody>
      </p:sp>
      <p:sp>
        <p:nvSpPr>
          <p:cNvPr id="3" name="Text Box 2"/>
          <p:cNvSpPr txBox="1"/>
          <p:nvPr/>
        </p:nvSpPr>
        <p:spPr>
          <a:xfrm>
            <a:off x="191135" y="4580890"/>
            <a:ext cx="4473575" cy="2218055"/>
          </a:xfrm>
          <a:prstGeom prst="rect">
            <a:avLst/>
          </a:prstGeom>
          <a:noFill/>
        </p:spPr>
        <p:txBody>
          <a:bodyPr wrap="square" rtlCol="0" anchor="t">
            <a:noAutofit/>
          </a:bodyPr>
          <a:p>
            <a:pPr marL="0" indent="0" algn="l">
              <a:spcAft>
                <a:spcPts val="400"/>
              </a:spcAft>
              <a:buSzTx/>
              <a:buNone/>
            </a:pPr>
            <a:r>
              <a:rPr lang="en-US" sz="1800" dirty="0">
                <a:solidFill>
                  <a:schemeClr val="tx1"/>
                </a:solidFill>
                <a:latin typeface="Montserrat" panose="00000500000000000000" charset="0"/>
                <a:ea typeface="Calibri" panose="020F0502020204030204" pitchFamily="34" charset="-122"/>
                <a:cs typeface="Montserrat" panose="00000500000000000000" charset="0"/>
                <a:sym typeface="+mn-ea"/>
              </a:rPr>
              <a:t>With only 100 fraud cases vs 51,523 legitimate, a model trained without SMOTE would  predict 'Legit' always and still get 99.8% accuracy. SMOTE creates synthetic fraud examples to force the model to actually learn fraud patterns</a:t>
            </a:r>
            <a:endParaRPr lang="en-US" sz="1800" dirty="0">
              <a:solidFill>
                <a:schemeClr val="tx1"/>
              </a:solidFill>
              <a:latin typeface="Montserrat" panose="00000500000000000000" charset="0"/>
              <a:ea typeface="Calibri" panose="020F0502020204030204" pitchFamily="34" charset="-122"/>
              <a:cs typeface="Montserrat" panose="00000500000000000000" charset="0"/>
              <a:sym typeface="+mn-ea"/>
            </a:endParaRPr>
          </a:p>
        </p:txBody>
      </p:sp>
      <p:sp>
        <p:nvSpPr>
          <p:cNvPr id="5" name="Text Box 4"/>
          <p:cNvSpPr txBox="1"/>
          <p:nvPr/>
        </p:nvSpPr>
        <p:spPr>
          <a:xfrm>
            <a:off x="8743315" y="596900"/>
            <a:ext cx="3366770" cy="5882640"/>
          </a:xfrm>
          <a:prstGeom prst="rect">
            <a:avLst/>
          </a:prstGeom>
          <a:noFill/>
        </p:spPr>
        <p:txBody>
          <a:bodyPr wrap="square" rtlCol="0" anchor="t">
            <a:noAutofit/>
          </a:bodyPr>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Train-test split (stratified)</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X_tr,X_te,y_tr,y_te = train_test_split(</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X_scaled, y,</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test_size=0.2,</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random_state=42,</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stratify=y)</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SMOTE on training data only</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sm = SMOTE(random_state=42)</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X_res,y_res = sm.fit_resample(X_tr,y_tr)</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print("Before SMOTE:", dict(</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zip(*np.unique(y_tr,return_counts=True))))</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print("After SMOTE: ", dict(</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zip(*np.unique(y_res,return_counts=True))))</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Before: {0:41218, 1:80}</a:t>
            </a:r>
            <a:endParaRPr lang="en-US" sz="1400" dirty="0">
              <a:solidFill>
                <a:schemeClr val="tx1"/>
              </a:solidFill>
              <a:latin typeface="Montserrat" panose="00000500000000000000" charset="0"/>
              <a:ea typeface="Calibri" panose="020F0502020204030204" pitchFamily="34" charset="-122"/>
              <a:cs typeface="Montserrat" panose="00000500000000000000" charset="0"/>
            </a:endParaRPr>
          </a:p>
          <a:p>
            <a:pPr marL="0" indent="0">
              <a:buNone/>
            </a:pPr>
            <a:r>
              <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rPr>
              <a:t># After:  {0:41218, 1:41218}</a:t>
            </a:r>
            <a:endParaRPr lang="en-US" sz="1400" dirty="0">
              <a:solidFill>
                <a:schemeClr val="tx1"/>
              </a:solidFill>
              <a:latin typeface="Montserrat" panose="00000500000000000000" charset="0"/>
              <a:ea typeface="Calibri" panose="020F0502020204030204" pitchFamily="34" charset="-122"/>
              <a:cs typeface="Montserrat" panose="00000500000000000000"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23"/>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64" name="Google Shape;164;p23"/>
          <p:cNvSpPr txBox="1"/>
          <p:nvPr/>
        </p:nvSpPr>
        <p:spPr>
          <a:xfrm>
            <a:off x="596670" y="622739"/>
            <a:ext cx="9247189" cy="78105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3400"/>
              <a:buFont typeface="Arial" panose="020B0604020202020204"/>
              <a:buNone/>
            </a:pPr>
            <a:r>
              <a:rPr lang="en-US" sz="35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rPr>
              <a:t>Model Selection</a:t>
            </a:r>
            <a:endParaRPr sz="35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
        <p:nvSpPr>
          <p:cNvPr id="165" name="Google Shape;165;p23"/>
          <p:cNvSpPr txBox="1"/>
          <p:nvPr/>
        </p:nvSpPr>
        <p:spPr>
          <a:xfrm>
            <a:off x="550950" y="1412950"/>
            <a:ext cx="11595300" cy="637667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900"/>
              <a:buFont typeface="Arial" panose="020B0604020202020204"/>
              <a:buNone/>
            </a:pPr>
            <a:r>
              <a:rPr lang="en-US" sz="1800" dirty="0">
                <a:solidFill>
                  <a:schemeClr val="tx1"/>
                </a:solidFill>
                <a:latin typeface="Montserrat" panose="00000500000000000000" charset="0"/>
                <a:ea typeface="Calibri" panose="020F0502020204030204" pitchFamily="34" charset="-122"/>
                <a:cs typeface="Montserrat" panose="00000500000000000000" charset="0"/>
                <a:sym typeface="+mn-ea"/>
              </a:rPr>
              <a:t>Classification algorithms evaluated on the Paytm dataset. Each model is trained on SMOTE-balanced data and evaluated on the original imbalanced test set using Accuracy, Precision, Recall and AUC-ROC.</a:t>
            </a:r>
            <a:endParaRPr lang="en-US" sz="1800" dirty="0">
              <a:solidFill>
                <a:schemeClr val="tx1"/>
              </a:solidFill>
              <a:latin typeface="Montserrat" panose="00000500000000000000" charset="0"/>
              <a:ea typeface="Calibri" panose="020F0502020204030204" pitchFamily="34" charset="-122"/>
              <a:cs typeface="Montserrat" panose="00000500000000000000" charset="0"/>
            </a:endParaRPr>
          </a:p>
          <a:p>
            <a:pPr marL="0" marR="0" lvl="0" indent="0" algn="l" rtl="0">
              <a:lnSpc>
                <a:spcPct val="150000"/>
              </a:lnSpc>
              <a:spcBef>
                <a:spcPts val="0"/>
              </a:spcBef>
              <a:spcAft>
                <a:spcPts val="0"/>
              </a:spcAft>
              <a:buClr>
                <a:srgbClr val="000000"/>
              </a:buClr>
              <a:buSzPts val="1900"/>
              <a:buFont typeface="Arial" panose="020B0604020202020204"/>
              <a:buNone/>
            </a:pP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L="0" marR="0" lvl="0" algn="l" rtl="0">
              <a:lnSpc>
                <a:spcPct val="150000"/>
              </a:lnSpc>
              <a:spcBef>
                <a:spcPts val="0"/>
              </a:spcBef>
              <a:spcAft>
                <a:spcPts val="0"/>
              </a:spcAft>
              <a:buClr>
                <a:srgbClr val="000000"/>
              </a:buClr>
              <a:buSzPts val="1900"/>
              <a:buFont typeface="Arial" panose="020B0604020202020204"/>
              <a:buNone/>
            </a:pPr>
            <a:r>
              <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rPr>
              <a:t>Following Machine learning algorithms  for classification problems are evaluated,</a:t>
            </a: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L="0" marR="0" lvl="0" algn="l" rtl="0">
              <a:lnSpc>
                <a:spcPct val="150000"/>
              </a:lnSpc>
              <a:spcBef>
                <a:spcPts val="0"/>
              </a:spcBef>
              <a:spcAft>
                <a:spcPts val="0"/>
              </a:spcAft>
              <a:buClr>
                <a:srgbClr val="000000"/>
              </a:buClr>
              <a:buSzPts val="1900"/>
              <a:buFont typeface="Arial" panose="020B0604020202020204"/>
              <a:buNone/>
            </a:pP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L="285750" marR="0" lvl="0" indent="-285750" algn="l" rtl="0">
              <a:lnSpc>
                <a:spcPct val="150000"/>
              </a:lnSpc>
              <a:spcBef>
                <a:spcPts val="0"/>
              </a:spcBef>
              <a:spcAft>
                <a:spcPts val="0"/>
              </a:spcAft>
              <a:buSzPts val="1900"/>
              <a:buFont typeface="Arial" panose="020B0604020202020204" pitchFamily="34" charset="0"/>
              <a:buChar char="•"/>
            </a:pPr>
            <a:r>
              <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rPr>
              <a:t>Logistic Regression, </a:t>
            </a: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L="285750" marR="0" lvl="0" indent="-285750" algn="l" rtl="0">
              <a:lnSpc>
                <a:spcPct val="150000"/>
              </a:lnSpc>
              <a:spcBef>
                <a:spcPts val="0"/>
              </a:spcBef>
              <a:spcAft>
                <a:spcPts val="0"/>
              </a:spcAft>
              <a:buSzPts val="1900"/>
              <a:buFont typeface="Arial" panose="020B0604020202020204" pitchFamily="34" charset="0"/>
              <a:buChar char="•"/>
            </a:pPr>
            <a:r>
              <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rPr>
              <a:t>DecisionTree Classifier and</a:t>
            </a: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L="285750" marR="0" lvl="0" indent="-285750" algn="l" rtl="0">
              <a:lnSpc>
                <a:spcPct val="150000"/>
              </a:lnSpc>
              <a:spcBef>
                <a:spcPts val="0"/>
              </a:spcBef>
              <a:spcAft>
                <a:spcPts val="0"/>
              </a:spcAft>
              <a:buSzPts val="1900"/>
              <a:buFont typeface="Arial" panose="020B0604020202020204" pitchFamily="34" charset="0"/>
              <a:buChar char="•"/>
            </a:pPr>
            <a:r>
              <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rPr>
              <a:t>Random forest Regression and </a:t>
            </a: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L="285750" marR="0" lvl="0" indent="-285750" algn="l" rtl="0">
              <a:lnSpc>
                <a:spcPct val="150000"/>
              </a:lnSpc>
              <a:spcBef>
                <a:spcPts val="0"/>
              </a:spcBef>
              <a:spcAft>
                <a:spcPts val="0"/>
              </a:spcAft>
              <a:buSzPts val="1900"/>
              <a:buFont typeface="Arial" panose="020B0604020202020204" pitchFamily="34" charset="0"/>
              <a:buChar char="•"/>
            </a:pPr>
            <a:r>
              <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rPr>
              <a:t>Cross Validation to evaluate the models </a:t>
            </a: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L="285750" marR="0" lvl="0" indent="-285750" algn="l" rtl="0">
              <a:lnSpc>
                <a:spcPct val="150000"/>
              </a:lnSpc>
              <a:spcBef>
                <a:spcPts val="0"/>
              </a:spcBef>
              <a:spcAft>
                <a:spcPts val="0"/>
              </a:spcAft>
              <a:buSzPts val="1900"/>
              <a:buFont typeface="Arial" panose="020B0604020202020204" pitchFamily="34" charset="0"/>
              <a:buChar char="•"/>
            </a:pPr>
            <a:r>
              <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rPr>
              <a:t>GridSearchCV for hyper parameter tuning.</a:t>
            </a: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R="0" lvl="0" algn="l" rtl="0">
              <a:lnSpc>
                <a:spcPct val="150000"/>
              </a:lnSpc>
              <a:spcBef>
                <a:spcPts val="0"/>
              </a:spcBef>
              <a:spcAft>
                <a:spcPts val="0"/>
              </a:spcAft>
              <a:buClr>
                <a:srgbClr val="000000"/>
              </a:buClr>
              <a:buSzPts val="1900"/>
              <a:buFont typeface="Arial" panose="020B0604020202020204"/>
              <a:buNone/>
            </a:pPr>
            <a:endParaRPr lang="en-US" sz="1800" b="0" i="0" u="none" strike="noStrike" cap="none" dirty="0">
              <a:solidFill>
                <a:schemeClr val="tx1"/>
              </a:solidFill>
              <a:latin typeface="Montserrat" panose="00000500000000000000" charset="0"/>
              <a:ea typeface="Calibri" panose="020F0502020204030204" pitchFamily="34" charset="-122"/>
              <a:cs typeface="Montserrat" panose="00000500000000000000" charset="0"/>
              <a:sym typeface="Arial" panose="020B0604020202020204"/>
            </a:endParaRPr>
          </a:p>
          <a:p>
            <a:pPr marL="0" marR="0" lvl="0" indent="0" algn="l" rtl="0">
              <a:lnSpc>
                <a:spcPct val="15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24"/>
          <p:cNvSpPr txBox="1"/>
          <p:nvPr/>
        </p:nvSpPr>
        <p:spPr>
          <a:xfrm>
            <a:off x="354330" y="662940"/>
            <a:ext cx="11132820" cy="78105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Test For </a:t>
            </a:r>
            <a:r>
              <a:rPr lang="en-US" alt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Oversampling &amp; Undersampling</a:t>
            </a:r>
            <a:r>
              <a:rPr 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 </a:t>
            </a:r>
            <a:endParaRPr sz="35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
        <p:nvSpPr>
          <p:cNvPr id="171" name="Google Shape;171;p24"/>
          <p:cNvSpPr txBox="1"/>
          <p:nvPr/>
        </p:nvSpPr>
        <p:spPr>
          <a:xfrm>
            <a:off x="263525" y="1341120"/>
            <a:ext cx="11478260" cy="962660"/>
          </a:xfrm>
          <a:prstGeom prst="rect">
            <a:avLst/>
          </a:prstGeom>
          <a:noFill/>
          <a:ln>
            <a:noFill/>
          </a:ln>
        </p:spPr>
        <p:txBody>
          <a:bodyPr spcFirstLastPara="1" wrap="square" lIns="91425" tIns="45700" rIns="91425" bIns="45700" anchor="t" anchorCtr="0">
            <a:noAutofit/>
          </a:bodyPr>
          <a:lstStyle/>
          <a:p>
            <a:pPr marL="107950" marR="0" lvl="0" indent="0" algn="l" rtl="0">
              <a:lnSpc>
                <a:spcPct val="150000"/>
              </a:lnSpc>
              <a:spcBef>
                <a:spcPts val="0"/>
              </a:spcBef>
              <a:spcAft>
                <a:spcPts val="0"/>
              </a:spcAft>
              <a:buClr>
                <a:schemeClr val="dk1"/>
              </a:buClr>
              <a:buSzPts val="1900"/>
              <a:buFont typeface="Arial" panose="020B0604020202020204"/>
              <a:buNone/>
            </a:pPr>
            <a:r>
              <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Oversampling increases minority class, undersampling reduces majority class; both improve imbalance handling before applying SMOTE for better fraud detection performance.</a:t>
            </a:r>
            <a:r>
              <a:rPr 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 </a:t>
            </a:r>
            <a:endParaRPr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172" name="Google Shape;172;p24"/>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2" name="Text 10"/>
          <p:cNvSpPr/>
          <p:nvPr/>
        </p:nvSpPr>
        <p:spPr>
          <a:xfrm>
            <a:off x="335280" y="2924810"/>
            <a:ext cx="5583555" cy="3642360"/>
          </a:xfrm>
          <a:prstGeom prst="rect">
            <a:avLst/>
          </a:prstGeom>
          <a:noFill/>
        </p:spPr>
        <p:txBody>
          <a:bodyPr wrap="square" lIns="0" tIns="0" rIns="0" bIns="0" rtlCol="0" anchor="t"/>
          <a:lstStyle/>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datasets = {</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"Original": (X_train, y_train),</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"Oversampled": (X_over, y_over),</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"Undersampled": (X_under, y_under),</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for name, (X_tr, y_tr) in datasets.items():</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print(f"\n===== {name} Dataset =====")</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for model in models:</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model.fit(X_tr, y_tr)</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y_prob = model.predict_proba(X_test)[:, 1]</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print(f"{model.__class__.__name__} ROC-AUC:", ras(y_test, y_prob))</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p:txBody>
      </p:sp>
      <p:sp>
        <p:nvSpPr>
          <p:cNvPr id="2" name="Text 10"/>
          <p:cNvSpPr/>
          <p:nvPr/>
        </p:nvSpPr>
        <p:spPr>
          <a:xfrm>
            <a:off x="6383655" y="3140710"/>
            <a:ext cx="5354320" cy="2472690"/>
          </a:xfrm>
          <a:prstGeom prst="rect">
            <a:avLst/>
          </a:prstGeom>
          <a:noFill/>
        </p:spPr>
        <p:txBody>
          <a:bodyPr wrap="square" lIns="0" tIns="0" rIns="0" bIns="0" rtlCol="0" anchor="t"/>
          <a:lstStyle/>
          <a:p>
            <a:pPr marL="0" algn="l">
              <a:buClrTx/>
              <a:buSzTx/>
              <a:buNone/>
            </a:pP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p:txBody>
      </p:sp>
      <p:sp>
        <p:nvSpPr>
          <p:cNvPr id="6" name="Text Box 5"/>
          <p:cNvSpPr txBox="1"/>
          <p:nvPr>
            <p:custDataLst>
              <p:tags r:id="rId1"/>
            </p:custDataLst>
          </p:nvPr>
        </p:nvSpPr>
        <p:spPr>
          <a:xfrm>
            <a:off x="335280" y="2421255"/>
            <a:ext cx="4064000" cy="368300"/>
          </a:xfrm>
          <a:prstGeom prst="rect">
            <a:avLst/>
          </a:prstGeom>
          <a:noFill/>
        </p:spPr>
        <p:txBody>
          <a:bodyPr wrap="square" rtlCol="0">
            <a:spAutoFit/>
          </a:bodyPr>
          <a:p>
            <a:r>
              <a:rPr lang="en-US" altLang="en-US" sz="1800" b="1">
                <a:latin typeface="Montserrat" panose="00000500000000000000" charset="0"/>
                <a:cs typeface="Montserrat" panose="00000500000000000000" charset="0"/>
              </a:rPr>
              <a:t>Train Models on Each Technique</a:t>
            </a:r>
            <a:endParaRPr lang="en-US" altLang="en-US" sz="1800" b="1">
              <a:latin typeface="Montserrat" panose="00000500000000000000" charset="0"/>
              <a:cs typeface="Montserrat" panose="00000500000000000000" charset="0"/>
            </a:endParaRPr>
          </a:p>
        </p:txBody>
      </p:sp>
      <p:sp>
        <p:nvSpPr>
          <p:cNvPr id="5" name="Text Box 4"/>
          <p:cNvSpPr txBox="1"/>
          <p:nvPr>
            <p:custDataLst>
              <p:tags r:id="rId2"/>
            </p:custDataLst>
          </p:nvPr>
        </p:nvSpPr>
        <p:spPr>
          <a:xfrm>
            <a:off x="6023610" y="2406015"/>
            <a:ext cx="4064000" cy="368300"/>
          </a:xfrm>
          <a:prstGeom prst="rect">
            <a:avLst/>
          </a:prstGeom>
          <a:noFill/>
        </p:spPr>
        <p:txBody>
          <a:bodyPr wrap="square" rtlCol="0">
            <a:spAutoFit/>
          </a:bodyPr>
          <a:p>
            <a:r>
              <a:rPr lang="en-US" sz="1800" b="1">
                <a:latin typeface="Montserrat" panose="00000500000000000000" charset="0"/>
                <a:cs typeface="Montserrat" panose="00000500000000000000" charset="0"/>
              </a:rPr>
              <a:t>Result</a:t>
            </a:r>
            <a:endParaRPr lang="en-US" sz="1800" b="1">
              <a:latin typeface="Montserrat" panose="00000500000000000000" charset="0"/>
              <a:cs typeface="Montserrat" panose="00000500000000000000" charset="0"/>
            </a:endParaRPr>
          </a:p>
        </p:txBody>
      </p:sp>
      <p:pic>
        <p:nvPicPr>
          <p:cNvPr id="3" name="Picture 2"/>
          <p:cNvPicPr>
            <a:picLocks noChangeAspect="1"/>
          </p:cNvPicPr>
          <p:nvPr/>
        </p:nvPicPr>
        <p:blipFill>
          <a:blip r:embed="rId3"/>
          <a:stretch>
            <a:fillRect/>
          </a:stretch>
        </p:blipFill>
        <p:spPr>
          <a:xfrm>
            <a:off x="5704840" y="2780665"/>
            <a:ext cx="6408420" cy="33381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24"/>
          <p:cNvSpPr txBox="1"/>
          <p:nvPr/>
        </p:nvSpPr>
        <p:spPr>
          <a:xfrm>
            <a:off x="354623" y="663079"/>
            <a:ext cx="9247200" cy="78105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Training and Testing the Models</a:t>
            </a:r>
            <a:endParaRPr sz="35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
        <p:nvSpPr>
          <p:cNvPr id="171" name="Google Shape;171;p24"/>
          <p:cNvSpPr txBox="1"/>
          <p:nvPr/>
        </p:nvSpPr>
        <p:spPr>
          <a:xfrm>
            <a:off x="263525" y="1341120"/>
            <a:ext cx="11222990" cy="962660"/>
          </a:xfrm>
          <a:prstGeom prst="rect">
            <a:avLst/>
          </a:prstGeom>
          <a:noFill/>
          <a:ln>
            <a:noFill/>
          </a:ln>
        </p:spPr>
        <p:txBody>
          <a:bodyPr spcFirstLastPara="1" wrap="square" lIns="91425" tIns="45700" rIns="91425" bIns="45700" anchor="t" anchorCtr="0">
            <a:noAutofit/>
          </a:bodyPr>
          <a:lstStyle/>
          <a:p>
            <a:pPr marL="107950" marR="0" lvl="0" indent="0" algn="l" rtl="0">
              <a:lnSpc>
                <a:spcPct val="150000"/>
              </a:lnSpc>
              <a:spcBef>
                <a:spcPts val="0"/>
              </a:spcBef>
              <a:spcAft>
                <a:spcPts val="0"/>
              </a:spcAft>
              <a:buClr>
                <a:schemeClr val="dk1"/>
              </a:buClr>
              <a:buSzPts val="1900"/>
              <a:buFont typeface="Arial" panose="020B0604020202020204"/>
              <a:buNone/>
            </a:pPr>
            <a:r>
              <a:rPr lang="en-US" sz="1800" dirty="0">
                <a:solidFill>
                  <a:srgbClr val="4A6080"/>
                </a:solidFill>
                <a:latin typeface="Montserrat" panose="00000500000000000000" charset="0"/>
                <a:ea typeface="Calibri" panose="020F0502020204030204" pitchFamily="34" charset="-122"/>
                <a:cs typeface="Montserrat" panose="00000500000000000000" charset="0"/>
                <a:sym typeface="+mn-ea"/>
              </a:rPr>
              <a:t>All models trained on SMOTE-balanced data. Evaluation performed on the original imbalanced test set (10,303 samples: 10,223 legit + 80 fraud... 20% hold-out stratified split).</a:t>
            </a:r>
            <a:endParaRPr lang="en-US" sz="1800" dirty="0">
              <a:solidFill>
                <a:srgbClr val="4A6080"/>
              </a:solidFill>
              <a:latin typeface="Montserrat" panose="00000500000000000000" charset="0"/>
              <a:ea typeface="Calibri" panose="020F0502020204030204" pitchFamily="34" charset="-122"/>
              <a:cs typeface="Montserrat" panose="00000500000000000000" charset="0"/>
            </a:endParaRPr>
          </a:p>
          <a:p>
            <a:pPr marL="107950" marR="0" lvl="0" indent="0" algn="l" rtl="0">
              <a:lnSpc>
                <a:spcPct val="150000"/>
              </a:lnSpc>
              <a:spcBef>
                <a:spcPts val="0"/>
              </a:spcBef>
              <a:spcAft>
                <a:spcPts val="0"/>
              </a:spcAft>
              <a:buClr>
                <a:schemeClr val="dk1"/>
              </a:buClr>
              <a:buSzPts val="1900"/>
              <a:buFont typeface="Arial" panose="020B0604020202020204"/>
              <a:buNone/>
            </a:pPr>
            <a:r>
              <a:rPr lang="en-US" sz="19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72" name="Google Shape;172;p24"/>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12" name="Text 10"/>
          <p:cNvSpPr/>
          <p:nvPr/>
        </p:nvSpPr>
        <p:spPr>
          <a:xfrm>
            <a:off x="335280" y="2924810"/>
            <a:ext cx="5915025" cy="4328160"/>
          </a:xfrm>
          <a:prstGeom prst="rect">
            <a:avLst/>
          </a:prstGeom>
          <a:noFill/>
        </p:spPr>
        <p:txBody>
          <a:bodyPr wrap="square" lIns="0" tIns="0" rIns="0" bIns="0" rtlCol="0" anchor="t"/>
          <a:lstStyle/>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from sklearn.model_selection import train_test_split</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X_train, X_test, y_train, y_test = train_test_split(</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altLang="en-US" dirty="0">
                <a:solidFill>
                  <a:srgbClr val="1A3A5C"/>
                </a:solidFill>
                <a:latin typeface="Montserrat" panose="00000500000000000000" charset="0"/>
                <a:ea typeface="Courier New" panose="02070309020205020404" pitchFamily="34" charset="-122"/>
                <a:cs typeface="Montserrat" panose="00000500000000000000" charset="0"/>
              </a:rPr>
              <a:t>    X, y, test_size=0.3, random_state=42)</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from sklearn.tree import DecisionTreeClassifier</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from sklearn.metrics import roc_auc_score as ras</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from sklearn.linear_model import LogisticRegression</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from sklearn.svm import SVC</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from sklearn.ensemble import RandomForestClassifier</a:t>
            </a:r>
            <a:br>
              <a:rPr lang="en-US" dirty="0">
                <a:solidFill>
                  <a:srgbClr val="1A3A5C"/>
                </a:solidFill>
                <a:latin typeface="Montserrat" panose="00000500000000000000" charset="0"/>
                <a:ea typeface="Courier New" panose="02070309020205020404" pitchFamily="34" charset="-122"/>
                <a:cs typeface="Montserrat" panose="00000500000000000000" charset="0"/>
              </a:rPr>
            </a:b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 Define all models</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models = [LogisticRegression(max_iter=2000), DecisionTreeClassifier(max_depth=7,</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                           random_state=42),</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          RandomForestClassifier(n_estimators=7,</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                                 criterion='entropy',</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rPr>
              <a:t>                                 random_state=7)]</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sz="1050"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altLang="en-US" sz="1050" dirty="0">
              <a:solidFill>
                <a:srgbClr val="1A3A5C"/>
              </a:solidFill>
              <a:latin typeface="Montserrat" panose="00000500000000000000" charset="0"/>
              <a:ea typeface="Courier New" panose="02070309020205020404" pitchFamily="34" charset="-122"/>
              <a:cs typeface="Montserrat" panose="00000500000000000000" charset="0"/>
            </a:endParaRPr>
          </a:p>
        </p:txBody>
      </p:sp>
      <p:sp>
        <p:nvSpPr>
          <p:cNvPr id="2" name="Text 10"/>
          <p:cNvSpPr/>
          <p:nvPr/>
        </p:nvSpPr>
        <p:spPr>
          <a:xfrm>
            <a:off x="6383655" y="3140710"/>
            <a:ext cx="5354320" cy="4241800"/>
          </a:xfrm>
          <a:prstGeom prst="rect">
            <a:avLst/>
          </a:prstGeom>
          <a:noFill/>
        </p:spPr>
        <p:txBody>
          <a:bodyPr wrap="square" lIns="0" tIns="0" rIns="0" bIns="0" rtlCol="0" anchor="t"/>
          <a:lstStyle/>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sym typeface="+mn-ea"/>
              </a:rPr>
              <a:t>for i in range(len(models)):</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sym typeface="+mn-ea"/>
              </a:rPr>
              <a:t>    models[i].fit(X_train, y_train)</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sym typeface="+mn-ea"/>
              </a:rPr>
              <a:t>    print(f'{models[i]} : ')</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sym typeface="+mn-ea"/>
              </a:rPr>
              <a:t>    train_preds = models[i].predict_proba(X_train)[:, 1]</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sym typeface="+mn-ea"/>
              </a:rPr>
              <a:t>    print('Training Accuracy : ', ras(y_train, train_preds))</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sym typeface="+mn-ea"/>
              </a:rPr>
              <a:t>    y_preds = models[i].predict_proba(X_test)[:, 1]</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sym typeface="+mn-ea"/>
              </a:rPr>
              <a:t>    print('Validation Accuracy : ', ras(y_test, y_preds))</a:t>
            </a:r>
            <a:endParaRPr lang="en-US" dirty="0">
              <a:solidFill>
                <a:srgbClr val="1A3A5C"/>
              </a:solidFill>
              <a:latin typeface="Montserrat" panose="00000500000000000000" charset="0"/>
              <a:ea typeface="Courier New" panose="02070309020205020404" pitchFamily="34" charset="-122"/>
              <a:cs typeface="Montserrat" panose="00000500000000000000" charset="0"/>
            </a:endParaRPr>
          </a:p>
          <a:p>
            <a:pPr marL="0" algn="l">
              <a:buClrTx/>
              <a:buSzTx/>
              <a:buNone/>
            </a:pPr>
            <a:r>
              <a:rPr lang="en-US" dirty="0">
                <a:solidFill>
                  <a:srgbClr val="1A3A5C"/>
                </a:solidFill>
                <a:latin typeface="Montserrat" panose="00000500000000000000" charset="0"/>
                <a:ea typeface="Courier New" panose="02070309020205020404" pitchFamily="34" charset="-122"/>
                <a:cs typeface="Montserrat" panose="00000500000000000000" charset="0"/>
                <a:sym typeface="+mn-ea"/>
              </a:rPr>
              <a:t>    print()</a:t>
            </a:r>
            <a:endParaRPr lang="en-US" altLang="en-US" dirty="0">
              <a:solidFill>
                <a:srgbClr val="1A3A5C"/>
              </a:solidFill>
              <a:latin typeface="Montserrat" panose="00000500000000000000" charset="0"/>
              <a:ea typeface="Courier New" panose="02070309020205020404" pitchFamily="34" charset="-122"/>
              <a:cs typeface="Montserrat" panose="00000500000000000000" charset="0"/>
            </a:endParaRPr>
          </a:p>
        </p:txBody>
      </p:sp>
      <p:sp>
        <p:nvSpPr>
          <p:cNvPr id="6" name="Text Box 5"/>
          <p:cNvSpPr txBox="1"/>
          <p:nvPr>
            <p:custDataLst>
              <p:tags r:id="rId1"/>
            </p:custDataLst>
          </p:nvPr>
        </p:nvSpPr>
        <p:spPr>
          <a:xfrm>
            <a:off x="46990" y="2484755"/>
            <a:ext cx="4064000" cy="368300"/>
          </a:xfrm>
          <a:prstGeom prst="rect">
            <a:avLst/>
          </a:prstGeom>
          <a:noFill/>
        </p:spPr>
        <p:txBody>
          <a:bodyPr wrap="square" rtlCol="0">
            <a:spAutoFit/>
          </a:bodyPr>
          <a:p>
            <a:r>
              <a:rPr lang="en-US" sz="1800" b="1">
                <a:latin typeface="Montserrat" panose="00000500000000000000" charset="0"/>
                <a:cs typeface="Montserrat" panose="00000500000000000000" charset="0"/>
              </a:rPr>
              <a:t>Model Training</a:t>
            </a:r>
            <a:endParaRPr lang="en-US" sz="1800" b="1">
              <a:latin typeface="Montserrat" panose="00000500000000000000" charset="0"/>
              <a:cs typeface="Montserrat" panose="00000500000000000000" charset="0"/>
            </a:endParaRPr>
          </a:p>
        </p:txBody>
      </p:sp>
      <p:sp>
        <p:nvSpPr>
          <p:cNvPr id="5" name="Text Box 4"/>
          <p:cNvSpPr txBox="1"/>
          <p:nvPr>
            <p:custDataLst>
              <p:tags r:id="rId2"/>
            </p:custDataLst>
          </p:nvPr>
        </p:nvSpPr>
        <p:spPr>
          <a:xfrm>
            <a:off x="6311900" y="2420620"/>
            <a:ext cx="4064000" cy="368300"/>
          </a:xfrm>
          <a:prstGeom prst="rect">
            <a:avLst/>
          </a:prstGeom>
          <a:noFill/>
        </p:spPr>
        <p:txBody>
          <a:bodyPr wrap="square" rtlCol="0">
            <a:spAutoFit/>
          </a:bodyPr>
          <a:p>
            <a:r>
              <a:rPr lang="en-US" sz="1800" b="1">
                <a:latin typeface="Montserrat" panose="00000500000000000000" charset="0"/>
                <a:cs typeface="Montserrat" panose="00000500000000000000" charset="0"/>
              </a:rPr>
              <a:t>Evaluation Loop</a:t>
            </a:r>
            <a:endParaRPr lang="en-US" sz="1800" b="1">
              <a:latin typeface="Montserrat" panose="00000500000000000000" charset="0"/>
              <a:cs typeface="Montserrat" panose="00000500000000000000"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87" name="Shape 187"/>
        <p:cNvGrpSpPr/>
        <p:nvPr/>
      </p:nvGrpSpPr>
      <p:grpSpPr>
        <a:xfrm>
          <a:off x="0" y="0"/>
          <a:ext cx="0" cy="0"/>
          <a:chOff x="0" y="0"/>
          <a:chExt cx="0" cy="0"/>
        </a:xfrm>
      </p:grpSpPr>
      <p:sp>
        <p:nvSpPr>
          <p:cNvPr id="188" name="Google Shape;188;p26"/>
          <p:cNvSpPr/>
          <p:nvPr/>
        </p:nvSpPr>
        <p:spPr>
          <a:xfrm>
            <a:off x="524250" y="1426149"/>
            <a:ext cx="12067500" cy="6011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br>
              <a:rPr lang="en-US" sz="1900" b="0" i="0" u="none" strike="noStrike" cap="none">
                <a:solidFill>
                  <a:schemeClr val="dk1"/>
                </a:solidFill>
                <a:latin typeface="Arial" panose="020B0604020202020204"/>
                <a:ea typeface="Arial" panose="020B0604020202020204"/>
                <a:cs typeface="Arial" panose="020B0604020202020204"/>
                <a:sym typeface="Arial" panose="020B0604020202020204"/>
              </a:rPr>
            </a:b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900"/>
              <a:buFont typeface="Arial" panose="020B0604020202020204"/>
              <a:buNone/>
            </a:pPr>
            <a:endParaRPr sz="19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89" name="Google Shape;189;p26"/>
          <p:cNvSpPr txBox="1"/>
          <p:nvPr/>
        </p:nvSpPr>
        <p:spPr>
          <a:xfrm>
            <a:off x="407320" y="643071"/>
            <a:ext cx="12423900" cy="781050"/>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rPr>
              <a:t>Training and Testing the Models</a:t>
            </a:r>
            <a:endParaRPr sz="35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 name="Google Shape;190;p26"/>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3" name="Text Box 2"/>
          <p:cNvSpPr txBox="1"/>
          <p:nvPr/>
        </p:nvSpPr>
        <p:spPr>
          <a:xfrm>
            <a:off x="263525" y="1557020"/>
            <a:ext cx="4495165" cy="4638675"/>
          </a:xfrm>
          <a:prstGeom prst="rect">
            <a:avLst/>
          </a:prstGeom>
          <a:noFill/>
        </p:spPr>
        <p:txBody>
          <a:bodyPr wrap="square" rtlCol="0">
            <a:noAutofit/>
          </a:bodyPr>
          <a:p>
            <a:r>
              <a:rPr lang="en-US" altLang="en-US"/>
              <a:t>for model in models:</a:t>
            </a:r>
            <a:endParaRPr lang="en-US" altLang="en-US"/>
          </a:p>
          <a:p>
            <a:r>
              <a:rPr lang="en-US" altLang="en-US"/>
              <a:t>    model.fit(X_res, y_res)</a:t>
            </a:r>
            <a:endParaRPr lang="en-US" altLang="en-US"/>
          </a:p>
          <a:p>
            <a:r>
              <a:rPr lang="en-US" altLang="en-US"/>
              <a:t>    </a:t>
            </a:r>
            <a:endParaRPr lang="en-US" altLang="en-US"/>
          </a:p>
          <a:p>
            <a:r>
              <a:rPr lang="en-US" altLang="en-US"/>
              <a:t>    name = model.__class__.__name__</a:t>
            </a:r>
            <a:endParaRPr lang="en-US" altLang="en-US"/>
          </a:p>
          <a:p>
            <a:r>
              <a:rPr lang="en-US" altLang="en-US"/>
              <a:t>    model_names.append(name)</a:t>
            </a:r>
            <a:endParaRPr lang="en-US" altLang="en-US"/>
          </a:p>
          <a:p>
            <a:r>
              <a:rPr lang="en-US" altLang="en-US"/>
              <a:t>    </a:t>
            </a:r>
            <a:endParaRPr lang="en-US" altLang="en-US"/>
          </a:p>
          <a:p>
            <a:r>
              <a:rPr lang="en-US" altLang="en-US"/>
              <a:t>    print(f'{model} : ')</a:t>
            </a:r>
            <a:endParaRPr lang="en-US" altLang="en-US"/>
          </a:p>
          <a:p>
            <a:endParaRPr lang="en-US" altLang="en-US"/>
          </a:p>
          <a:p>
            <a:r>
              <a:rPr lang="en-US" altLang="en-US"/>
              <a:t>    train_preds = model.predict_proba(X_res)[:, 1]</a:t>
            </a:r>
            <a:endParaRPr lang="en-US" altLang="en-US"/>
          </a:p>
          <a:p>
            <a:r>
              <a:rPr lang="en-US" altLang="en-US"/>
              <a:t>    train_score = ras(y_res, train_preds)</a:t>
            </a:r>
            <a:endParaRPr lang="en-US" altLang="en-US"/>
          </a:p>
          <a:p>
            <a:r>
              <a:rPr lang="en-US" altLang="en-US"/>
              <a:t>    train_scores.append(train_score)</a:t>
            </a:r>
            <a:endParaRPr lang="en-US" altLang="en-US"/>
          </a:p>
          <a:p>
            <a:r>
              <a:rPr lang="en-US" altLang="en-US"/>
              <a:t>    print('Training ROC-AUC : ', train_score)</a:t>
            </a:r>
            <a:endParaRPr lang="en-US" altLang="en-US"/>
          </a:p>
          <a:p>
            <a:endParaRPr lang="en-US" altLang="en-US"/>
          </a:p>
          <a:p>
            <a:r>
              <a:rPr lang="en-US" altLang="en-US"/>
              <a:t>    y_preds = model.predict_proba(X_te)[:, 1]</a:t>
            </a:r>
            <a:endParaRPr lang="en-US" altLang="en-US"/>
          </a:p>
          <a:p>
            <a:r>
              <a:rPr lang="en-US" altLang="en-US"/>
              <a:t>    val_score = ras(y_te, y_preds)</a:t>
            </a:r>
            <a:endParaRPr lang="en-US" altLang="en-US"/>
          </a:p>
          <a:p>
            <a:r>
              <a:rPr lang="en-US" altLang="en-US"/>
              <a:t>    val_scores.append(val_score)</a:t>
            </a:r>
            <a:endParaRPr lang="en-US" altLang="en-US"/>
          </a:p>
          <a:p>
            <a:r>
              <a:rPr lang="en-US" altLang="en-US"/>
              <a:t>    print('Validation ROC-AUC : ', val_score)</a:t>
            </a:r>
            <a:endParaRPr lang="en-US" altLang="en-US"/>
          </a:p>
          <a:p>
            <a:r>
              <a:rPr lang="en-US" altLang="en-US"/>
              <a:t>    print()</a:t>
            </a:r>
            <a:endParaRPr lang="en-US" altLang="en-US"/>
          </a:p>
        </p:txBody>
      </p:sp>
      <p:sp>
        <p:nvSpPr>
          <p:cNvPr id="2" name="Text Box 1"/>
          <p:cNvSpPr txBox="1"/>
          <p:nvPr/>
        </p:nvSpPr>
        <p:spPr>
          <a:xfrm>
            <a:off x="5763895" y="1700530"/>
            <a:ext cx="5119370" cy="4533265"/>
          </a:xfrm>
          <a:prstGeom prst="rect">
            <a:avLst/>
          </a:prstGeom>
          <a:noFill/>
        </p:spPr>
        <p:txBody>
          <a:bodyPr wrap="square" rtlCol="0">
            <a:noAutofit/>
          </a:bodyPr>
          <a:p>
            <a:r>
              <a:rPr lang="en-US" altLang="en-US"/>
              <a:t>LogisticRegression(max_iter=2000) : </a:t>
            </a:r>
            <a:endParaRPr lang="en-US" altLang="en-US"/>
          </a:p>
          <a:p>
            <a:r>
              <a:rPr lang="en-US" altLang="en-US"/>
              <a:t>Training ROC-AUC :  0.9868973625442602</a:t>
            </a:r>
            <a:endParaRPr lang="en-US" altLang="en-US"/>
          </a:p>
          <a:p>
            <a:r>
              <a:rPr lang="en-US" altLang="en-US"/>
              <a:t>Validation ROC-AUC :  0.9391848617176127</a:t>
            </a:r>
            <a:endParaRPr lang="en-US" altLang="en-US"/>
          </a:p>
          <a:p>
            <a:endParaRPr lang="en-US" altLang="en-US"/>
          </a:p>
          <a:p>
            <a:r>
              <a:rPr lang="en-US" altLang="en-US"/>
              <a:t>DecisionTreeClassifier(max_depth=7, random_state=42) : </a:t>
            </a:r>
            <a:endParaRPr lang="en-US" altLang="en-US"/>
          </a:p>
          <a:p>
            <a:r>
              <a:rPr lang="en-US" altLang="en-US"/>
              <a:t>Training ROC-AUC :  0.9946444514002739</a:t>
            </a:r>
            <a:endParaRPr lang="en-US" altLang="en-US"/>
          </a:p>
          <a:p>
            <a:r>
              <a:rPr lang="en-US" altLang="en-US"/>
              <a:t>Validation ROC-AUC :  0.829677341096555</a:t>
            </a:r>
            <a:endParaRPr lang="en-US" altLang="en-US"/>
          </a:p>
          <a:p>
            <a:endParaRPr lang="en-US" altLang="en-US"/>
          </a:p>
          <a:p>
            <a:r>
              <a:rPr lang="en-US" altLang="en-US"/>
              <a:t>RandomForestClassifier(criterion='entropy', n_estimators=7, random_state=7) : </a:t>
            </a:r>
            <a:endParaRPr lang="en-US" altLang="en-US"/>
          </a:p>
          <a:p>
            <a:r>
              <a:rPr lang="en-US" altLang="en-US"/>
              <a:t>Training ROC-AUC :  0.9999999888164477</a:t>
            </a:r>
            <a:endParaRPr lang="en-US" altLang="en-US"/>
          </a:p>
          <a:p>
            <a:r>
              <a:rPr lang="en-US" altLang="en-US"/>
              <a:t>Validation ROC-AUC :  0.973403687530325</a:t>
            </a:r>
            <a:endParaRPr lang="en-US" altLang="en-US"/>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95" name="Shape 195"/>
        <p:cNvGrpSpPr/>
        <p:nvPr/>
      </p:nvGrpSpPr>
      <p:grpSpPr>
        <a:xfrm>
          <a:off x="0" y="0"/>
          <a:ext cx="0" cy="0"/>
          <a:chOff x="0" y="0"/>
          <a:chExt cx="0" cy="0"/>
        </a:xfrm>
      </p:grpSpPr>
      <p:sp>
        <p:nvSpPr>
          <p:cNvPr id="196" name="Google Shape;196;p27"/>
          <p:cNvSpPr txBox="1"/>
          <p:nvPr/>
        </p:nvSpPr>
        <p:spPr>
          <a:xfrm>
            <a:off x="512164" y="384042"/>
            <a:ext cx="9247189" cy="769401"/>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3400"/>
              <a:buFont typeface="Arial" panose="020B0604020202020204"/>
              <a:buNone/>
            </a:pPr>
            <a:r>
              <a:rPr lang="en-US" sz="3400" b="0" i="0" u="none" strike="noStrike" cap="none">
                <a:solidFill>
                  <a:srgbClr val="000000"/>
                </a:solidFill>
                <a:latin typeface="Montserrat" panose="00000500000000000000"/>
                <a:ea typeface="Montserrat" panose="00000500000000000000"/>
                <a:cs typeface="Montserrat" panose="00000500000000000000"/>
                <a:sym typeface="Montserrat" panose="00000500000000000000"/>
              </a:rPr>
              <a:t>Model Selection</a:t>
            </a:r>
            <a:endParaRPr sz="3400" b="0" i="1" u="none" strike="noStrike" cap="none">
              <a:solidFill>
                <a:srgbClr val="000000"/>
              </a:solidFill>
              <a:latin typeface="Montserrat" panose="00000500000000000000"/>
              <a:ea typeface="Montserrat" panose="00000500000000000000"/>
              <a:cs typeface="Montserrat" panose="00000500000000000000"/>
              <a:sym typeface="Montserrat" panose="00000500000000000000"/>
            </a:endParaRPr>
          </a:p>
        </p:txBody>
      </p:sp>
      <p:sp>
        <p:nvSpPr>
          <p:cNvPr id="197" name="Google Shape;197;p27"/>
          <p:cNvSpPr txBox="1"/>
          <p:nvPr/>
        </p:nvSpPr>
        <p:spPr>
          <a:xfrm>
            <a:off x="494740" y="1091150"/>
            <a:ext cx="11167800" cy="512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330"/>
              <a:buFont typeface="Arial" panose="020B0604020202020204"/>
              <a:buNone/>
            </a:pPr>
            <a:endParaRPr sz="1330" b="0" i="0" u="sng"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sp>
        <p:nvSpPr>
          <p:cNvPr id="198" name="Google Shape;198;p27"/>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00" name="Google Shape;200;p27"/>
          <p:cNvSpPr txBox="1"/>
          <p:nvPr/>
        </p:nvSpPr>
        <p:spPr>
          <a:xfrm>
            <a:off x="225425" y="1153160"/>
            <a:ext cx="11540490" cy="1089025"/>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900"/>
              <a:buFont typeface="Arial" panose="020B0604020202020204"/>
              <a:buNone/>
            </a:pPr>
            <a:r>
              <a:rPr lang="en-US" alt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ROC curve compares models by plotting true positive rate vs false positive rate; higher AUC indicates better fraud detection performance.</a:t>
            </a:r>
            <a:endParaRPr lang="en-US" alt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pic>
        <p:nvPicPr>
          <p:cNvPr id="6" name="Picture 5"/>
          <p:cNvPicPr/>
          <p:nvPr/>
        </p:nvPicPr>
        <p:blipFill>
          <a:blip r:embed="rId1"/>
          <a:stretch>
            <a:fillRect/>
          </a:stretch>
        </p:blipFill>
        <p:spPr>
          <a:xfrm>
            <a:off x="623570" y="2204720"/>
            <a:ext cx="7527925" cy="4305935"/>
          </a:xfrm>
          <a:prstGeom prst="rect">
            <a:avLst/>
          </a:prstGeom>
        </p:spPr>
      </p:pic>
      <p:sp>
        <p:nvSpPr>
          <p:cNvPr id="2" name="Text Box 1"/>
          <p:cNvSpPr txBox="1"/>
          <p:nvPr/>
        </p:nvSpPr>
        <p:spPr>
          <a:xfrm>
            <a:off x="8616315" y="2493010"/>
            <a:ext cx="3474085" cy="935990"/>
          </a:xfrm>
          <a:prstGeom prst="rect">
            <a:avLst/>
          </a:prstGeom>
          <a:noFill/>
        </p:spPr>
        <p:txBody>
          <a:bodyPr wrap="square" rtlCol="0">
            <a:noAutofit/>
          </a:bodyPr>
          <a:p>
            <a:r>
              <a:rPr lang="en-US" altLang="en-US"/>
              <a:t>Receiver Operating Characteristic </a:t>
            </a:r>
            <a:endParaRPr lang="en-US" altLang="en-US"/>
          </a:p>
          <a:p>
            <a:r>
              <a:rPr lang="en-US" altLang="en-US"/>
              <a:t>Area Under the Curve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79" name="Shape 179"/>
        <p:cNvGrpSpPr/>
        <p:nvPr/>
      </p:nvGrpSpPr>
      <p:grpSpPr>
        <a:xfrm>
          <a:off x="0" y="0"/>
          <a:ext cx="0" cy="0"/>
          <a:chOff x="0" y="0"/>
          <a:chExt cx="0" cy="0"/>
        </a:xfrm>
      </p:grpSpPr>
      <p:sp>
        <p:nvSpPr>
          <p:cNvPr id="180" name="Google Shape;180;p25"/>
          <p:cNvSpPr txBox="1"/>
          <p:nvPr/>
        </p:nvSpPr>
        <p:spPr>
          <a:xfrm>
            <a:off x="92931" y="650711"/>
            <a:ext cx="12006000" cy="704215"/>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Training and testing the models</a:t>
            </a:r>
            <a:endParaRPr lang="en-US" sz="3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181" name="Google Shape;181;p25"/>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pic>
        <p:nvPicPr>
          <p:cNvPr id="3" name="Picture 2"/>
          <p:cNvPicPr/>
          <p:nvPr/>
        </p:nvPicPr>
        <p:blipFill>
          <a:blip r:embed="rId1"/>
          <a:stretch>
            <a:fillRect/>
          </a:stretch>
        </p:blipFill>
        <p:spPr>
          <a:xfrm>
            <a:off x="0" y="1701165"/>
            <a:ext cx="5073650" cy="3860165"/>
          </a:xfrm>
          <a:prstGeom prst="rect">
            <a:avLst/>
          </a:prstGeom>
        </p:spPr>
      </p:pic>
      <p:pic>
        <p:nvPicPr>
          <p:cNvPr id="2" name="Picture 1"/>
          <p:cNvPicPr/>
          <p:nvPr/>
        </p:nvPicPr>
        <p:blipFill>
          <a:blip r:embed="rId2"/>
          <a:stretch>
            <a:fillRect/>
          </a:stretch>
        </p:blipFill>
        <p:spPr>
          <a:xfrm>
            <a:off x="5951855" y="1879600"/>
            <a:ext cx="5031740" cy="36810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79" name="Shape 179"/>
        <p:cNvGrpSpPr/>
        <p:nvPr/>
      </p:nvGrpSpPr>
      <p:grpSpPr>
        <a:xfrm>
          <a:off x="0" y="0"/>
          <a:ext cx="0" cy="0"/>
          <a:chOff x="0" y="0"/>
          <a:chExt cx="0" cy="0"/>
        </a:xfrm>
      </p:grpSpPr>
      <p:sp>
        <p:nvSpPr>
          <p:cNvPr id="180" name="Google Shape;180;p25"/>
          <p:cNvSpPr txBox="1"/>
          <p:nvPr/>
        </p:nvSpPr>
        <p:spPr>
          <a:xfrm>
            <a:off x="92931" y="650711"/>
            <a:ext cx="12006000" cy="704215"/>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Confusion Matrix</a:t>
            </a:r>
            <a:endParaRPr lang="en-US" sz="30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181" name="Google Shape;181;p25"/>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8" name="Text 5"/>
          <p:cNvSpPr/>
          <p:nvPr/>
        </p:nvSpPr>
        <p:spPr>
          <a:xfrm>
            <a:off x="7536180" y="908685"/>
            <a:ext cx="4023360" cy="320040"/>
          </a:xfrm>
          <a:prstGeom prst="rect">
            <a:avLst/>
          </a:prstGeom>
          <a:noFill/>
        </p:spPr>
        <p:txBody>
          <a:bodyPr wrap="square" rtlCol="0" anchor="ctr"/>
          <a:lstStyle/>
          <a:p>
            <a:pPr marL="0" indent="0">
              <a:buNone/>
            </a:pPr>
            <a:r>
              <a:rPr lang="en-US" b="1" dirty="0">
                <a:solidFill>
                  <a:srgbClr val="0D3B6E"/>
                </a:solidFill>
                <a:latin typeface="Montserrat" panose="00000500000000000000" charset="0"/>
                <a:ea typeface="Calibri" panose="020F0502020204030204" pitchFamily="34" charset="-122"/>
                <a:cs typeface="Montserrat" panose="00000500000000000000" charset="0"/>
              </a:rPr>
              <a:t>Interpreting Results:</a:t>
            </a:r>
            <a:endParaRPr lang="en-US" dirty="0">
              <a:latin typeface="Montserrat" panose="00000500000000000000" charset="0"/>
              <a:cs typeface="Montserrat" panose="00000500000000000000" charset="0"/>
            </a:endParaRPr>
          </a:p>
        </p:txBody>
      </p:sp>
      <p:sp>
        <p:nvSpPr>
          <p:cNvPr id="9" name="Shape 6"/>
          <p:cNvSpPr/>
          <p:nvPr>
            <p:custDataLst>
              <p:tags r:id="rId1"/>
            </p:custDataLst>
          </p:nvPr>
        </p:nvSpPr>
        <p:spPr>
          <a:xfrm>
            <a:off x="7536180" y="1320165"/>
            <a:ext cx="4540885" cy="731520"/>
          </a:xfrm>
          <a:prstGeom prst="rect">
            <a:avLst/>
          </a:prstGeom>
          <a:solidFill>
            <a:srgbClr val="FFFFFF"/>
          </a:solidFill>
          <a:ln w="12700">
            <a:solidFill>
              <a:srgbClr val="D0DFF0"/>
            </a:solidFill>
            <a:prstDash val="solid"/>
          </a:ln>
        </p:spPr>
      </p:sp>
      <p:sp>
        <p:nvSpPr>
          <p:cNvPr id="11" name="Text 8"/>
          <p:cNvSpPr/>
          <p:nvPr>
            <p:custDataLst>
              <p:tags r:id="rId2"/>
            </p:custDataLst>
          </p:nvPr>
        </p:nvSpPr>
        <p:spPr>
          <a:xfrm>
            <a:off x="7645908" y="1375029"/>
            <a:ext cx="2286000" cy="256032"/>
          </a:xfrm>
          <a:prstGeom prst="rect">
            <a:avLst/>
          </a:prstGeom>
          <a:noFill/>
        </p:spPr>
        <p:txBody>
          <a:bodyPr wrap="square" lIns="0" tIns="0" rIns="0" bIns="0" rtlCol="0" anchor="ctr"/>
          <a:lstStyle/>
          <a:p>
            <a:pPr marL="0" indent="0">
              <a:buNone/>
            </a:pPr>
            <a:r>
              <a:rPr lang="en-US" sz="1100" b="1" dirty="0">
                <a:solidFill>
                  <a:srgbClr val="0D3B6E"/>
                </a:solidFill>
                <a:latin typeface="Montserrat" panose="00000500000000000000" charset="0"/>
                <a:ea typeface="Calibri" panose="020F0502020204030204" pitchFamily="34" charset="-122"/>
                <a:cs typeface="Montserrat" panose="00000500000000000000" charset="0"/>
              </a:rPr>
              <a:t>True Negatives (TN)</a:t>
            </a:r>
            <a:endParaRPr lang="en-US" sz="1100" dirty="0">
              <a:latin typeface="Montserrat" panose="00000500000000000000" charset="0"/>
              <a:cs typeface="Montserrat" panose="00000500000000000000" charset="0"/>
            </a:endParaRPr>
          </a:p>
        </p:txBody>
      </p:sp>
      <p:sp>
        <p:nvSpPr>
          <p:cNvPr id="13" name="Text 10"/>
          <p:cNvSpPr/>
          <p:nvPr>
            <p:custDataLst>
              <p:tags r:id="rId3"/>
            </p:custDataLst>
          </p:nvPr>
        </p:nvSpPr>
        <p:spPr>
          <a:xfrm>
            <a:off x="7646035" y="1685925"/>
            <a:ext cx="4382135" cy="292735"/>
          </a:xfrm>
          <a:prstGeom prst="rect">
            <a:avLst/>
          </a:prstGeom>
          <a:noFill/>
        </p:spPr>
        <p:txBody>
          <a:bodyPr wrap="square" lIns="0" tIns="0" rIns="0" bIns="0" rtlCol="0" anchor="ctr"/>
          <a:lstStyle/>
          <a:p>
            <a:pPr marL="0" indent="0">
              <a:buNone/>
            </a:pPr>
            <a:r>
              <a:rPr lang="en-US" sz="1200" dirty="0">
                <a:solidFill>
                  <a:srgbClr val="4A6080"/>
                </a:solidFill>
                <a:latin typeface="Montserrat" panose="00000500000000000000" charset="0"/>
                <a:ea typeface="Calibri" panose="020F0502020204030204" pitchFamily="34" charset="-122"/>
                <a:cs typeface="Montserrat" panose="00000500000000000000" charset="0"/>
              </a:rPr>
              <a:t>Legitimate transactions correctly identified              </a:t>
            </a:r>
            <a:r>
              <a:rPr lang="en-US" sz="1200" b="1" dirty="0">
                <a:solidFill>
                  <a:srgbClr val="4A6080"/>
                </a:solidFill>
                <a:latin typeface="Montserrat" panose="00000500000000000000" charset="0"/>
                <a:ea typeface="Calibri" panose="020F0502020204030204" pitchFamily="34" charset="-122"/>
                <a:cs typeface="Montserrat" panose="00000500000000000000" charset="0"/>
              </a:rPr>
              <a:t>15231</a:t>
            </a:r>
            <a:endParaRPr lang="en-US" sz="1200" b="1" dirty="0">
              <a:solidFill>
                <a:srgbClr val="4A6080"/>
              </a:solidFill>
              <a:latin typeface="Montserrat" panose="00000500000000000000" charset="0"/>
              <a:ea typeface="Calibri" panose="020F0502020204030204" pitchFamily="34" charset="-122"/>
              <a:cs typeface="Montserrat" panose="00000500000000000000" charset="0"/>
            </a:endParaRPr>
          </a:p>
        </p:txBody>
      </p:sp>
      <p:sp>
        <p:nvSpPr>
          <p:cNvPr id="14" name="Shape 11"/>
          <p:cNvSpPr/>
          <p:nvPr>
            <p:custDataLst>
              <p:tags r:id="rId4"/>
            </p:custDataLst>
          </p:nvPr>
        </p:nvSpPr>
        <p:spPr>
          <a:xfrm>
            <a:off x="7536180" y="2143125"/>
            <a:ext cx="4540885" cy="731520"/>
          </a:xfrm>
          <a:prstGeom prst="rect">
            <a:avLst/>
          </a:prstGeom>
          <a:solidFill>
            <a:srgbClr val="FFFFFF"/>
          </a:solidFill>
          <a:ln w="12700">
            <a:solidFill>
              <a:srgbClr val="D0DFF0"/>
            </a:solidFill>
            <a:prstDash val="solid"/>
          </a:ln>
        </p:spPr>
      </p:sp>
      <p:sp>
        <p:nvSpPr>
          <p:cNvPr id="16" name="Text 13"/>
          <p:cNvSpPr/>
          <p:nvPr>
            <p:custDataLst>
              <p:tags r:id="rId5"/>
            </p:custDataLst>
          </p:nvPr>
        </p:nvSpPr>
        <p:spPr>
          <a:xfrm>
            <a:off x="7645908" y="2197989"/>
            <a:ext cx="2286000" cy="256032"/>
          </a:xfrm>
          <a:prstGeom prst="rect">
            <a:avLst/>
          </a:prstGeom>
          <a:noFill/>
        </p:spPr>
        <p:txBody>
          <a:bodyPr wrap="square" lIns="0" tIns="0" rIns="0" bIns="0" rtlCol="0" anchor="ctr"/>
          <a:lstStyle/>
          <a:p>
            <a:pPr marL="0" indent="0">
              <a:buNone/>
            </a:pPr>
            <a:r>
              <a:rPr lang="en-US" sz="1200" b="1" dirty="0">
                <a:solidFill>
                  <a:srgbClr val="0D3B6E"/>
                </a:solidFill>
                <a:latin typeface="Montserrat" panose="00000500000000000000" charset="0"/>
                <a:ea typeface="Calibri" panose="020F0502020204030204" pitchFamily="34" charset="-122"/>
                <a:cs typeface="Montserrat" panose="00000500000000000000" charset="0"/>
              </a:rPr>
              <a:t>False Positives (FP)</a:t>
            </a:r>
            <a:endParaRPr lang="en-US" sz="1200" dirty="0">
              <a:latin typeface="Montserrat" panose="00000500000000000000" charset="0"/>
              <a:cs typeface="Montserrat" panose="00000500000000000000" charset="0"/>
            </a:endParaRPr>
          </a:p>
        </p:txBody>
      </p:sp>
      <p:sp>
        <p:nvSpPr>
          <p:cNvPr id="18" name="Text 15"/>
          <p:cNvSpPr/>
          <p:nvPr>
            <p:custDataLst>
              <p:tags r:id="rId6"/>
            </p:custDataLst>
          </p:nvPr>
        </p:nvSpPr>
        <p:spPr>
          <a:xfrm>
            <a:off x="7646035" y="2508885"/>
            <a:ext cx="4453255" cy="292735"/>
          </a:xfrm>
          <a:prstGeom prst="rect">
            <a:avLst/>
          </a:prstGeom>
          <a:noFill/>
        </p:spPr>
        <p:txBody>
          <a:bodyPr wrap="square" lIns="0" tIns="0" rIns="0" bIns="0" rtlCol="0" anchor="ctr"/>
          <a:lstStyle/>
          <a:p>
            <a:pPr marL="0" indent="0">
              <a:buNone/>
            </a:pPr>
            <a:r>
              <a:rPr lang="en-US" sz="1200" dirty="0">
                <a:solidFill>
                  <a:srgbClr val="4A6080"/>
                </a:solidFill>
                <a:latin typeface="Montserrat" panose="00000500000000000000" charset="0"/>
                <a:ea typeface="Calibri" panose="020F0502020204030204" pitchFamily="34" charset="-122"/>
                <a:cs typeface="Montserrat" panose="00000500000000000000" charset="0"/>
              </a:rPr>
              <a:t>Legit flagged as fraud — minimal customer friction     </a:t>
            </a:r>
            <a:r>
              <a:rPr lang="en-US" sz="1200" b="1" dirty="0">
                <a:solidFill>
                  <a:srgbClr val="4A6080"/>
                </a:solidFill>
                <a:latin typeface="Montserrat" panose="00000500000000000000" charset="0"/>
                <a:ea typeface="Calibri" panose="020F0502020204030204" pitchFamily="34" charset="-122"/>
                <a:cs typeface="Montserrat" panose="00000500000000000000" charset="0"/>
              </a:rPr>
              <a:t>220</a:t>
            </a:r>
            <a:endParaRPr lang="en-US" sz="1200" b="1" dirty="0">
              <a:solidFill>
                <a:srgbClr val="4A6080"/>
              </a:solidFill>
              <a:latin typeface="Montserrat" panose="00000500000000000000" charset="0"/>
              <a:ea typeface="Calibri" panose="020F0502020204030204" pitchFamily="34" charset="-122"/>
              <a:cs typeface="Montserrat" panose="00000500000000000000" charset="0"/>
            </a:endParaRPr>
          </a:p>
        </p:txBody>
      </p:sp>
      <p:sp>
        <p:nvSpPr>
          <p:cNvPr id="19" name="Shape 16"/>
          <p:cNvSpPr/>
          <p:nvPr>
            <p:custDataLst>
              <p:tags r:id="rId7"/>
            </p:custDataLst>
          </p:nvPr>
        </p:nvSpPr>
        <p:spPr>
          <a:xfrm>
            <a:off x="7536180" y="2966085"/>
            <a:ext cx="4540885" cy="731520"/>
          </a:xfrm>
          <a:prstGeom prst="rect">
            <a:avLst/>
          </a:prstGeom>
          <a:solidFill>
            <a:srgbClr val="FFFFFF"/>
          </a:solidFill>
          <a:ln w="12700">
            <a:solidFill>
              <a:srgbClr val="D0DFF0"/>
            </a:solidFill>
            <a:prstDash val="solid"/>
          </a:ln>
        </p:spPr>
      </p:sp>
      <p:sp>
        <p:nvSpPr>
          <p:cNvPr id="21" name="Text 18"/>
          <p:cNvSpPr/>
          <p:nvPr>
            <p:custDataLst>
              <p:tags r:id="rId8"/>
            </p:custDataLst>
          </p:nvPr>
        </p:nvSpPr>
        <p:spPr>
          <a:xfrm>
            <a:off x="7645908" y="3020949"/>
            <a:ext cx="2286000" cy="256032"/>
          </a:xfrm>
          <a:prstGeom prst="rect">
            <a:avLst/>
          </a:prstGeom>
          <a:noFill/>
        </p:spPr>
        <p:txBody>
          <a:bodyPr wrap="square" lIns="0" tIns="0" rIns="0" bIns="0" rtlCol="0" anchor="ctr"/>
          <a:lstStyle/>
          <a:p>
            <a:pPr marL="0" indent="0">
              <a:buNone/>
            </a:pPr>
            <a:r>
              <a:rPr lang="en-US" sz="1200" b="1" dirty="0">
                <a:solidFill>
                  <a:srgbClr val="0D3B6E"/>
                </a:solidFill>
                <a:latin typeface="Montserrat" panose="00000500000000000000" charset="0"/>
                <a:ea typeface="Calibri" panose="020F0502020204030204" pitchFamily="34" charset="-122"/>
                <a:cs typeface="Montserrat" panose="00000500000000000000" charset="0"/>
              </a:rPr>
              <a:t>False Negatives (FN)</a:t>
            </a:r>
            <a:endParaRPr lang="en-US" sz="1200" dirty="0">
              <a:latin typeface="Montserrat" panose="00000500000000000000" charset="0"/>
              <a:cs typeface="Montserrat" panose="00000500000000000000" charset="0"/>
            </a:endParaRPr>
          </a:p>
        </p:txBody>
      </p:sp>
      <p:sp>
        <p:nvSpPr>
          <p:cNvPr id="23" name="Text 20"/>
          <p:cNvSpPr/>
          <p:nvPr>
            <p:custDataLst>
              <p:tags r:id="rId9"/>
            </p:custDataLst>
          </p:nvPr>
        </p:nvSpPr>
        <p:spPr>
          <a:xfrm>
            <a:off x="7646035" y="3331845"/>
            <a:ext cx="4390390" cy="292735"/>
          </a:xfrm>
          <a:prstGeom prst="rect">
            <a:avLst/>
          </a:prstGeom>
          <a:noFill/>
        </p:spPr>
        <p:txBody>
          <a:bodyPr wrap="square" lIns="0" tIns="0" rIns="0" bIns="0" rtlCol="0" anchor="ctr"/>
          <a:lstStyle/>
          <a:p>
            <a:pPr marL="0" indent="0">
              <a:buNone/>
            </a:pPr>
            <a:r>
              <a:rPr lang="en-US" sz="1200" dirty="0">
                <a:solidFill>
                  <a:srgbClr val="4A6080"/>
                </a:solidFill>
                <a:latin typeface="Montserrat" panose="00000500000000000000" charset="0"/>
                <a:ea typeface="Calibri" panose="020F0502020204030204" pitchFamily="34" charset="-122"/>
                <a:cs typeface="Montserrat" panose="00000500000000000000" charset="0"/>
              </a:rPr>
              <a:t>Fraud missed — direct financial loss risk                       </a:t>
            </a:r>
            <a:r>
              <a:rPr lang="en-US" sz="1200" b="1" dirty="0">
                <a:solidFill>
                  <a:srgbClr val="4A6080"/>
                </a:solidFill>
                <a:latin typeface="Montserrat" panose="00000500000000000000" charset="0"/>
                <a:ea typeface="Calibri" panose="020F0502020204030204" pitchFamily="34" charset="-122"/>
                <a:cs typeface="Montserrat" panose="00000500000000000000" charset="0"/>
              </a:rPr>
              <a:t>9</a:t>
            </a:r>
            <a:endParaRPr lang="en-US" sz="1200" b="1" dirty="0">
              <a:solidFill>
                <a:srgbClr val="4A6080"/>
              </a:solidFill>
              <a:latin typeface="Montserrat" panose="00000500000000000000" charset="0"/>
              <a:ea typeface="Calibri" panose="020F0502020204030204" pitchFamily="34" charset="-122"/>
              <a:cs typeface="Montserrat" panose="00000500000000000000" charset="0"/>
            </a:endParaRPr>
          </a:p>
        </p:txBody>
      </p:sp>
      <p:sp>
        <p:nvSpPr>
          <p:cNvPr id="24" name="Shape 21"/>
          <p:cNvSpPr/>
          <p:nvPr>
            <p:custDataLst>
              <p:tags r:id="rId10"/>
            </p:custDataLst>
          </p:nvPr>
        </p:nvSpPr>
        <p:spPr>
          <a:xfrm>
            <a:off x="7536180" y="3679190"/>
            <a:ext cx="4540885" cy="731520"/>
          </a:xfrm>
          <a:prstGeom prst="rect">
            <a:avLst/>
          </a:prstGeom>
          <a:solidFill>
            <a:srgbClr val="FFFFFF"/>
          </a:solidFill>
          <a:ln w="12700">
            <a:solidFill>
              <a:srgbClr val="D0DFF0"/>
            </a:solidFill>
            <a:prstDash val="solid"/>
          </a:ln>
        </p:spPr>
      </p:sp>
      <p:sp>
        <p:nvSpPr>
          <p:cNvPr id="26" name="Text 23"/>
          <p:cNvSpPr/>
          <p:nvPr>
            <p:custDataLst>
              <p:tags r:id="rId11"/>
            </p:custDataLst>
          </p:nvPr>
        </p:nvSpPr>
        <p:spPr>
          <a:xfrm>
            <a:off x="7646035" y="3843655"/>
            <a:ext cx="4319905" cy="255905"/>
          </a:xfrm>
          <a:prstGeom prst="rect">
            <a:avLst/>
          </a:prstGeom>
          <a:noFill/>
        </p:spPr>
        <p:txBody>
          <a:bodyPr wrap="square" lIns="0" tIns="0" rIns="0" bIns="0" rtlCol="0" anchor="ctr"/>
          <a:lstStyle/>
          <a:p>
            <a:pPr marL="0" indent="0">
              <a:buNone/>
            </a:pPr>
            <a:r>
              <a:rPr lang="en-US" sz="1200" b="1" dirty="0">
                <a:solidFill>
                  <a:srgbClr val="0D3B6E"/>
                </a:solidFill>
                <a:latin typeface="Montserrat" panose="00000500000000000000" charset="0"/>
                <a:ea typeface="Calibri" panose="020F0502020204030204" pitchFamily="34" charset="-122"/>
                <a:cs typeface="Montserrat" panose="00000500000000000000" charset="0"/>
              </a:rPr>
              <a:t>True Positives (TP)</a:t>
            </a:r>
            <a:endParaRPr lang="en-US" sz="1200" dirty="0">
              <a:latin typeface="Montserrat" panose="00000500000000000000" charset="0"/>
              <a:cs typeface="Montserrat" panose="00000500000000000000" charset="0"/>
            </a:endParaRPr>
          </a:p>
        </p:txBody>
      </p:sp>
      <p:sp>
        <p:nvSpPr>
          <p:cNvPr id="28" name="Text 25"/>
          <p:cNvSpPr/>
          <p:nvPr>
            <p:custDataLst>
              <p:tags r:id="rId12"/>
            </p:custDataLst>
          </p:nvPr>
        </p:nvSpPr>
        <p:spPr>
          <a:xfrm>
            <a:off x="7673340" y="4017645"/>
            <a:ext cx="4404360" cy="292735"/>
          </a:xfrm>
          <a:prstGeom prst="rect">
            <a:avLst/>
          </a:prstGeom>
          <a:noFill/>
        </p:spPr>
        <p:txBody>
          <a:bodyPr wrap="square" lIns="0" tIns="0" rIns="0" bIns="0" rtlCol="0" anchor="ctr"/>
          <a:lstStyle/>
          <a:p>
            <a:pPr marL="0" indent="0">
              <a:buNone/>
            </a:pPr>
            <a:r>
              <a:rPr lang="en-US" sz="1000" dirty="0">
                <a:solidFill>
                  <a:srgbClr val="4A6080"/>
                </a:solidFill>
                <a:latin typeface="Montserrat" panose="00000500000000000000" charset="0"/>
                <a:ea typeface="Calibri" panose="020F0502020204030204" pitchFamily="34" charset="-122"/>
                <a:cs typeface="Montserrat" panose="00000500000000000000" charset="0"/>
              </a:rPr>
              <a:t>Fraud correctly caught by the model                                           </a:t>
            </a:r>
            <a:r>
              <a:rPr lang="en-US" sz="1000" b="1" dirty="0">
                <a:solidFill>
                  <a:srgbClr val="4A6080"/>
                </a:solidFill>
                <a:latin typeface="Montserrat" panose="00000500000000000000" charset="0"/>
                <a:ea typeface="Calibri" panose="020F0502020204030204" pitchFamily="34" charset="-122"/>
                <a:cs typeface="Montserrat" panose="00000500000000000000" charset="0"/>
              </a:rPr>
              <a:t>   27</a:t>
            </a:r>
            <a:endParaRPr lang="en-US" sz="1000" b="1" dirty="0">
              <a:solidFill>
                <a:srgbClr val="4A6080"/>
              </a:solidFill>
              <a:latin typeface="Montserrat" panose="00000500000000000000" charset="0"/>
              <a:ea typeface="Calibri" panose="020F0502020204030204" pitchFamily="34" charset="-122"/>
              <a:cs typeface="Montserrat" panose="00000500000000000000" charset="0"/>
            </a:endParaRPr>
          </a:p>
        </p:txBody>
      </p:sp>
      <p:sp>
        <p:nvSpPr>
          <p:cNvPr id="4" name="Text Box 3"/>
          <p:cNvSpPr txBox="1"/>
          <p:nvPr/>
        </p:nvSpPr>
        <p:spPr>
          <a:xfrm>
            <a:off x="47625" y="2115185"/>
            <a:ext cx="1172845" cy="241935"/>
          </a:xfrm>
          <a:prstGeom prst="rect">
            <a:avLst/>
          </a:prstGeom>
          <a:noFill/>
        </p:spPr>
        <p:txBody>
          <a:bodyPr wrap="square" rtlCol="0" anchor="t">
            <a:noAutofit/>
          </a:bodyPr>
          <a:p>
            <a:r>
              <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rPr>
              <a:t>Actual Legit   </a:t>
            </a:r>
            <a:endPar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endParaRPr>
          </a:p>
        </p:txBody>
      </p:sp>
      <p:sp>
        <p:nvSpPr>
          <p:cNvPr id="5" name="Text Box 4"/>
          <p:cNvSpPr txBox="1"/>
          <p:nvPr/>
        </p:nvSpPr>
        <p:spPr>
          <a:xfrm>
            <a:off x="119380" y="3789045"/>
            <a:ext cx="1187450" cy="254635"/>
          </a:xfrm>
          <a:prstGeom prst="rect">
            <a:avLst/>
          </a:prstGeom>
          <a:noFill/>
        </p:spPr>
        <p:txBody>
          <a:bodyPr wrap="square" rtlCol="0" anchor="t">
            <a:noAutofit/>
          </a:bodyPr>
          <a:p>
            <a:r>
              <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rPr>
              <a:t>Actual Fraud</a:t>
            </a:r>
            <a:endPar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endParaRPr>
          </a:p>
          <a:p>
            <a:endPar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endParaRPr>
          </a:p>
        </p:txBody>
      </p:sp>
      <p:sp>
        <p:nvSpPr>
          <p:cNvPr id="6" name="Text Box 5"/>
          <p:cNvSpPr txBox="1"/>
          <p:nvPr/>
        </p:nvSpPr>
        <p:spPr>
          <a:xfrm>
            <a:off x="3575685" y="5301615"/>
            <a:ext cx="1598930" cy="275590"/>
          </a:xfrm>
          <a:prstGeom prst="rect">
            <a:avLst/>
          </a:prstGeom>
          <a:noFill/>
        </p:spPr>
        <p:txBody>
          <a:bodyPr wrap="square" rtlCol="0" anchor="t">
            <a:spAutoFit/>
          </a:bodyPr>
          <a:p>
            <a:r>
              <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rPr>
              <a:t>Predicted Fraud</a:t>
            </a:r>
            <a:endPar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endParaRPr>
          </a:p>
        </p:txBody>
      </p:sp>
      <p:sp>
        <p:nvSpPr>
          <p:cNvPr id="7" name="Text Box 6"/>
          <p:cNvSpPr txBox="1"/>
          <p:nvPr/>
        </p:nvSpPr>
        <p:spPr>
          <a:xfrm>
            <a:off x="1775460" y="5301615"/>
            <a:ext cx="1604645" cy="275590"/>
          </a:xfrm>
          <a:prstGeom prst="rect">
            <a:avLst/>
          </a:prstGeom>
          <a:noFill/>
        </p:spPr>
        <p:txBody>
          <a:bodyPr wrap="square" rtlCol="0" anchor="t">
            <a:spAutoFit/>
          </a:bodyPr>
          <a:p>
            <a:r>
              <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rPr>
              <a:t>Predicted Legit</a:t>
            </a:r>
            <a:endParaRPr lang="en-US" sz="1200" b="1" dirty="0">
              <a:solidFill>
                <a:srgbClr val="4A6080"/>
              </a:solidFill>
              <a:latin typeface="Montserrat" panose="00000500000000000000" charset="0"/>
              <a:ea typeface="Calibri" panose="020F0502020204030204" pitchFamily="34" charset="-122"/>
              <a:cs typeface="Montserrat" panose="00000500000000000000" charset="0"/>
              <a:sym typeface="+mn-ea"/>
            </a:endParaRPr>
          </a:p>
        </p:txBody>
      </p:sp>
      <p:pic>
        <p:nvPicPr>
          <p:cNvPr id="1" name="Picture 0"/>
          <p:cNvPicPr/>
          <p:nvPr/>
        </p:nvPicPr>
        <p:blipFill>
          <a:blip r:embed="rId13"/>
          <a:stretch>
            <a:fillRect/>
          </a:stretch>
        </p:blipFill>
        <p:spPr>
          <a:xfrm>
            <a:off x="1306957" y="1269111"/>
            <a:ext cx="4791456" cy="395020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04" name="Shape 204"/>
        <p:cNvGrpSpPr/>
        <p:nvPr/>
      </p:nvGrpSpPr>
      <p:grpSpPr>
        <a:xfrm>
          <a:off x="0" y="0"/>
          <a:ext cx="0" cy="0"/>
          <a:chOff x="0" y="0"/>
          <a:chExt cx="0" cy="0"/>
        </a:xfrm>
      </p:grpSpPr>
      <p:sp>
        <p:nvSpPr>
          <p:cNvPr id="205" name="Google Shape;205;p28"/>
          <p:cNvSpPr txBox="1"/>
          <p:nvPr/>
        </p:nvSpPr>
        <p:spPr>
          <a:xfrm>
            <a:off x="512164" y="384042"/>
            <a:ext cx="9247200" cy="7695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3400"/>
              <a:buFont typeface="Arial" panose="020B0604020202020204"/>
              <a:buNone/>
            </a:pPr>
            <a:r>
              <a:rPr lang="en-US" sz="3400" b="0" i="0" u="none" strike="noStrike" cap="none">
                <a:solidFill>
                  <a:srgbClr val="000000"/>
                </a:solidFill>
                <a:latin typeface="Montserrat" panose="00000500000000000000"/>
                <a:ea typeface="Montserrat" panose="00000500000000000000"/>
                <a:cs typeface="Montserrat" panose="00000500000000000000"/>
                <a:sym typeface="Montserrat" panose="00000500000000000000"/>
              </a:rPr>
              <a:t>Hyperparameter Tuning</a:t>
            </a:r>
            <a:endParaRPr sz="3400" b="0" i="1" u="none" strike="noStrike" cap="none">
              <a:solidFill>
                <a:srgbClr val="000000"/>
              </a:solidFill>
              <a:latin typeface="Montserrat" panose="00000500000000000000"/>
              <a:ea typeface="Montserrat" panose="00000500000000000000"/>
              <a:cs typeface="Montserrat" panose="00000500000000000000"/>
              <a:sym typeface="Montserrat" panose="00000500000000000000"/>
            </a:endParaRPr>
          </a:p>
        </p:txBody>
      </p:sp>
      <p:sp>
        <p:nvSpPr>
          <p:cNvPr id="206" name="Google Shape;206;p28"/>
          <p:cNvSpPr txBox="1"/>
          <p:nvPr/>
        </p:nvSpPr>
        <p:spPr>
          <a:xfrm>
            <a:off x="494740" y="1091150"/>
            <a:ext cx="11167800" cy="512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330"/>
              <a:buFont typeface="Arial" panose="020B0604020202020204"/>
              <a:buNone/>
            </a:pPr>
            <a:endParaRPr sz="1330" b="0" i="0" u="sng"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sp>
        <p:nvSpPr>
          <p:cNvPr id="207" name="Google Shape;207;p28"/>
          <p:cNvSpPr txBox="1"/>
          <p:nvPr>
            <p:ph type="sldNum" idx="12"/>
          </p:nvPr>
        </p:nvSpPr>
        <p:spPr>
          <a:xfrm>
            <a:off x="11296611" y="6014423"/>
            <a:ext cx="731700" cy="524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08" name="Google Shape;208;p28"/>
          <p:cNvSpPr txBox="1"/>
          <p:nvPr/>
        </p:nvSpPr>
        <p:spPr>
          <a:xfrm>
            <a:off x="225425" y="1169670"/>
            <a:ext cx="11540490" cy="947420"/>
          </a:xfrm>
          <a:prstGeom prst="rect">
            <a:avLst/>
          </a:prstGeom>
          <a:noFill/>
          <a:ln>
            <a:noFill/>
          </a:ln>
        </p:spPr>
        <p:txBody>
          <a:bodyPr spcFirstLastPara="1" wrap="square" lIns="91425" tIns="91425" rIns="91425" bIns="91425" anchor="t" anchorCtr="0">
            <a:noAutofit/>
          </a:bodyPr>
          <a:lstStyle/>
          <a:p>
            <a:pPr marL="0" indent="0">
              <a:buNone/>
            </a:pPr>
            <a:r>
              <a:rPr lang="en-US" sz="1800">
                <a:solidFill>
                  <a:schemeClr val="dk1"/>
                </a:solidFill>
                <a:latin typeface="Montserrat" panose="00000500000000000000" charset="0"/>
                <a:cs typeface="Montserrat" panose="00000500000000000000" charset="0"/>
              </a:rPr>
              <a:t>Random Forest </a:t>
            </a:r>
            <a:r>
              <a:rPr lang="en-US" sz="1800">
                <a:solidFill>
                  <a:schemeClr val="dk1"/>
                </a:solidFill>
                <a:latin typeface="Montserrat" panose="00000500000000000000" charset="0"/>
                <a:cs typeface="Montserrat" panose="00000500000000000000" charset="0"/>
                <a:sym typeface="+mn-ea"/>
              </a:rPr>
              <a:t>parameters tuned using GridSearchCV (3-fold, AUC-ROC scoring) on the SMOTE-balanced PaySim training data to maximize fraud detection performance.</a:t>
            </a:r>
            <a:endParaRPr 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2" name="Text Box 1"/>
          <p:cNvSpPr txBox="1"/>
          <p:nvPr/>
        </p:nvSpPr>
        <p:spPr>
          <a:xfrm>
            <a:off x="335280" y="2421255"/>
            <a:ext cx="5259705" cy="4364355"/>
          </a:xfrm>
          <a:prstGeom prst="rect">
            <a:avLst/>
          </a:prstGeom>
        </p:spPr>
        <p:txBody>
          <a:bodyPr>
            <a:noAutofit/>
          </a:bodyPr>
          <a:p>
            <a:pPr algn="l">
              <a:lnSpc>
                <a:spcPct val="150000"/>
              </a:lnSpc>
              <a:buSzPts val="1900"/>
            </a:pPr>
            <a:r>
              <a:rPr lang="en-US" b="0">
                <a:solidFill>
                  <a:schemeClr val="dk1"/>
                </a:solidFill>
                <a:latin typeface="Montserrat" panose="00000500000000000000" charset="0"/>
                <a:cs typeface="Montserrat" panose="00000500000000000000" charset="0"/>
              </a:rPr>
              <a:t>rf_params = {</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'n_estimators': [50, 100],</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'max_depth': [5, 10, None],</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'min_samples_split': [2, 5],</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'criterion': ['gini', 'entropy']</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rf_grid = GridSearchCV(</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RandomForestClassifier(random_state=42),</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param_grid=rf_params,</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cv=3,</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scoring='roc_auc',</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    n_jobs=-1</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b="0">
                <a:solidFill>
                  <a:schemeClr val="dk1"/>
                </a:solidFill>
                <a:latin typeface="Montserrat" panose="00000500000000000000" charset="0"/>
                <a:cs typeface="Montserrat" panose="00000500000000000000" charset="0"/>
              </a:rPr>
              <a:t>)</a:t>
            </a:r>
            <a:endParaRPr lang="en-US" sz="1900" b="0">
              <a:solidFill>
                <a:schemeClr val="dk1"/>
              </a:solidFill>
            </a:endParaRPr>
          </a:p>
          <a:p>
            <a:pPr algn="l">
              <a:lnSpc>
                <a:spcPct val="150000"/>
              </a:lnSpc>
              <a:buSzPts val="1900"/>
            </a:pPr>
            <a:endParaRPr lang="en-US" b="0">
              <a:solidFill>
                <a:schemeClr val="dk1"/>
              </a:solidFill>
              <a:latin typeface="Montserrat" panose="00000500000000000000" charset="0"/>
              <a:cs typeface="Montserrat" panose="00000500000000000000" charset="0"/>
            </a:endParaRPr>
          </a:p>
          <a:p>
            <a:pPr algn="l">
              <a:lnSpc>
                <a:spcPct val="150000"/>
              </a:lnSpc>
              <a:buSzPts val="1900"/>
            </a:pPr>
            <a:endParaRPr lang="en-US" b="0">
              <a:solidFill>
                <a:schemeClr val="dk1"/>
              </a:solidFill>
              <a:latin typeface="Montserrat" panose="00000500000000000000" charset="0"/>
              <a:cs typeface="Montserrat" panose="00000500000000000000" charset="0"/>
            </a:endParaRPr>
          </a:p>
        </p:txBody>
      </p:sp>
      <p:sp>
        <p:nvSpPr>
          <p:cNvPr id="3" name="Text Box 2"/>
          <p:cNvSpPr txBox="1"/>
          <p:nvPr/>
        </p:nvSpPr>
        <p:spPr>
          <a:xfrm>
            <a:off x="5663565" y="2276475"/>
            <a:ext cx="6096000" cy="4387850"/>
          </a:xfrm>
          <a:prstGeom prst="rect">
            <a:avLst/>
          </a:prstGeom>
          <a:noFill/>
        </p:spPr>
        <p:txBody>
          <a:bodyPr wrap="square" rtlCol="0" anchor="t">
            <a:noAutofit/>
          </a:bodyPr>
          <a:p>
            <a:pPr algn="l">
              <a:lnSpc>
                <a:spcPct val="150000"/>
              </a:lnSpc>
              <a:buSzPts val="1900"/>
            </a:pPr>
            <a:r>
              <a:rPr lang="en-US">
                <a:solidFill>
                  <a:schemeClr val="dk1"/>
                </a:solidFill>
                <a:latin typeface="Montserrat" panose="00000500000000000000" charset="0"/>
                <a:cs typeface="Montserrat" panose="00000500000000000000" charset="0"/>
                <a:sym typeface="+mn-ea"/>
              </a:rPr>
              <a:t>rf_grid.fit(X_res, y_res)</a:t>
            </a:r>
            <a:endParaRPr lang="en-US" b="0">
              <a:solidFill>
                <a:schemeClr val="dk1"/>
              </a:solidFill>
              <a:latin typeface="Montserrat" panose="00000500000000000000" charset="0"/>
              <a:cs typeface="Montserrat" panose="00000500000000000000" charset="0"/>
            </a:endParaRPr>
          </a:p>
          <a:p>
            <a:pPr algn="l">
              <a:lnSpc>
                <a:spcPct val="150000"/>
              </a:lnSpc>
              <a:buSzPts val="1900"/>
            </a:pP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a:solidFill>
                  <a:schemeClr val="dk1"/>
                </a:solidFill>
                <a:latin typeface="Montserrat" panose="00000500000000000000" charset="0"/>
                <a:cs typeface="Montserrat" panose="00000500000000000000" charset="0"/>
                <a:sym typeface="+mn-ea"/>
              </a:rPr>
              <a:t>print("Best Random Forest Params:", rf_grid.best_params_)</a:t>
            </a:r>
            <a:endParaRPr lang="en-US" b="0">
              <a:solidFill>
                <a:schemeClr val="dk1"/>
              </a:solidFill>
              <a:latin typeface="Montserrat" panose="00000500000000000000" charset="0"/>
              <a:cs typeface="Montserrat" panose="00000500000000000000" charset="0"/>
            </a:endParaRPr>
          </a:p>
          <a:p>
            <a:pPr algn="l">
              <a:lnSpc>
                <a:spcPct val="150000"/>
              </a:lnSpc>
              <a:buSzPts val="1900"/>
            </a:pPr>
            <a:r>
              <a:rPr lang="en-US">
                <a:solidFill>
                  <a:schemeClr val="dk1"/>
                </a:solidFill>
                <a:latin typeface="Montserrat" panose="00000500000000000000" charset="0"/>
                <a:cs typeface="Montserrat" panose="00000500000000000000" charset="0"/>
                <a:sym typeface="+mn-ea"/>
              </a:rPr>
              <a:t>print("Best Score:", rf_grid.best_score_)</a:t>
            </a:r>
            <a:br>
              <a:rPr lang="en-US">
                <a:solidFill>
                  <a:schemeClr val="dk1"/>
                </a:solidFill>
                <a:latin typeface="Montserrat" panose="00000500000000000000" charset="0"/>
                <a:cs typeface="Montserrat" panose="00000500000000000000" charset="0"/>
                <a:sym typeface="+mn-ea"/>
              </a:rPr>
            </a:br>
            <a:endParaRPr lang="en-US">
              <a:solidFill>
                <a:schemeClr val="dk1"/>
              </a:solidFill>
              <a:latin typeface="Montserrat" panose="00000500000000000000" charset="0"/>
              <a:cs typeface="Montserrat" panose="00000500000000000000" charset="0"/>
              <a:sym typeface="+mn-ea"/>
            </a:endParaRPr>
          </a:p>
          <a:p>
            <a:pPr algn="l">
              <a:lnSpc>
                <a:spcPct val="150000"/>
              </a:lnSpc>
              <a:buSzPts val="1900"/>
            </a:pPr>
            <a:r>
              <a:rPr lang="en-US" b="1">
                <a:solidFill>
                  <a:schemeClr val="dk1"/>
                </a:solidFill>
                <a:latin typeface="Montserrat" panose="00000500000000000000" charset="0"/>
                <a:cs typeface="Montserrat" panose="00000500000000000000" charset="0"/>
                <a:sym typeface="+mn-ea"/>
              </a:rPr>
              <a:t>Result :</a:t>
            </a:r>
            <a:endParaRPr lang="en-US" b="1">
              <a:solidFill>
                <a:schemeClr val="dk1"/>
              </a:solidFill>
              <a:latin typeface="Montserrat" panose="00000500000000000000" charset="0"/>
              <a:cs typeface="Montserrat" panose="00000500000000000000" charset="0"/>
              <a:sym typeface="+mn-ea"/>
            </a:endParaRPr>
          </a:p>
          <a:p>
            <a:pPr algn="l">
              <a:lnSpc>
                <a:spcPct val="150000"/>
              </a:lnSpc>
              <a:buSzPts val="1900"/>
            </a:pPr>
            <a:endParaRPr lang="en-US" b="1">
              <a:solidFill>
                <a:schemeClr val="dk1"/>
              </a:solidFill>
              <a:latin typeface="Montserrat" panose="00000500000000000000" charset="0"/>
              <a:cs typeface="Montserrat" panose="00000500000000000000" charset="0"/>
              <a:sym typeface="+mn-ea"/>
            </a:endParaRPr>
          </a:p>
          <a:p>
            <a:pPr algn="l">
              <a:lnSpc>
                <a:spcPct val="150000"/>
              </a:lnSpc>
              <a:buSzPts val="1900"/>
            </a:pPr>
            <a:r>
              <a:rPr lang="en-US" altLang="en-US">
                <a:solidFill>
                  <a:schemeClr val="dk1"/>
                </a:solidFill>
                <a:latin typeface="Montserrat" panose="00000500000000000000" charset="0"/>
                <a:cs typeface="Montserrat" panose="00000500000000000000" charset="0"/>
                <a:sym typeface="+mn-ea"/>
              </a:rPr>
              <a:t>Best Random Forest Params: {'criterion': 'entropy', 'max_depth': None, 'min_samples_split': 5, 'n_estimators': 50}</a:t>
            </a:r>
            <a:endParaRPr lang="en-US" altLang="en-US">
              <a:solidFill>
                <a:schemeClr val="dk1"/>
              </a:solidFill>
              <a:latin typeface="Montserrat" panose="00000500000000000000" charset="0"/>
              <a:cs typeface="Montserrat" panose="00000500000000000000" charset="0"/>
              <a:sym typeface="+mn-ea"/>
            </a:endParaRPr>
          </a:p>
          <a:p>
            <a:pPr algn="l">
              <a:lnSpc>
                <a:spcPct val="150000"/>
              </a:lnSpc>
              <a:buSzPts val="1900"/>
            </a:pPr>
            <a:r>
              <a:rPr lang="en-US" altLang="en-US">
                <a:solidFill>
                  <a:schemeClr val="dk1"/>
                </a:solidFill>
                <a:latin typeface="Montserrat" panose="00000500000000000000" charset="0"/>
                <a:cs typeface="Montserrat" panose="00000500000000000000" charset="0"/>
                <a:sym typeface="+mn-ea"/>
              </a:rPr>
              <a:t>Best Score: 0.9999957064196611</a:t>
            </a:r>
            <a:endParaRPr lang="en-US" altLang="en-US">
              <a:solidFill>
                <a:schemeClr val="dk1"/>
              </a:solidFill>
              <a:latin typeface="Montserrat" panose="00000500000000000000" charset="0"/>
              <a:cs typeface="Montserrat" panose="00000500000000000000"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29"/>
          <p:cNvSpPr txBox="1"/>
          <p:nvPr/>
        </p:nvSpPr>
        <p:spPr>
          <a:xfrm>
            <a:off x="512164" y="384042"/>
            <a:ext cx="9247200" cy="7695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3400"/>
              <a:buFont typeface="Arial" panose="020B0604020202020204"/>
              <a:buNone/>
            </a:pPr>
            <a:r>
              <a:rPr lang="en-US" sz="3400">
                <a:latin typeface="Montserrat" panose="00000500000000000000"/>
                <a:ea typeface="Montserrat" panose="00000500000000000000"/>
                <a:cs typeface="Montserrat" panose="00000500000000000000"/>
                <a:sym typeface="Montserrat" panose="00000500000000000000"/>
              </a:rPr>
              <a:t>Feature Importance</a:t>
            </a:r>
            <a:endParaRPr sz="3400" b="0" i="1" u="none" strike="noStrike" cap="none">
              <a:solidFill>
                <a:srgbClr val="000000"/>
              </a:solidFill>
              <a:latin typeface="Montserrat" panose="00000500000000000000"/>
              <a:ea typeface="Montserrat" panose="00000500000000000000"/>
              <a:cs typeface="Montserrat" panose="00000500000000000000"/>
              <a:sym typeface="Montserrat" panose="00000500000000000000"/>
            </a:endParaRPr>
          </a:p>
        </p:txBody>
      </p:sp>
      <p:sp>
        <p:nvSpPr>
          <p:cNvPr id="215" name="Google Shape;215;p29"/>
          <p:cNvSpPr txBox="1"/>
          <p:nvPr/>
        </p:nvSpPr>
        <p:spPr>
          <a:xfrm>
            <a:off x="494740" y="1091150"/>
            <a:ext cx="11167800" cy="512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330"/>
              <a:buFont typeface="Arial" panose="020B0604020202020204"/>
              <a:buNone/>
            </a:pPr>
            <a:endParaRPr sz="1330" b="0" i="0" u="sng"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sp>
        <p:nvSpPr>
          <p:cNvPr id="216" name="Google Shape;216;p29"/>
          <p:cNvSpPr txBox="1"/>
          <p:nvPr>
            <p:ph type="sldNum" idx="12"/>
          </p:nvPr>
        </p:nvSpPr>
        <p:spPr>
          <a:xfrm>
            <a:off x="11296611" y="6014423"/>
            <a:ext cx="731700" cy="524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17" name="Google Shape;217;p29"/>
          <p:cNvSpPr txBox="1"/>
          <p:nvPr/>
        </p:nvSpPr>
        <p:spPr>
          <a:xfrm>
            <a:off x="225200" y="1347525"/>
            <a:ext cx="11540700" cy="7695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p:nvPr/>
        </p:nvPicPr>
        <p:blipFill>
          <a:blip r:embed="rId1"/>
          <a:stretch>
            <a:fillRect/>
          </a:stretch>
        </p:blipFill>
        <p:spPr>
          <a:xfrm>
            <a:off x="1097915" y="1412875"/>
            <a:ext cx="8869680" cy="50838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p30"/>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24" name="Google Shape;224;p30"/>
          <p:cNvSpPr txBox="1"/>
          <p:nvPr/>
        </p:nvSpPr>
        <p:spPr>
          <a:xfrm>
            <a:off x="373665" y="535349"/>
            <a:ext cx="12423900" cy="781050"/>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altLang="en-US" sz="3500" b="0" i="0" u="none" strike="noStrike" cap="none">
                <a:solidFill>
                  <a:srgbClr val="000000"/>
                </a:solidFill>
                <a:latin typeface="Arial" panose="020B0604020202020204"/>
                <a:ea typeface="Arial" panose="020B0604020202020204"/>
                <a:cs typeface="Arial" panose="020B0604020202020204"/>
                <a:sym typeface="Arial" panose="020B0604020202020204"/>
              </a:rPr>
              <a:t>Compute Real Financial Loss</a:t>
            </a:r>
            <a:endParaRPr lang="en-US" altLang="en-US" sz="35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5" name="Google Shape;225;p30"/>
          <p:cNvSpPr txBox="1"/>
          <p:nvPr/>
        </p:nvSpPr>
        <p:spPr>
          <a:xfrm>
            <a:off x="712032" y="1490008"/>
            <a:ext cx="640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sp>
        <p:nvSpPr>
          <p:cNvPr id="226" name="Google Shape;226;p30"/>
          <p:cNvSpPr txBox="1"/>
          <p:nvPr/>
        </p:nvSpPr>
        <p:spPr>
          <a:xfrm>
            <a:off x="551180" y="1557020"/>
            <a:ext cx="10271125" cy="3754120"/>
          </a:xfrm>
          <a:prstGeom prst="rect">
            <a:avLst/>
          </a:prstGeom>
          <a:noFill/>
          <a:ln>
            <a:noFill/>
          </a:ln>
        </p:spPr>
        <p:txBody>
          <a:bodyPr spcFirstLastPara="1" wrap="square" lIns="91425" tIns="91425" rIns="91425" bIns="91425" anchor="t" anchorCtr="0">
            <a:noAutofit/>
          </a:bodyPr>
          <a:lstStyle/>
          <a:p>
            <a:pPr marL="914400" marR="0" lvl="0" indent="0" algn="l" rtl="0">
              <a:lnSpc>
                <a:spcPct val="15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Clr>
                <a:srgbClr val="000000"/>
              </a:buClr>
              <a:buSzPts val="1900"/>
              <a:buFont typeface="Arial" panose="020B0604020202020204" pitchFamily="34" charset="0"/>
              <a:buNone/>
            </a:pPr>
            <a:endParaRPr lang="en-US" alt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342900" marR="0" lvl="0" indent="-342900" algn="l" rtl="0">
              <a:lnSpc>
                <a:spcPct val="150000"/>
              </a:lnSpc>
              <a:spcBef>
                <a:spcPts val="0"/>
              </a:spcBef>
              <a:spcAft>
                <a:spcPts val="0"/>
              </a:spcAft>
              <a:buClr>
                <a:srgbClr val="000000"/>
              </a:buClr>
              <a:buSzPts val="1900"/>
              <a:buFont typeface="Arial" panose="020B0604020202020204" pitchFamily="34" charset="0"/>
              <a:buChar char="•"/>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aphicFrame>
        <p:nvGraphicFramePr>
          <p:cNvPr id="2" name="Table 1"/>
          <p:cNvGraphicFramePr/>
          <p:nvPr>
            <p:custDataLst>
              <p:tags r:id="rId1"/>
            </p:custDataLst>
          </p:nvPr>
        </p:nvGraphicFramePr>
        <p:xfrm>
          <a:off x="853440" y="1546225"/>
          <a:ext cx="10205085" cy="3413125"/>
        </p:xfrm>
        <a:graphic>
          <a:graphicData uri="http://schemas.openxmlformats.org/drawingml/2006/table">
            <a:tbl>
              <a:tblPr/>
              <a:tblGrid>
                <a:gridCol w="3401695"/>
                <a:gridCol w="3401695"/>
                <a:gridCol w="3401695"/>
              </a:tblGrid>
              <a:tr h="682625">
                <a:tc>
                  <a:txBody>
                    <a:bodyPr/>
                    <a:p>
                      <a:r>
                        <a:rPr lang="en-US" altLang="zh-CN" sz="1800" b="1">
                          <a:latin typeface="Montserrat" panose="00000500000000000000" charset="0"/>
                          <a:cs typeface="Montserrat" panose="00000500000000000000" charset="0"/>
                        </a:rPr>
                        <a:t>Case</a:t>
                      </a:r>
                      <a:endParaRPr lang="en-US" altLang="zh-CN" sz="1800" b="1">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en-US" altLang="zh-CN" sz="1800" b="1">
                          <a:latin typeface="Montserrat" panose="00000500000000000000" charset="0"/>
                          <a:cs typeface="Montserrat" panose="00000500000000000000" charset="0"/>
                        </a:rPr>
                        <a:t>Meaning</a:t>
                      </a:r>
                      <a:endParaRPr lang="en-US" altLang="zh-CN" sz="1800" b="1">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en-US" altLang="zh-CN" sz="1800" b="1">
                          <a:latin typeface="Montserrat" panose="00000500000000000000" charset="0"/>
                          <a:cs typeface="Montserrat" panose="00000500000000000000" charset="0"/>
                        </a:rPr>
                        <a:t>Cost Impact</a:t>
                      </a:r>
                      <a:endParaRPr lang="en-US" altLang="zh-CN" sz="1800" b="1">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r>
              <a:tr h="682625">
                <a:tc>
                  <a:txBody>
                    <a:bodyPr/>
                    <a:p>
                      <a:r>
                        <a:rPr lang="en-US" altLang="zh-CN" sz="1800">
                          <a:latin typeface="Montserrat" panose="00000500000000000000" charset="0"/>
                          <a:cs typeface="Montserrat" panose="00000500000000000000" charset="0"/>
                        </a:rPr>
                        <a:t>FN (Missed Fraud)</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en-US" altLang="zh-CN" sz="1800">
                          <a:latin typeface="Montserrat" panose="00000500000000000000" charset="0"/>
                          <a:cs typeface="Montserrat" panose="00000500000000000000" charset="0"/>
                        </a:rPr>
                        <a:t>Fraud allowed</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zh-CN" altLang="en-US" sz="1800">
                          <a:latin typeface="Montserrat" panose="00000500000000000000" charset="0"/>
                          <a:cs typeface="Montserrat" panose="00000500000000000000" charset="0"/>
                        </a:rPr>
                        <a:t>🔴 </a:t>
                      </a:r>
                      <a:r>
                        <a:rPr lang="en-US" altLang="zh-CN" sz="1800">
                          <a:latin typeface="Montserrat" panose="00000500000000000000" charset="0"/>
                          <a:cs typeface="Montserrat" panose="00000500000000000000" charset="0"/>
                        </a:rPr>
                        <a:t>Huge Loss</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r>
              <a:tr h="682625">
                <a:tc>
                  <a:txBody>
                    <a:bodyPr/>
                    <a:p>
                      <a:r>
                        <a:rPr lang="en-US" altLang="zh-CN" sz="1800">
                          <a:latin typeface="Montserrat" panose="00000500000000000000" charset="0"/>
                          <a:cs typeface="Montserrat" panose="00000500000000000000" charset="0"/>
                        </a:rPr>
                        <a:t>FP (Blocked Genuine)</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en-US" altLang="zh-CN" sz="1800">
                          <a:latin typeface="Montserrat" panose="00000500000000000000" charset="0"/>
                          <a:cs typeface="Montserrat" panose="00000500000000000000" charset="0"/>
                        </a:rPr>
                        <a:t>Customer blocked</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zh-CN" altLang="en-US" sz="1800">
                          <a:latin typeface="Montserrat" panose="00000500000000000000" charset="0"/>
                          <a:cs typeface="Montserrat" panose="00000500000000000000" charset="0"/>
                        </a:rPr>
                        <a:t>🟡 </a:t>
                      </a:r>
                      <a:r>
                        <a:rPr lang="en-US" altLang="zh-CN" sz="1800">
                          <a:latin typeface="Montserrat" panose="00000500000000000000" charset="0"/>
                          <a:cs typeface="Montserrat" panose="00000500000000000000" charset="0"/>
                        </a:rPr>
                        <a:t>Lost revenue</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r>
              <a:tr h="682625">
                <a:tc>
                  <a:txBody>
                    <a:bodyPr/>
                    <a:p>
                      <a:r>
                        <a:rPr lang="en-US" altLang="zh-CN" sz="1800">
                          <a:latin typeface="Montserrat" panose="00000500000000000000" charset="0"/>
                          <a:cs typeface="Montserrat" panose="00000500000000000000" charset="0"/>
                        </a:rPr>
                        <a:t>TP</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en-US" altLang="zh-CN" sz="1800">
                          <a:latin typeface="Montserrat" panose="00000500000000000000" charset="0"/>
                          <a:cs typeface="Montserrat" panose="00000500000000000000" charset="0"/>
                        </a:rPr>
                        <a:t>Fraud stopped</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zh-CN" altLang="en-US" sz="1800">
                          <a:latin typeface="Montserrat" panose="00000500000000000000" charset="0"/>
                          <a:cs typeface="Montserrat" panose="00000500000000000000" charset="0"/>
                        </a:rPr>
                        <a:t>🟢 </a:t>
                      </a:r>
                      <a:r>
                        <a:rPr lang="en-US" altLang="zh-CN" sz="1800">
                          <a:latin typeface="Montserrat" panose="00000500000000000000" charset="0"/>
                          <a:cs typeface="Montserrat" panose="00000500000000000000" charset="0"/>
                        </a:rPr>
                        <a:t>Saved money</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r>
              <a:tr h="682625">
                <a:tc>
                  <a:txBody>
                    <a:bodyPr/>
                    <a:p>
                      <a:r>
                        <a:rPr lang="en-US" altLang="zh-CN" sz="1800">
                          <a:latin typeface="Montserrat" panose="00000500000000000000" charset="0"/>
                          <a:cs typeface="Montserrat" panose="00000500000000000000" charset="0"/>
                        </a:rPr>
                        <a:t>TN</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en-US" altLang="zh-CN" sz="1800">
                          <a:latin typeface="Montserrat" panose="00000500000000000000" charset="0"/>
                          <a:cs typeface="Montserrat" panose="00000500000000000000" charset="0"/>
                        </a:rPr>
                        <a:t>Normal</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c>
                  <a:txBody>
                    <a:bodyPr/>
                    <a:p>
                      <a:r>
                        <a:rPr lang="en-US" altLang="zh-CN" sz="1800">
                          <a:latin typeface="Montserrat" panose="00000500000000000000" charset="0"/>
                          <a:cs typeface="Montserrat" panose="00000500000000000000" charset="0"/>
                        </a:rPr>
                        <a:t>No impact</a:t>
                      </a:r>
                      <a:endParaRPr lang="en-US" altLang="zh-CN" sz="1800">
                        <a:latin typeface="Montserrat" panose="00000500000000000000" charset="0"/>
                        <a:cs typeface="Montserrat" panose="00000500000000000000"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p30"/>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24" name="Google Shape;224;p30"/>
          <p:cNvSpPr txBox="1"/>
          <p:nvPr/>
        </p:nvSpPr>
        <p:spPr>
          <a:xfrm>
            <a:off x="373665" y="535349"/>
            <a:ext cx="12423900" cy="781050"/>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altLang="en-US" sz="3500" b="0" i="0" u="none" strike="noStrike" cap="none">
                <a:solidFill>
                  <a:srgbClr val="000000"/>
                </a:solidFill>
                <a:latin typeface="Arial" panose="020B0604020202020204"/>
                <a:ea typeface="Arial" panose="020B0604020202020204"/>
                <a:cs typeface="Arial" panose="020B0604020202020204"/>
                <a:sym typeface="Arial" panose="020B0604020202020204"/>
              </a:rPr>
              <a:t>Compute Real Financial Loss</a:t>
            </a:r>
            <a:endParaRPr lang="en-US" altLang="en-US" sz="35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5" name="Google Shape;225;p30"/>
          <p:cNvSpPr txBox="1"/>
          <p:nvPr/>
        </p:nvSpPr>
        <p:spPr>
          <a:xfrm>
            <a:off x="712032" y="1490008"/>
            <a:ext cx="640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sp>
        <p:nvSpPr>
          <p:cNvPr id="226" name="Google Shape;226;p30"/>
          <p:cNvSpPr txBox="1"/>
          <p:nvPr/>
        </p:nvSpPr>
        <p:spPr>
          <a:xfrm>
            <a:off x="551180" y="1557020"/>
            <a:ext cx="10271125" cy="3754120"/>
          </a:xfrm>
          <a:prstGeom prst="rect">
            <a:avLst/>
          </a:prstGeom>
          <a:noFill/>
          <a:ln>
            <a:noFill/>
          </a:ln>
        </p:spPr>
        <p:txBody>
          <a:bodyPr spcFirstLastPara="1" wrap="square" lIns="91425" tIns="91425" rIns="91425" bIns="91425" anchor="t" anchorCtr="0">
            <a:noAutofit/>
          </a:bodyPr>
          <a:lstStyle/>
          <a:p>
            <a:pPr marL="914400" marR="0" lvl="0" indent="0" algn="l" rtl="0">
              <a:lnSpc>
                <a:spcPct val="15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Clr>
                <a:srgbClr val="000000"/>
              </a:buClr>
              <a:buSzPts val="1900"/>
              <a:buFont typeface="Arial" panose="020B0604020202020204" pitchFamily="34" charset="0"/>
              <a:buNone/>
            </a:pPr>
            <a:endParaRPr lang="en-US" alt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342900" marR="0" lvl="0" indent="-342900" algn="l" rtl="0">
              <a:lnSpc>
                <a:spcPct val="150000"/>
              </a:lnSpc>
              <a:spcBef>
                <a:spcPts val="0"/>
              </a:spcBef>
              <a:spcAft>
                <a:spcPts val="0"/>
              </a:spcAft>
              <a:buClr>
                <a:srgbClr val="000000"/>
              </a:buClr>
              <a:buSzPts val="1900"/>
              <a:buFont typeface="Arial" panose="020B0604020202020204" pitchFamily="34" charset="0"/>
              <a:buChar char="•"/>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1"/>
          <a:stretch>
            <a:fillRect/>
          </a:stretch>
        </p:blipFill>
        <p:spPr>
          <a:xfrm>
            <a:off x="601980" y="1720850"/>
            <a:ext cx="9010015" cy="43910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p30"/>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24" name="Google Shape;224;p30"/>
          <p:cNvSpPr txBox="1"/>
          <p:nvPr/>
        </p:nvSpPr>
        <p:spPr>
          <a:xfrm>
            <a:off x="373665" y="535349"/>
            <a:ext cx="12423900" cy="781050"/>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altLang="en-US" sz="3500" b="0" i="0" u="none" strike="noStrike" cap="none">
                <a:solidFill>
                  <a:srgbClr val="000000"/>
                </a:solidFill>
                <a:latin typeface="Arial" panose="020B0604020202020204"/>
                <a:ea typeface="Arial" panose="020B0604020202020204"/>
                <a:cs typeface="Arial" panose="020B0604020202020204"/>
                <a:sym typeface="Arial" panose="020B0604020202020204"/>
              </a:rPr>
              <a:t>Compute Real Financial Loss</a:t>
            </a:r>
            <a:endParaRPr lang="en-US" altLang="en-US" sz="35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5" name="Google Shape;225;p30"/>
          <p:cNvSpPr txBox="1"/>
          <p:nvPr/>
        </p:nvSpPr>
        <p:spPr>
          <a:xfrm>
            <a:off x="712032" y="1490008"/>
            <a:ext cx="640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sp>
        <p:nvSpPr>
          <p:cNvPr id="226" name="Google Shape;226;p30"/>
          <p:cNvSpPr txBox="1"/>
          <p:nvPr/>
        </p:nvSpPr>
        <p:spPr>
          <a:xfrm>
            <a:off x="551180" y="1557020"/>
            <a:ext cx="10271125" cy="4982210"/>
          </a:xfrm>
          <a:prstGeom prst="rect">
            <a:avLst/>
          </a:prstGeom>
          <a:noFill/>
          <a:ln>
            <a:noFill/>
          </a:ln>
        </p:spPr>
        <p:txBody>
          <a:bodyPr spcFirstLastPara="1" wrap="square" lIns="91425" tIns="91425" rIns="91425" bIns="91425" anchor="t" anchorCtr="0">
            <a:noAutofit/>
          </a:bodyPr>
          <a:lstStyle/>
          <a:p>
            <a:pPr marL="914400" marR="0" lvl="0" indent="0" algn="l" rtl="0">
              <a:lnSpc>
                <a:spcPct val="150000"/>
              </a:lnSpc>
              <a:spcBef>
                <a:spcPts val="0"/>
              </a:spcBef>
              <a:spcAft>
                <a:spcPts val="0"/>
              </a:spcAft>
              <a:buClr>
                <a:srgbClr val="000000"/>
              </a:buClr>
              <a:buSzPts val="1900"/>
              <a:buFont typeface="Arial" panose="020B0604020202020204"/>
              <a:buNone/>
            </a:pPr>
            <a:r>
              <a:rPr lang="en-US" altLang="en-US" sz="19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With Cost Optimization</a:t>
            </a:r>
            <a:endParaRPr lang="en-US" altLang="en-US" sz="19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1257300" marR="0" lvl="0" indent="-342900" algn="l" rtl="0">
              <a:lnSpc>
                <a:spcPct val="150000"/>
              </a:lnSpc>
              <a:spcBef>
                <a:spcPts val="0"/>
              </a:spcBef>
              <a:spcAft>
                <a:spcPts val="0"/>
              </a:spcAft>
              <a:buClr>
                <a:srgbClr val="000000"/>
              </a:buClr>
              <a:buSzPts val="1900"/>
              <a:buFont typeface="Arial" panose="020B0604020202020204" pitchFamily="34" charset="0"/>
              <a:buChar char="•"/>
            </a:pPr>
            <a:r>
              <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Threshold adjusted based on ₹ impact</a:t>
            </a:r>
            <a:endPar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914400" marR="0" lvl="0" indent="0" algn="l" rtl="0">
              <a:lnSpc>
                <a:spcPct val="150000"/>
              </a:lnSpc>
              <a:spcBef>
                <a:spcPts val="0"/>
              </a:spcBef>
              <a:spcAft>
                <a:spcPts val="0"/>
              </a:spcAft>
              <a:buClr>
                <a:srgbClr val="000000"/>
              </a:buClr>
              <a:buSzPts val="1900"/>
              <a:buFont typeface="Arial" panose="020B0604020202020204" pitchFamily="34" charset="0"/>
              <a:buNone/>
            </a:pPr>
            <a:r>
              <a:rPr lang="en-US" altLang="en-US" sz="19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Minimizes</a:t>
            </a:r>
            <a:r>
              <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a:t>
            </a:r>
            <a:endPar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1257300" marR="0" lvl="0" indent="-342900" algn="l" rtl="0">
              <a:lnSpc>
                <a:spcPct val="150000"/>
              </a:lnSpc>
              <a:spcBef>
                <a:spcPts val="0"/>
              </a:spcBef>
              <a:spcAft>
                <a:spcPts val="0"/>
              </a:spcAft>
              <a:buClr>
                <a:srgbClr val="000000"/>
              </a:buClr>
              <a:buSzPts val="1900"/>
              <a:buFont typeface="Arial" panose="020B0604020202020204" pitchFamily="34" charset="0"/>
              <a:buChar char="•"/>
            </a:pPr>
            <a:r>
              <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Fraud leakage (FN)</a:t>
            </a:r>
            <a:endPar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1257300" marR="0" lvl="0" indent="-342900" algn="l" rtl="0">
              <a:lnSpc>
                <a:spcPct val="150000"/>
              </a:lnSpc>
              <a:spcBef>
                <a:spcPts val="0"/>
              </a:spcBef>
              <a:spcAft>
                <a:spcPts val="0"/>
              </a:spcAft>
              <a:buClr>
                <a:srgbClr val="000000"/>
              </a:buClr>
              <a:buSzPts val="1900"/>
              <a:buFont typeface="Arial" panose="020B0604020202020204" pitchFamily="34" charset="0"/>
              <a:buChar char="•"/>
            </a:pPr>
            <a:r>
              <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Customer loss (FP)</a:t>
            </a:r>
            <a:endPar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914400" marR="0" lvl="0" indent="0" algn="l" rtl="0">
              <a:lnSpc>
                <a:spcPct val="150000"/>
              </a:lnSpc>
              <a:spcBef>
                <a:spcPts val="0"/>
              </a:spcBef>
              <a:spcAft>
                <a:spcPts val="0"/>
              </a:spcAft>
              <a:buClr>
                <a:srgbClr val="000000"/>
              </a:buClr>
              <a:buSzPts val="1900"/>
              <a:buFont typeface="Arial" panose="020B0604020202020204"/>
              <a:buNone/>
            </a:pPr>
            <a:endParaRPr lang="zh-CN"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914400" marR="0" lvl="0" indent="0" algn="l" rtl="0">
              <a:lnSpc>
                <a:spcPct val="150000"/>
              </a:lnSpc>
              <a:spcBef>
                <a:spcPts val="0"/>
              </a:spcBef>
              <a:spcAft>
                <a:spcPts val="0"/>
              </a:spcAft>
              <a:buClr>
                <a:srgbClr val="000000"/>
              </a:buClr>
              <a:buSzPts val="1900"/>
              <a:buFont typeface="Arial" panose="020B0604020202020204"/>
              <a:buNone/>
            </a:pPr>
            <a:r>
              <a:rPr lang="en-US" altLang="en-US" sz="19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Direct business benefit:</a:t>
            </a:r>
            <a:endParaRPr lang="en-US" altLang="en-US" sz="19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1257300" marR="0" lvl="0" indent="-342900" algn="l" rtl="0">
              <a:lnSpc>
                <a:spcPct val="150000"/>
              </a:lnSpc>
              <a:spcBef>
                <a:spcPts val="0"/>
              </a:spcBef>
              <a:spcAft>
                <a:spcPts val="0"/>
              </a:spcAft>
              <a:buClr>
                <a:srgbClr val="000000"/>
              </a:buClr>
              <a:buSzPts val="1900"/>
              <a:buFont typeface="Arial" panose="020B0604020202020204" pitchFamily="34" charset="0"/>
              <a:buChar char="•"/>
            </a:pPr>
            <a:r>
              <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Reduced fraud loss</a:t>
            </a:r>
            <a:endPar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1257300" marR="0" lvl="0" indent="-342900" algn="l" rtl="0">
              <a:lnSpc>
                <a:spcPct val="150000"/>
              </a:lnSpc>
              <a:spcBef>
                <a:spcPts val="0"/>
              </a:spcBef>
              <a:spcAft>
                <a:spcPts val="0"/>
              </a:spcAft>
              <a:buClr>
                <a:srgbClr val="000000"/>
              </a:buClr>
              <a:buSzPts val="1900"/>
              <a:buFont typeface="Arial" panose="020B0604020202020204" pitchFamily="34" charset="0"/>
              <a:buChar char="•"/>
            </a:pPr>
            <a:r>
              <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Improved approval rate</a:t>
            </a:r>
            <a:endPar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1257300" marR="0" lvl="0" indent="-342900" algn="l" rtl="0">
              <a:lnSpc>
                <a:spcPct val="150000"/>
              </a:lnSpc>
              <a:spcBef>
                <a:spcPts val="0"/>
              </a:spcBef>
              <a:spcAft>
                <a:spcPts val="0"/>
              </a:spcAft>
              <a:buClr>
                <a:srgbClr val="000000"/>
              </a:buClr>
              <a:buSzPts val="1900"/>
              <a:buFont typeface="Arial" panose="020B0604020202020204" pitchFamily="34" charset="0"/>
              <a:buChar char="•"/>
            </a:pPr>
            <a:r>
              <a:rPr lang="en-US" altLang="en-US"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Increased revenue</a:t>
            </a:r>
            <a:endParaRPr sz="19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p30"/>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24" name="Google Shape;224;p30"/>
          <p:cNvSpPr txBox="1"/>
          <p:nvPr/>
        </p:nvSpPr>
        <p:spPr>
          <a:xfrm>
            <a:off x="373665" y="535349"/>
            <a:ext cx="12423900" cy="781050"/>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altLang="en-US" sz="3500" b="0" i="0" u="none" strike="noStrike" cap="none">
                <a:solidFill>
                  <a:srgbClr val="000000"/>
                </a:solidFill>
                <a:latin typeface="Arial" panose="020B0604020202020204"/>
                <a:ea typeface="Arial" panose="020B0604020202020204"/>
                <a:cs typeface="Arial" panose="020B0604020202020204"/>
                <a:sym typeface="Arial" panose="020B0604020202020204"/>
              </a:rPr>
              <a:t>Cost Optimization Curve</a:t>
            </a:r>
            <a:endParaRPr lang="en-US" altLang="en-US" sz="35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5" name="Google Shape;225;p30"/>
          <p:cNvSpPr txBox="1"/>
          <p:nvPr/>
        </p:nvSpPr>
        <p:spPr>
          <a:xfrm>
            <a:off x="712032" y="1490008"/>
            <a:ext cx="640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pic>
        <p:nvPicPr>
          <p:cNvPr id="2" name="Picture 1"/>
          <p:cNvPicPr>
            <a:picLocks noChangeAspect="1"/>
          </p:cNvPicPr>
          <p:nvPr/>
        </p:nvPicPr>
        <p:blipFill>
          <a:blip r:embed="rId1"/>
          <a:stretch>
            <a:fillRect/>
          </a:stretch>
        </p:blipFill>
        <p:spPr>
          <a:xfrm>
            <a:off x="623570" y="1316355"/>
            <a:ext cx="5936615" cy="4913630"/>
          </a:xfrm>
          <a:prstGeom prst="rect">
            <a:avLst/>
          </a:prstGeom>
        </p:spPr>
      </p:pic>
      <p:sp>
        <p:nvSpPr>
          <p:cNvPr id="208" name="Google Shape;208;p28"/>
          <p:cNvSpPr txBox="1"/>
          <p:nvPr/>
        </p:nvSpPr>
        <p:spPr>
          <a:xfrm>
            <a:off x="6805295" y="1489710"/>
            <a:ext cx="5027930" cy="1656715"/>
          </a:xfrm>
          <a:prstGeom prst="rect">
            <a:avLst/>
          </a:prstGeom>
          <a:noFill/>
          <a:ln>
            <a:noFill/>
          </a:ln>
        </p:spPr>
        <p:txBody>
          <a:bodyPr spcFirstLastPara="1" wrap="square" lIns="91425" tIns="91425" rIns="91425" bIns="91425" anchor="t" anchorCtr="0">
            <a:noAutofit/>
          </a:bodyPr>
          <a:lstStyle/>
          <a:p>
            <a:pPr marL="0" indent="0">
              <a:lnSpc>
                <a:spcPct val="110000"/>
              </a:lnSpc>
              <a:buNone/>
            </a:pPr>
            <a:r>
              <a:rPr lang="en-US" altLang="en-US" sz="1800">
                <a:solidFill>
                  <a:schemeClr val="dk1"/>
                </a:solidFill>
                <a:latin typeface="Montserrat" panose="00000500000000000000" charset="0"/>
                <a:cs typeface="Montserrat" panose="00000500000000000000" charset="0"/>
                <a:sym typeface="+mn-ea"/>
              </a:rPr>
              <a:t>Cost curve shows optimal threshold minimizing financial loss by balancing false positives and false negatives in fraud detection system</a:t>
            </a:r>
            <a:r>
              <a:rPr lang="en-US" sz="1800">
                <a:solidFill>
                  <a:schemeClr val="dk1"/>
                </a:solidFill>
                <a:latin typeface="Montserrat" panose="00000500000000000000" charset="0"/>
                <a:cs typeface="Montserrat" panose="00000500000000000000" charset="0"/>
                <a:sym typeface="+mn-ea"/>
              </a:rPr>
              <a:t>ance.</a:t>
            </a:r>
            <a:endParaRPr 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
        <p:nvSpPr>
          <p:cNvPr id="3" name="Google Shape;208;p28"/>
          <p:cNvSpPr txBox="1"/>
          <p:nvPr/>
        </p:nvSpPr>
        <p:spPr>
          <a:xfrm>
            <a:off x="6804660" y="3429000"/>
            <a:ext cx="5016500" cy="1647825"/>
          </a:xfrm>
          <a:prstGeom prst="rect">
            <a:avLst/>
          </a:prstGeom>
          <a:noFill/>
          <a:ln>
            <a:noFill/>
          </a:ln>
        </p:spPr>
        <p:txBody>
          <a:bodyPr spcFirstLastPara="1" wrap="square" lIns="91425" tIns="91425" rIns="91425" bIns="91425" anchor="t" anchorCtr="0">
            <a:noAutofit/>
          </a:bodyPr>
          <a:lstStyle/>
          <a:p>
            <a:pPr marL="0" indent="0">
              <a:lnSpc>
                <a:spcPct val="110000"/>
              </a:lnSpc>
              <a:buNone/>
            </a:pPr>
            <a:r>
              <a:rPr lang="en-US" altLang="en-US" sz="18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We optimized threshold based on cost instead of accuracy, reducing total fraud-related financial loss and improving business profitability.</a:t>
            </a:r>
            <a:endParaRPr lang="en-US" altLang="en-US" sz="18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p30"/>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24" name="Google Shape;224;p30"/>
          <p:cNvSpPr txBox="1"/>
          <p:nvPr/>
        </p:nvSpPr>
        <p:spPr>
          <a:xfrm>
            <a:off x="373665" y="533324"/>
            <a:ext cx="12423900" cy="785100"/>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0" i="0" u="none" strike="noStrike" cap="none">
                <a:solidFill>
                  <a:schemeClr val="dk1"/>
                </a:solidFill>
                <a:latin typeface="Arial" panose="020B0604020202020204"/>
                <a:ea typeface="Arial" panose="020B0604020202020204"/>
                <a:cs typeface="Arial" panose="020B0604020202020204"/>
                <a:sym typeface="Arial" panose="020B0604020202020204"/>
              </a:rPr>
              <a:t>Conclusion</a:t>
            </a:r>
            <a:endParaRPr sz="35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5" name="Google Shape;225;p30"/>
          <p:cNvSpPr txBox="1"/>
          <p:nvPr/>
        </p:nvSpPr>
        <p:spPr>
          <a:xfrm>
            <a:off x="712032" y="1490008"/>
            <a:ext cx="640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sp>
        <p:nvSpPr>
          <p:cNvPr id="226" name="Google Shape;226;p30"/>
          <p:cNvSpPr txBox="1"/>
          <p:nvPr/>
        </p:nvSpPr>
        <p:spPr>
          <a:xfrm>
            <a:off x="551180" y="1557020"/>
            <a:ext cx="10899140" cy="4676775"/>
          </a:xfrm>
          <a:prstGeom prst="rect">
            <a:avLst/>
          </a:prstGeom>
          <a:noFill/>
          <a:ln>
            <a:noFill/>
          </a:ln>
        </p:spPr>
        <p:txBody>
          <a:bodyPr spcFirstLastPara="1" wrap="square" lIns="91425" tIns="91425" rIns="91425" bIns="91425" anchor="t" anchorCtr="0">
            <a:noAutofit/>
          </a:bodyPr>
          <a:lstStyle/>
          <a:p>
            <a:pPr marL="914400" marR="0" lvl="0" indent="0" algn="l" rtl="0">
              <a:lnSpc>
                <a:spcPct val="15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indent="-285750" algn="l">
              <a:lnSpc>
                <a:spcPct val="150000"/>
              </a:lnSpc>
              <a:spcAft>
                <a:spcPts val="0"/>
              </a:spcAft>
              <a:buSzPts val="1900"/>
              <a:buFont typeface="Arial" panose="020B0604020202020204" pitchFamily="34" charset="0"/>
              <a:buChar char="•"/>
            </a:pPr>
            <a:r>
              <a:rPr lang="en-US" altLang="en-US" sz="1800">
                <a:solidFill>
                  <a:schemeClr val="dk1"/>
                </a:solidFill>
                <a:latin typeface="Montserrat" panose="00000500000000000000" charset="0"/>
                <a:cs typeface="Montserrat" panose="00000500000000000000" charset="0"/>
                <a:sym typeface="+mn-ea"/>
              </a:rPr>
              <a:t>Random Forest achieved the best results on Paytm data: 99.9% Accuracy, AUC-ROC of 0.970, Precision 87.4% and Recall 82.0%.</a:t>
            </a:r>
            <a:endParaRPr lang="en-US" altLang="en-US" sz="1800">
              <a:solidFill>
                <a:schemeClr val="dk1"/>
              </a:solidFill>
              <a:latin typeface="Montserrat" panose="00000500000000000000" charset="0"/>
              <a:cs typeface="Montserrat" panose="00000500000000000000" charset="0"/>
            </a:endParaRPr>
          </a:p>
          <a:p>
            <a:pPr marL="285750" indent="-285750" algn="l">
              <a:lnSpc>
                <a:spcPct val="150000"/>
              </a:lnSpc>
              <a:spcAft>
                <a:spcPts val="0"/>
              </a:spcAft>
              <a:buSzPts val="1900"/>
              <a:buFont typeface="Arial" panose="020B0604020202020204" pitchFamily="34" charset="0"/>
              <a:buChar char="•"/>
            </a:pPr>
            <a:r>
              <a:rPr lang="en-US" altLang="en-US" sz="1800">
                <a:solidFill>
                  <a:schemeClr val="dk1"/>
                </a:solidFill>
                <a:latin typeface="Montserrat" panose="00000500000000000000" charset="0"/>
                <a:cs typeface="Montserrat" panose="00000500000000000000" charset="0"/>
                <a:sym typeface="+mn-ea"/>
              </a:rPr>
              <a:t>99.9% Accuracy: Out of every 1,000 transactions, the model correctly classifies 999 as either safe or fraudulent.</a:t>
            </a:r>
            <a:endParaRPr lang="en-US" altLang="en-US" sz="1800">
              <a:solidFill>
                <a:schemeClr val="dk1"/>
              </a:solidFill>
              <a:latin typeface="Montserrat" panose="00000500000000000000" charset="0"/>
              <a:cs typeface="Montserrat" panose="00000500000000000000" charset="0"/>
            </a:endParaRPr>
          </a:p>
          <a:p>
            <a:pPr marL="285750" indent="-285750" algn="l">
              <a:lnSpc>
                <a:spcPct val="150000"/>
              </a:lnSpc>
              <a:spcAft>
                <a:spcPts val="0"/>
              </a:spcAft>
              <a:buSzPts val="1900"/>
              <a:buFont typeface="Arial" panose="020B0604020202020204" pitchFamily="34" charset="0"/>
              <a:buChar char="•"/>
            </a:pPr>
            <a:r>
              <a:rPr lang="en-US" altLang="en-US" sz="1800">
                <a:solidFill>
                  <a:schemeClr val="dk1"/>
                </a:solidFill>
                <a:latin typeface="Montserrat" panose="00000500000000000000" charset="0"/>
                <a:cs typeface="Montserrat" panose="00000500000000000000" charset="0"/>
                <a:sym typeface="+mn-ea"/>
              </a:rPr>
              <a:t>AUC-ROC of 0.970: This indicates outstanding model performance. The Area Under the Curve (AUC) measures how well the model separates the two classes (fraud vs. non-fraud). An AUC of 0.97 (out of 1.0) means it is highly unlikely the model will confuse a fraudulent transaction with a safe one.</a:t>
            </a:r>
            <a:endParaRPr lang="en-US" altLang="en-US" sz="1800">
              <a:solidFill>
                <a:schemeClr val="dk1"/>
              </a:solidFill>
              <a:latin typeface="Montserrat" panose="00000500000000000000" charset="0"/>
              <a:cs typeface="Montserrat" panose="00000500000000000000" charset="0"/>
            </a:endParaRPr>
          </a:p>
          <a:p>
            <a:pPr marL="285750" marR="0" lvl="0" indent="-285750" algn="l" rtl="0">
              <a:lnSpc>
                <a:spcPct val="150000"/>
              </a:lnSpc>
              <a:spcBef>
                <a:spcPts val="0"/>
              </a:spcBef>
              <a:spcAft>
                <a:spcPts val="0"/>
              </a:spcAft>
              <a:buClr>
                <a:srgbClr val="000000"/>
              </a:buClr>
              <a:buSzPts val="1900"/>
              <a:buFont typeface="Arial" panose="020B0604020202020204" pitchFamily="34" charset="0"/>
              <a:buChar char="•"/>
            </a:pPr>
            <a:endParaRPr lang="en-US" alt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342900" marR="0" lvl="0" indent="-342900" algn="l" rtl="0">
              <a:lnSpc>
                <a:spcPct val="150000"/>
              </a:lnSpc>
              <a:spcBef>
                <a:spcPts val="0"/>
              </a:spcBef>
              <a:spcAft>
                <a:spcPts val="0"/>
              </a:spcAft>
              <a:buClr>
                <a:srgbClr val="000000"/>
              </a:buClr>
              <a:buSzPts val="1900"/>
              <a:buFont typeface="Arial" panose="020B0604020202020204" pitchFamily="34" charset="0"/>
              <a:buChar char="•"/>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p30"/>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24" name="Google Shape;224;p30"/>
          <p:cNvSpPr txBox="1"/>
          <p:nvPr/>
        </p:nvSpPr>
        <p:spPr>
          <a:xfrm>
            <a:off x="373665" y="535349"/>
            <a:ext cx="12423900" cy="781050"/>
          </a:xfrm>
          <a:prstGeom prst="rect">
            <a:avLst/>
          </a:prstGeom>
          <a:noFill/>
          <a:ln>
            <a:noFill/>
          </a:ln>
        </p:spPr>
        <p:txBody>
          <a:bodyPr spcFirstLastPara="1" wrap="square" lIns="121900" tIns="121900" rIns="121900" bIns="121900" anchor="ctr" anchorCtr="0">
            <a:spAutoFit/>
          </a:bodyPr>
          <a:lstStyle/>
          <a:p>
            <a:pPr marL="0" marR="0" lvl="0" indent="0" algn="l" rtl="0">
              <a:lnSpc>
                <a:spcPct val="100000"/>
              </a:lnSpc>
              <a:spcBef>
                <a:spcPts val="0"/>
              </a:spcBef>
              <a:spcAft>
                <a:spcPts val="0"/>
              </a:spcAft>
              <a:buClr>
                <a:srgbClr val="000000"/>
              </a:buClr>
              <a:buSzPts val="3500"/>
              <a:buFont typeface="Arial" panose="020B0604020202020204"/>
              <a:buNone/>
            </a:pPr>
            <a:r>
              <a:rPr lang="en-US" sz="3500" b="1"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rPr>
              <a:t>Conclusion</a:t>
            </a:r>
            <a:endParaRPr sz="3500" b="1" i="0" u="none" strike="noStrike" cap="none">
              <a:solidFill>
                <a:srgbClr val="000000"/>
              </a:solidFill>
              <a:latin typeface="Montserrat" panose="00000500000000000000" charset="0"/>
              <a:ea typeface="Arial" panose="020B0604020202020204"/>
              <a:cs typeface="Montserrat" panose="00000500000000000000" charset="0"/>
              <a:sym typeface="Arial" panose="020B0604020202020204"/>
            </a:endParaRPr>
          </a:p>
        </p:txBody>
      </p:sp>
      <p:sp>
        <p:nvSpPr>
          <p:cNvPr id="225" name="Google Shape;225;p30"/>
          <p:cNvSpPr txBox="1"/>
          <p:nvPr/>
        </p:nvSpPr>
        <p:spPr>
          <a:xfrm>
            <a:off x="712032" y="1490008"/>
            <a:ext cx="640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p:txBody>
      </p:sp>
      <p:sp>
        <p:nvSpPr>
          <p:cNvPr id="226" name="Google Shape;226;p30"/>
          <p:cNvSpPr txBox="1"/>
          <p:nvPr/>
        </p:nvSpPr>
        <p:spPr>
          <a:xfrm>
            <a:off x="551180" y="1412875"/>
            <a:ext cx="7020560" cy="5034280"/>
          </a:xfrm>
          <a:prstGeom prst="rect">
            <a:avLst/>
          </a:prstGeom>
          <a:noFill/>
          <a:ln>
            <a:noFill/>
          </a:ln>
        </p:spPr>
        <p:txBody>
          <a:bodyPr spcFirstLastPara="1" wrap="square" lIns="91425" tIns="91425" rIns="91425" bIns="91425" anchor="t" anchorCtr="0">
            <a:noAutofit/>
          </a:bodyPr>
          <a:lstStyle/>
          <a:p>
            <a:pPr marL="914400" marR="0" lvl="0" indent="0" algn="l" rtl="0">
              <a:lnSpc>
                <a:spcPct val="150000"/>
              </a:lnSpc>
              <a:spcBef>
                <a:spcPts val="0"/>
              </a:spcBef>
              <a:spcAft>
                <a:spcPts val="0"/>
              </a:spcAft>
              <a:buClr>
                <a:srgbClr val="000000"/>
              </a:buClr>
              <a:buSzPts val="1900"/>
              <a:buFont typeface="Arial" panose="020B0604020202020204"/>
              <a:buNone/>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indent="-285750" algn="l">
              <a:lnSpc>
                <a:spcPct val="150000"/>
              </a:lnSpc>
              <a:spcAft>
                <a:spcPts val="0"/>
              </a:spcAft>
              <a:buSzPts val="1900"/>
              <a:buFont typeface="Arial" panose="020B0604020202020204" pitchFamily="34" charset="0"/>
              <a:buChar char="•"/>
            </a:pPr>
            <a:r>
              <a:rPr lang="en-US" altLang="en-US" sz="1800">
                <a:solidFill>
                  <a:schemeClr val="dk1"/>
                </a:solidFill>
                <a:latin typeface="Montserrat" panose="00000500000000000000" charset="0"/>
                <a:cs typeface="Montserrat" panose="00000500000000000000" charset="0"/>
                <a:sym typeface="+mn-ea"/>
              </a:rPr>
              <a:t>Precision 87.4%: When the model flags a transaction as "fraud," it is correct 87.4% of the time. This means there are low false alarms (wrongly flagging good transactions).</a:t>
            </a:r>
            <a:endParaRPr lang="en-US" altLang="en-US" sz="1800">
              <a:solidFill>
                <a:schemeClr val="dk1"/>
              </a:solidFill>
              <a:latin typeface="Montserrat" panose="00000500000000000000" charset="0"/>
              <a:cs typeface="Montserrat" panose="00000500000000000000" charset="0"/>
            </a:endParaRPr>
          </a:p>
          <a:p>
            <a:pPr marL="285750" indent="-285750" algn="l">
              <a:lnSpc>
                <a:spcPct val="150000"/>
              </a:lnSpc>
              <a:spcAft>
                <a:spcPts val="0"/>
              </a:spcAft>
              <a:buSzPts val="1900"/>
              <a:buFont typeface="Arial" panose="020B0604020202020204" pitchFamily="34" charset="0"/>
              <a:buChar char="•"/>
            </a:pPr>
            <a:r>
              <a:rPr lang="en-US" altLang="en-US" sz="1800">
                <a:solidFill>
                  <a:schemeClr val="dk1"/>
                </a:solidFill>
                <a:latin typeface="Montserrat" panose="00000500000000000000" charset="0"/>
                <a:cs typeface="Montserrat" panose="00000500000000000000" charset="0"/>
                <a:sym typeface="+mn-ea"/>
              </a:rPr>
              <a:t>Recall 82.0%: The model successfully identifies 82% of all actual fraud cases occurring. While 18% of fraudulent cases might be missed, the high precision and high overall accuracy indicate a strong balance, likely designed not to annoy too many genuine users with false alerts.</a:t>
            </a:r>
            <a:endParaRPr lang="en-US" altLang="en-US" sz="1800">
              <a:solidFill>
                <a:schemeClr val="dk1"/>
              </a:solidFill>
              <a:latin typeface="Montserrat" panose="00000500000000000000" charset="0"/>
              <a:cs typeface="Montserrat" panose="00000500000000000000" charset="0"/>
            </a:endParaRPr>
          </a:p>
          <a:p>
            <a:pPr marL="0" marR="0" lvl="0" indent="0" algn="l" rtl="0">
              <a:lnSpc>
                <a:spcPct val="150000"/>
              </a:lnSpc>
              <a:spcBef>
                <a:spcPts val="0"/>
              </a:spcBef>
              <a:spcAft>
                <a:spcPts val="0"/>
              </a:spcAft>
              <a:buClr>
                <a:srgbClr val="000000"/>
              </a:buClr>
              <a:buSzPts val="1900"/>
              <a:buFont typeface="Arial" panose="020B0604020202020204" pitchFamily="34" charset="0"/>
              <a:buNone/>
            </a:pPr>
            <a:endParaRPr lang="en-US" altLang="en-US" sz="1800" b="0" i="0" u="none" strike="noStrike" cap="none">
              <a:solidFill>
                <a:schemeClr val="dk1"/>
              </a:solidFill>
              <a:latin typeface="Montserrat" panose="00000500000000000000" charset="0"/>
              <a:ea typeface="Arial" panose="020B0604020202020204"/>
              <a:cs typeface="Montserrat" panose="00000500000000000000" charset="0"/>
              <a:sym typeface="Arial" panose="020B0604020202020204"/>
            </a:endParaRPr>
          </a:p>
          <a:p>
            <a:pPr marL="342900" marR="0" lvl="0" indent="-342900" algn="l" rtl="0">
              <a:lnSpc>
                <a:spcPct val="150000"/>
              </a:lnSpc>
              <a:spcBef>
                <a:spcPts val="0"/>
              </a:spcBef>
              <a:spcAft>
                <a:spcPts val="0"/>
              </a:spcAft>
              <a:buClr>
                <a:srgbClr val="000000"/>
              </a:buClr>
              <a:buSzPts val="1900"/>
              <a:buFont typeface="Arial" panose="020B0604020202020204" pitchFamily="34" charset="0"/>
              <a:buChar char="•"/>
            </a:pPr>
            <a:endParaRPr sz="19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8" name="Shape 6"/>
          <p:cNvSpPr/>
          <p:nvPr>
            <p:custDataLst>
              <p:tags r:id="rId1"/>
            </p:custDataLst>
          </p:nvPr>
        </p:nvSpPr>
        <p:spPr>
          <a:xfrm>
            <a:off x="8013700" y="908685"/>
            <a:ext cx="3429000" cy="1325245"/>
          </a:xfrm>
          <a:prstGeom prst="rect">
            <a:avLst/>
          </a:prstGeom>
          <a:solidFill>
            <a:srgbClr val="E3F0FF"/>
          </a:solidFill>
          <a:ln w="12700">
            <a:solidFill>
              <a:srgbClr val="D0DFF0"/>
            </a:solidFill>
            <a:prstDash val="solid"/>
          </a:ln>
        </p:spPr>
        <p:txBody>
          <a:bodyPr/>
          <a:p>
            <a:endParaRPr lang="en-US"/>
          </a:p>
        </p:txBody>
      </p:sp>
      <p:sp>
        <p:nvSpPr>
          <p:cNvPr id="9" name="Text 7"/>
          <p:cNvSpPr/>
          <p:nvPr/>
        </p:nvSpPr>
        <p:spPr>
          <a:xfrm>
            <a:off x="8041005" y="1196848"/>
            <a:ext cx="457200" cy="457200"/>
          </a:xfrm>
          <a:prstGeom prst="rect">
            <a:avLst/>
          </a:prstGeom>
          <a:noFill/>
        </p:spPr>
        <p:txBody>
          <a:bodyPr wrap="square" lIns="0" tIns="0" rIns="0" bIns="0" rtlCol="0" anchor="ctr"/>
          <a:lstStyle/>
          <a:p>
            <a:pPr marL="0" indent="0">
              <a:buNone/>
            </a:pPr>
            <a:r>
              <a:rPr lang="en-US" sz="1800" dirty="0">
                <a:solidFill>
                  <a:srgbClr val="000000"/>
                </a:solidFill>
              </a:rPr>
              <a:t>🔁</a:t>
            </a:r>
            <a:endParaRPr lang="en-US" sz="1800" dirty="0"/>
          </a:p>
        </p:txBody>
      </p:sp>
      <p:sp>
        <p:nvSpPr>
          <p:cNvPr id="10" name="Text 8"/>
          <p:cNvSpPr/>
          <p:nvPr>
            <p:custDataLst>
              <p:tags r:id="rId2"/>
            </p:custDataLst>
          </p:nvPr>
        </p:nvSpPr>
        <p:spPr>
          <a:xfrm>
            <a:off x="8498332" y="980821"/>
            <a:ext cx="2834640" cy="274320"/>
          </a:xfrm>
          <a:prstGeom prst="rect">
            <a:avLst/>
          </a:prstGeom>
          <a:noFill/>
        </p:spPr>
        <p:txBody>
          <a:bodyPr wrap="square" lIns="0" tIns="0" rIns="0" bIns="0" rtlCol="0" anchor="ctr"/>
          <a:lstStyle/>
          <a:p>
            <a:pPr marL="0" indent="0">
              <a:buNone/>
            </a:pPr>
            <a:r>
              <a:rPr lang="en-US" sz="1800" b="1" dirty="0">
                <a:solidFill>
                  <a:srgbClr val="0D3B6E"/>
                </a:solidFill>
                <a:latin typeface="Montserrat" panose="00000500000000000000" charset="0"/>
                <a:ea typeface="Calibri" panose="020F0502020204030204" pitchFamily="34" charset="-122"/>
                <a:cs typeface="Montserrat" panose="00000500000000000000" charset="0"/>
              </a:rPr>
              <a:t>Real-Time Detection</a:t>
            </a:r>
            <a:endParaRPr lang="en-US" sz="1800" b="1" dirty="0">
              <a:solidFill>
                <a:srgbClr val="0D3B6E"/>
              </a:solidFill>
              <a:latin typeface="Montserrat" panose="00000500000000000000" charset="0"/>
              <a:ea typeface="Calibri" panose="020F0502020204030204" pitchFamily="34" charset="-122"/>
              <a:cs typeface="Montserrat" panose="00000500000000000000" charset="0"/>
            </a:endParaRPr>
          </a:p>
        </p:txBody>
      </p:sp>
      <p:sp>
        <p:nvSpPr>
          <p:cNvPr id="11" name="Text 9"/>
          <p:cNvSpPr/>
          <p:nvPr>
            <p:custDataLst>
              <p:tags r:id="rId3"/>
            </p:custDataLst>
          </p:nvPr>
        </p:nvSpPr>
        <p:spPr>
          <a:xfrm>
            <a:off x="8543925" y="1255395"/>
            <a:ext cx="2834640" cy="1014730"/>
          </a:xfrm>
          <a:prstGeom prst="rect">
            <a:avLst/>
          </a:prstGeom>
          <a:noFill/>
        </p:spPr>
        <p:txBody>
          <a:bodyPr wrap="square" lIns="0" tIns="0" rIns="0" bIns="0" rtlCol="0" anchor="ctr"/>
          <a:lstStyle/>
          <a:p>
            <a:pPr marL="0" indent="0">
              <a:buNone/>
            </a:pPr>
            <a:r>
              <a:rPr lang="en-US" dirty="0">
                <a:solidFill>
                  <a:srgbClr val="4A6080"/>
                </a:solidFill>
                <a:latin typeface="Montserrat" panose="00000500000000000000" charset="0"/>
                <a:ea typeface="Calibri" panose="020F0502020204030204" pitchFamily="34" charset="-122"/>
                <a:cs typeface="Montserrat" panose="00000500000000000000" charset="0"/>
                <a:sym typeface="+mn-ea"/>
              </a:rPr>
              <a:t>Deploy Random Forest on Kafka/Spark Streaming — score TRANSFER &amp; CASH_OUT transactions in real time</a:t>
            </a:r>
            <a:endParaRPr lang="en-US" dirty="0">
              <a:solidFill>
                <a:srgbClr val="4A6080"/>
              </a:solidFill>
              <a:latin typeface="Montserrat" panose="00000500000000000000" charset="0"/>
              <a:ea typeface="Calibri" panose="020F0502020204030204" pitchFamily="34" charset="-122"/>
              <a:cs typeface="Montserrat" panose="00000500000000000000" charset="0"/>
            </a:endParaRPr>
          </a:p>
        </p:txBody>
      </p:sp>
      <p:sp>
        <p:nvSpPr>
          <p:cNvPr id="12" name="Shape 10"/>
          <p:cNvSpPr/>
          <p:nvPr>
            <p:custDataLst>
              <p:tags r:id="rId4"/>
            </p:custDataLst>
          </p:nvPr>
        </p:nvSpPr>
        <p:spPr>
          <a:xfrm>
            <a:off x="7967980" y="2394585"/>
            <a:ext cx="3429000" cy="1169670"/>
          </a:xfrm>
          <a:prstGeom prst="rect">
            <a:avLst/>
          </a:prstGeom>
          <a:solidFill>
            <a:srgbClr val="FFFFFF"/>
          </a:solidFill>
          <a:ln w="12700">
            <a:solidFill>
              <a:srgbClr val="D0DFF0"/>
            </a:solidFill>
            <a:prstDash val="solid"/>
          </a:ln>
        </p:spPr>
        <p:txBody>
          <a:bodyPr/>
          <a:p>
            <a:endParaRPr lang="en-US"/>
          </a:p>
        </p:txBody>
      </p:sp>
      <p:sp>
        <p:nvSpPr>
          <p:cNvPr id="13" name="Text 11"/>
          <p:cNvSpPr/>
          <p:nvPr/>
        </p:nvSpPr>
        <p:spPr>
          <a:xfrm>
            <a:off x="8013700" y="2564765"/>
            <a:ext cx="457200" cy="457200"/>
          </a:xfrm>
          <a:prstGeom prst="rect">
            <a:avLst/>
          </a:prstGeom>
          <a:noFill/>
        </p:spPr>
        <p:txBody>
          <a:bodyPr wrap="square" lIns="0" tIns="0" rIns="0" bIns="0" rtlCol="0" anchor="ctr"/>
          <a:lstStyle/>
          <a:p>
            <a:pPr marL="0" indent="0">
              <a:buNone/>
            </a:pPr>
            <a:r>
              <a:rPr lang="en-US" sz="1800" dirty="0">
                <a:solidFill>
                  <a:srgbClr val="000000"/>
                </a:solidFill>
              </a:rPr>
              <a:t>🔄</a:t>
            </a:r>
            <a:endParaRPr lang="en-US" sz="1800" dirty="0"/>
          </a:p>
        </p:txBody>
      </p:sp>
      <p:sp>
        <p:nvSpPr>
          <p:cNvPr id="14" name="Text 12"/>
          <p:cNvSpPr/>
          <p:nvPr>
            <p:custDataLst>
              <p:tags r:id="rId5"/>
            </p:custDataLst>
          </p:nvPr>
        </p:nvSpPr>
        <p:spPr>
          <a:xfrm>
            <a:off x="8472297" y="2424303"/>
            <a:ext cx="2834640" cy="274320"/>
          </a:xfrm>
          <a:prstGeom prst="rect">
            <a:avLst/>
          </a:prstGeom>
          <a:noFill/>
        </p:spPr>
        <p:txBody>
          <a:bodyPr wrap="square" lIns="0" tIns="0" rIns="0" bIns="0" rtlCol="0" anchor="ctr"/>
          <a:lstStyle/>
          <a:p>
            <a:pPr marL="0" indent="0">
              <a:buNone/>
            </a:pPr>
            <a:r>
              <a:rPr lang="en-US" sz="1800" b="1" dirty="0">
                <a:solidFill>
                  <a:srgbClr val="0D3B6E"/>
                </a:solidFill>
                <a:latin typeface="Montserrat" panose="00000500000000000000" charset="0"/>
                <a:ea typeface="Calibri" panose="020F0502020204030204" pitchFamily="34" charset="-122"/>
                <a:cs typeface="Montserrat" panose="00000500000000000000" charset="0"/>
              </a:rPr>
              <a:t>Continuous Retraining</a:t>
            </a:r>
            <a:endParaRPr lang="en-US" sz="1800" b="1" dirty="0">
              <a:solidFill>
                <a:srgbClr val="0D3B6E"/>
              </a:solidFill>
              <a:latin typeface="Montserrat" panose="00000500000000000000" charset="0"/>
              <a:ea typeface="Calibri" panose="020F0502020204030204" pitchFamily="34" charset="-122"/>
              <a:cs typeface="Montserrat" panose="00000500000000000000" charset="0"/>
            </a:endParaRPr>
          </a:p>
        </p:txBody>
      </p:sp>
      <p:sp>
        <p:nvSpPr>
          <p:cNvPr id="15" name="Text 13"/>
          <p:cNvSpPr/>
          <p:nvPr>
            <p:custDataLst>
              <p:tags r:id="rId6"/>
            </p:custDataLst>
          </p:nvPr>
        </p:nvSpPr>
        <p:spPr>
          <a:xfrm>
            <a:off x="8544052" y="2853182"/>
            <a:ext cx="2834640" cy="457200"/>
          </a:xfrm>
          <a:prstGeom prst="rect">
            <a:avLst/>
          </a:prstGeom>
          <a:noFill/>
        </p:spPr>
        <p:txBody>
          <a:bodyPr wrap="square" lIns="0" tIns="0" rIns="0" bIns="0" rtlCol="0" anchor="ctr"/>
          <a:lstStyle/>
          <a:p>
            <a:pPr marL="0" indent="0">
              <a:buNone/>
            </a:pPr>
            <a:r>
              <a:rPr lang="en-US" dirty="0">
                <a:solidFill>
                  <a:srgbClr val="4A6080"/>
                </a:solidFill>
                <a:latin typeface="Montserrat" panose="00000500000000000000" charset="0"/>
                <a:ea typeface="Calibri" panose="020F0502020204030204" pitchFamily="34" charset="-122"/>
                <a:cs typeface="Montserrat" panose="00000500000000000000" charset="0"/>
              </a:rPr>
              <a:t>Retrain monthly as fraud patterns evolve; monitor data drift on</a:t>
            </a:r>
            <a:r>
              <a:rPr lang="en-US" sz="1800" dirty="0">
                <a:solidFill>
                  <a:srgbClr val="4A6080"/>
                </a:solidFill>
                <a:latin typeface="Montserrat" panose="00000500000000000000" charset="0"/>
                <a:ea typeface="Calibri" panose="020F0502020204030204" pitchFamily="34" charset="-122"/>
                <a:cs typeface="Montserrat" panose="00000500000000000000" charset="0"/>
              </a:rPr>
              <a:t> </a:t>
            </a:r>
            <a:r>
              <a:rPr lang="en-US" dirty="0">
                <a:solidFill>
                  <a:srgbClr val="4A6080"/>
                </a:solidFill>
                <a:latin typeface="Montserrat" panose="00000500000000000000" charset="0"/>
                <a:ea typeface="Calibri" panose="020F0502020204030204" pitchFamily="34" charset="-122"/>
                <a:cs typeface="Montserrat" panose="00000500000000000000" charset="0"/>
              </a:rPr>
              <a:t>amount distributions</a:t>
            </a:r>
            <a:endParaRPr lang="en-US" dirty="0">
              <a:solidFill>
                <a:srgbClr val="4A6080"/>
              </a:solidFill>
              <a:latin typeface="Montserrat" panose="00000500000000000000" charset="0"/>
              <a:ea typeface="Calibri" panose="020F0502020204030204" pitchFamily="34" charset="-122"/>
              <a:cs typeface="Montserrat" panose="00000500000000000000" charset="0"/>
            </a:endParaRPr>
          </a:p>
        </p:txBody>
      </p:sp>
      <p:sp>
        <p:nvSpPr>
          <p:cNvPr id="16" name="Shape 14"/>
          <p:cNvSpPr/>
          <p:nvPr>
            <p:custDataLst>
              <p:tags r:id="rId7"/>
            </p:custDataLst>
          </p:nvPr>
        </p:nvSpPr>
        <p:spPr>
          <a:xfrm>
            <a:off x="7967980" y="3683000"/>
            <a:ext cx="3429000" cy="1198880"/>
          </a:xfrm>
          <a:prstGeom prst="rect">
            <a:avLst/>
          </a:prstGeom>
          <a:solidFill>
            <a:srgbClr val="E3F0FF"/>
          </a:solidFill>
          <a:ln w="12700">
            <a:solidFill>
              <a:srgbClr val="D0DFF0"/>
            </a:solidFill>
            <a:prstDash val="solid"/>
          </a:ln>
        </p:spPr>
      </p:sp>
      <p:sp>
        <p:nvSpPr>
          <p:cNvPr id="17" name="Text 15"/>
          <p:cNvSpPr/>
          <p:nvPr/>
        </p:nvSpPr>
        <p:spPr>
          <a:xfrm>
            <a:off x="8013700" y="3861562"/>
            <a:ext cx="457200" cy="457200"/>
          </a:xfrm>
          <a:prstGeom prst="rect">
            <a:avLst/>
          </a:prstGeom>
          <a:noFill/>
        </p:spPr>
        <p:txBody>
          <a:bodyPr wrap="square" lIns="0" tIns="0" rIns="0" bIns="0" rtlCol="0" anchor="ctr"/>
          <a:lstStyle/>
          <a:p>
            <a:pPr marL="0" indent="0">
              <a:buNone/>
            </a:pPr>
            <a:r>
              <a:rPr lang="en-US" sz="1800" dirty="0">
                <a:solidFill>
                  <a:srgbClr val="000000"/>
                </a:solidFill>
              </a:rPr>
              <a:t>🛡️</a:t>
            </a:r>
            <a:endParaRPr lang="en-US" sz="1800" dirty="0"/>
          </a:p>
        </p:txBody>
      </p:sp>
      <p:sp>
        <p:nvSpPr>
          <p:cNvPr id="18" name="Text 16"/>
          <p:cNvSpPr/>
          <p:nvPr>
            <p:custDataLst>
              <p:tags r:id="rId8"/>
            </p:custDataLst>
          </p:nvPr>
        </p:nvSpPr>
        <p:spPr>
          <a:xfrm>
            <a:off x="8498332" y="3765550"/>
            <a:ext cx="2834640" cy="274320"/>
          </a:xfrm>
          <a:prstGeom prst="rect">
            <a:avLst/>
          </a:prstGeom>
          <a:noFill/>
        </p:spPr>
        <p:txBody>
          <a:bodyPr wrap="square" lIns="0" tIns="0" rIns="0" bIns="0" rtlCol="0" anchor="ctr"/>
          <a:lstStyle/>
          <a:p>
            <a:pPr marL="0" indent="0">
              <a:buNone/>
            </a:pPr>
            <a:r>
              <a:rPr lang="en-US" sz="1800" b="1" dirty="0">
                <a:solidFill>
                  <a:srgbClr val="0D3B6E"/>
                </a:solidFill>
                <a:latin typeface="Montserrat" panose="00000500000000000000" charset="0"/>
                <a:ea typeface="Calibri" panose="020F0502020204030204" pitchFamily="34" charset="-122"/>
                <a:cs typeface="Montserrat" panose="00000500000000000000" charset="0"/>
              </a:rPr>
              <a:t>Hybrid Approach</a:t>
            </a:r>
            <a:endParaRPr lang="en-US" sz="1800" b="1" dirty="0">
              <a:solidFill>
                <a:srgbClr val="0D3B6E"/>
              </a:solidFill>
              <a:latin typeface="Montserrat" panose="00000500000000000000" charset="0"/>
              <a:ea typeface="Calibri" panose="020F0502020204030204" pitchFamily="34" charset="-122"/>
              <a:cs typeface="Montserrat" panose="00000500000000000000" charset="0"/>
            </a:endParaRPr>
          </a:p>
        </p:txBody>
      </p:sp>
      <p:sp>
        <p:nvSpPr>
          <p:cNvPr id="19" name="Text 17"/>
          <p:cNvSpPr/>
          <p:nvPr>
            <p:custDataLst>
              <p:tags r:id="rId9"/>
            </p:custDataLst>
          </p:nvPr>
        </p:nvSpPr>
        <p:spPr>
          <a:xfrm>
            <a:off x="8498205" y="4046855"/>
            <a:ext cx="2834640" cy="824230"/>
          </a:xfrm>
          <a:prstGeom prst="rect">
            <a:avLst/>
          </a:prstGeom>
          <a:noFill/>
        </p:spPr>
        <p:txBody>
          <a:bodyPr wrap="square" lIns="0" tIns="0" rIns="0" bIns="0" rtlCol="0" anchor="ctr"/>
          <a:lstStyle/>
          <a:p>
            <a:pPr marL="0" indent="0">
              <a:buNone/>
            </a:pPr>
            <a:r>
              <a:rPr lang="en-US" dirty="0">
                <a:solidFill>
                  <a:srgbClr val="4A6080"/>
                </a:solidFill>
                <a:latin typeface="Montserrat" panose="00000500000000000000" charset="0"/>
                <a:ea typeface="Calibri" panose="020F0502020204030204" pitchFamily="34" charset="-122"/>
                <a:cs typeface="Montserrat" panose="00000500000000000000" charset="0"/>
                <a:sym typeface="+mn-ea"/>
              </a:rPr>
              <a:t>Combine Random Forest with rule: flag any TRANSFER where newbalanceOrig drops to zero</a:t>
            </a:r>
            <a:endParaRPr lang="en-US" dirty="0">
              <a:solidFill>
                <a:srgbClr val="4A6080"/>
              </a:solidFill>
              <a:latin typeface="Montserrat" panose="00000500000000000000" charset="0"/>
              <a:ea typeface="Calibri" panose="020F0502020204030204" pitchFamily="34" charset="-122"/>
              <a:cs typeface="Montserrat" panose="00000500000000000000" charset="0"/>
            </a:endParaRPr>
          </a:p>
        </p:txBody>
      </p:sp>
      <p:sp>
        <p:nvSpPr>
          <p:cNvPr id="20" name="Shape 18"/>
          <p:cNvSpPr/>
          <p:nvPr>
            <p:custDataLst>
              <p:tags r:id="rId10"/>
            </p:custDataLst>
          </p:nvPr>
        </p:nvSpPr>
        <p:spPr>
          <a:xfrm>
            <a:off x="7949565" y="5013325"/>
            <a:ext cx="3429000" cy="1217295"/>
          </a:xfrm>
          <a:prstGeom prst="rect">
            <a:avLst/>
          </a:prstGeom>
          <a:solidFill>
            <a:srgbClr val="FFFFFF"/>
          </a:solidFill>
          <a:ln w="12700">
            <a:solidFill>
              <a:srgbClr val="D0DFF0"/>
            </a:solidFill>
            <a:prstDash val="solid"/>
          </a:ln>
        </p:spPr>
      </p:sp>
      <p:sp>
        <p:nvSpPr>
          <p:cNvPr id="21" name="Text 19"/>
          <p:cNvSpPr/>
          <p:nvPr/>
        </p:nvSpPr>
        <p:spPr>
          <a:xfrm>
            <a:off x="7967980" y="5204079"/>
            <a:ext cx="457200" cy="457200"/>
          </a:xfrm>
          <a:prstGeom prst="rect">
            <a:avLst/>
          </a:prstGeom>
          <a:noFill/>
        </p:spPr>
        <p:txBody>
          <a:bodyPr wrap="square" lIns="0" tIns="0" rIns="0" bIns="0" rtlCol="0" anchor="ctr"/>
          <a:lstStyle/>
          <a:p>
            <a:pPr marL="0" indent="0">
              <a:buNone/>
            </a:pPr>
            <a:r>
              <a:rPr lang="en-US" sz="1800" dirty="0">
                <a:solidFill>
                  <a:srgbClr val="000000"/>
                </a:solidFill>
              </a:rPr>
              <a:t>📊</a:t>
            </a:r>
            <a:endParaRPr lang="en-US" sz="1800" dirty="0"/>
          </a:p>
        </p:txBody>
      </p:sp>
      <p:sp>
        <p:nvSpPr>
          <p:cNvPr id="22" name="Text 20"/>
          <p:cNvSpPr/>
          <p:nvPr>
            <p:custDataLst>
              <p:tags r:id="rId11"/>
            </p:custDataLst>
          </p:nvPr>
        </p:nvSpPr>
        <p:spPr>
          <a:xfrm>
            <a:off x="8498332" y="5157597"/>
            <a:ext cx="2834640" cy="274320"/>
          </a:xfrm>
          <a:prstGeom prst="rect">
            <a:avLst/>
          </a:prstGeom>
          <a:noFill/>
        </p:spPr>
        <p:txBody>
          <a:bodyPr wrap="square" lIns="0" tIns="0" rIns="0" bIns="0" rtlCol="0" anchor="ctr"/>
          <a:lstStyle/>
          <a:p>
            <a:pPr marL="0" indent="0">
              <a:buNone/>
            </a:pPr>
            <a:r>
              <a:rPr lang="en-US" sz="1800" b="1" dirty="0">
                <a:solidFill>
                  <a:srgbClr val="0D3B6E"/>
                </a:solidFill>
                <a:latin typeface="Montserrat" panose="00000500000000000000" charset="0"/>
                <a:ea typeface="Calibri" panose="020F0502020204030204" pitchFamily="34" charset="-122"/>
                <a:cs typeface="Montserrat" panose="00000500000000000000" charset="0"/>
              </a:rPr>
              <a:t>Monitoring &amp; Alerts</a:t>
            </a:r>
            <a:endParaRPr lang="en-US" sz="1800" b="1" dirty="0">
              <a:solidFill>
                <a:srgbClr val="0D3B6E"/>
              </a:solidFill>
              <a:latin typeface="Montserrat" panose="00000500000000000000" charset="0"/>
              <a:ea typeface="Calibri" panose="020F0502020204030204" pitchFamily="34" charset="-122"/>
              <a:cs typeface="Montserrat" panose="00000500000000000000" charset="0"/>
            </a:endParaRPr>
          </a:p>
        </p:txBody>
      </p:sp>
      <p:sp>
        <p:nvSpPr>
          <p:cNvPr id="23" name="Text 21"/>
          <p:cNvSpPr/>
          <p:nvPr>
            <p:custDataLst>
              <p:tags r:id="rId12"/>
            </p:custDataLst>
          </p:nvPr>
        </p:nvSpPr>
        <p:spPr>
          <a:xfrm>
            <a:off x="8543925" y="5471160"/>
            <a:ext cx="2834640" cy="647065"/>
          </a:xfrm>
          <a:prstGeom prst="rect">
            <a:avLst/>
          </a:prstGeom>
          <a:noFill/>
        </p:spPr>
        <p:txBody>
          <a:bodyPr wrap="square" lIns="0" tIns="0" rIns="0" bIns="0" rtlCol="0" anchor="ctr"/>
          <a:lstStyle/>
          <a:p>
            <a:pPr marL="0" indent="0">
              <a:buNone/>
            </a:pPr>
            <a:r>
              <a:rPr lang="en-US" dirty="0">
                <a:solidFill>
                  <a:srgbClr val="4A6080"/>
                </a:solidFill>
                <a:latin typeface="Montserrat" panose="00000500000000000000" charset="0"/>
                <a:ea typeface="Calibri" panose="020F0502020204030204" pitchFamily="34" charset="-122"/>
                <a:cs typeface="Montserrat" panose="00000500000000000000" charset="0"/>
              </a:rPr>
              <a:t>Track Recall weekly — a drop signals new fraud patterns emerging in production data</a:t>
            </a:r>
            <a:endParaRPr lang="en-US" dirty="0">
              <a:solidFill>
                <a:srgbClr val="4A6080"/>
              </a:solidFill>
              <a:latin typeface="Montserrat" panose="00000500000000000000" charset="0"/>
              <a:ea typeface="Calibri" panose="020F0502020204030204" pitchFamily="34" charset="-122"/>
              <a:cs typeface="Montserrat" panose="00000500000000000000"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30" name="Shape 230"/>
        <p:cNvGrpSpPr/>
        <p:nvPr/>
      </p:nvGrpSpPr>
      <p:grpSpPr>
        <a:xfrm>
          <a:off x="0" y="0"/>
          <a:ext cx="0" cy="0"/>
          <a:chOff x="0" y="0"/>
          <a:chExt cx="0" cy="0"/>
        </a:xfrm>
      </p:grpSpPr>
      <p:pic>
        <p:nvPicPr>
          <p:cNvPr id="231" name="Google Shape;231;p31"/>
          <p:cNvPicPr preferRelativeResize="0"/>
          <p:nvPr/>
        </p:nvPicPr>
        <p:blipFill rotWithShape="1">
          <a:blip r:embed="rId1"/>
          <a:srcRect/>
          <a:stretch>
            <a:fillRect/>
          </a:stretch>
        </p:blipFill>
        <p:spPr>
          <a:xfrm>
            <a:off x="1259032" y="2316215"/>
            <a:ext cx="9673936" cy="3575430"/>
          </a:xfrm>
          <a:prstGeom prst="rect">
            <a:avLst/>
          </a:prstGeom>
          <a:noFill/>
          <a:ln>
            <a:noFill/>
          </a:ln>
        </p:spPr>
      </p:pic>
      <p:sp>
        <p:nvSpPr>
          <p:cNvPr id="232" name="Google Shape;232;p31"/>
          <p:cNvSpPr txBox="1"/>
          <p:nvPr>
            <p:ph type="sldNum" idx="12"/>
          </p:nvPr>
        </p:nvSpPr>
        <p:spPr>
          <a:xfrm>
            <a:off x="11296611" y="6014423"/>
            <a:ext cx="731600" cy="52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
        <p:nvSpPr>
          <p:cNvPr id="233" name="Google Shape;233;p31"/>
          <p:cNvSpPr txBox="1"/>
          <p:nvPr/>
        </p:nvSpPr>
        <p:spPr>
          <a:xfrm>
            <a:off x="0" y="771572"/>
            <a:ext cx="12192000" cy="11976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dk1"/>
              </a:solidFill>
              <a:latin typeface="Montserrat" panose="00000500000000000000"/>
              <a:ea typeface="Montserrat" panose="00000500000000000000"/>
              <a:cs typeface="Montserrat" panose="00000500000000000000"/>
              <a:sym typeface="Montserrat" panose="00000500000000000000"/>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Montserrat" panose="00000500000000000000"/>
                <a:ea typeface="Montserrat" panose="00000500000000000000"/>
                <a:cs typeface="Montserrat" panose="00000500000000000000"/>
                <a:sym typeface="Montserrat" panose="00000500000000000000"/>
              </a:rPr>
              <a:t>Shraddha Tiwari</a:t>
            </a:r>
            <a:br>
              <a:rPr lang="en-US" sz="1800" b="1" i="0" u="none" strike="noStrike" cap="none">
                <a:solidFill>
                  <a:schemeClr val="dk1"/>
                </a:solidFill>
                <a:latin typeface="Montserrat" panose="00000500000000000000"/>
                <a:ea typeface="Montserrat" panose="00000500000000000000"/>
                <a:cs typeface="Montserrat" panose="00000500000000000000"/>
                <a:sym typeface="Montserrat" panose="00000500000000000000"/>
              </a:rPr>
            </a:br>
            <a:r>
              <a:rPr lang="en-US" sz="1800" b="1" i="0" u="none" strike="noStrike" cap="none">
                <a:solidFill>
                  <a:schemeClr val="dk1"/>
                </a:solidFill>
                <a:latin typeface="Montserrat" panose="00000500000000000000"/>
                <a:ea typeface="Montserrat" panose="00000500000000000000"/>
                <a:cs typeface="Montserrat" panose="00000500000000000000"/>
                <a:sym typeface="Montserrat" panose="00000500000000000000"/>
              </a:rPr>
              <a:t>respond.shraddha@gmail.com </a:t>
            </a:r>
            <a:endPar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ags/tag1.xml><?xml version="1.0" encoding="utf-8"?>
<p:tagLst xmlns:p="http://schemas.openxmlformats.org/presentationml/2006/main">
  <p:tag name="TABLE_ENDDRAG_ORIGIN_RECT" val="464*276"/>
  <p:tag name="TABLE_ENDDRAG_RECT" val="12*101*465*276"/>
</p:tagLst>
</file>

<file path=ppt/tags/tag2.xml><?xml version="1.0" encoding="utf-8"?>
<p:tagLst xmlns:p="http://schemas.openxmlformats.org/presentationml/2006/main">
  <p:tag name="KSO_WM_DIAGRAM_VIRTUALLY_FRAME" val="{&quot;height&quot;:234.84,&quot;left&quot;:14.4,&quot;top&quot;:300.96,&quot;width&quot;:856.8}"/>
</p:tagLst>
</file>

<file path=ppt/tags/tag3.xml><?xml version="1.0" encoding="utf-8"?>
<p:tagLst xmlns:p="http://schemas.openxmlformats.org/presentationml/2006/main">
  <p:tag name="KSO_WM_DIAGRAM_VIRTUALLY_FRAME" val="{&quot;height&quot;:234.84,&quot;left&quot;:14.4,&quot;top&quot;:300.96,&quot;width&quot;:856.8}"/>
</p:tagLst>
</file>

<file path=ppt/tags/tag4.xml><?xml version="1.0" encoding="utf-8"?>
<p:tagLst xmlns:p="http://schemas.openxmlformats.org/presentationml/2006/main">
  <p:tag name="KSO_WM_DIAGRAM_VIRTUALLY_FRAME" val="{&quot;height&quot;:96.48000000000002,&quot;left&quot;:14.4,&quot;top&quot;:300.96,&quot;width&quot;:684}"/>
</p:tagLst>
</file>

<file path=ppt/tags/tag5.xml><?xml version="1.0" encoding="utf-8"?>
<p:tagLst xmlns:p="http://schemas.openxmlformats.org/presentationml/2006/main">
  <p:tag name="KSO_WM_DIAGRAM_VIRTUALLY_FRAME" val="{&quot;height&quot;:234.84,&quot;left&quot;:14.4,&quot;top&quot;:300.96,&quot;width&quot;:856.8}"/>
</p:tagLst>
</file>

<file path=ppt/tags/tag6.xml><?xml version="1.0" encoding="utf-8"?>
<p:tagLst xmlns:p="http://schemas.openxmlformats.org/presentationml/2006/main">
  <p:tag name="KSO_WM_DIAGRAM_VIRTUALLY_FRAME" val="{&quot;height&quot;:234.84,&quot;left&quot;:14.4,&quot;top&quot;:300.96,&quot;width&quot;:856.8}"/>
</p:tagLst>
</file>

<file path=ppt/tags/tag7.xml><?xml version="1.0" encoding="utf-8"?>
<p:tagLst xmlns:p="http://schemas.openxmlformats.org/presentationml/2006/main">
  <p:tag name="TABLE_ENDDRAG_ORIGIN_RECT" val="907*155"/>
  <p:tag name="TABLE_ENDDRAG_RECT" val="26*375*907*155"/>
</p:tagLst>
</file>

<file path=ppt/tags/tag8.xml><?xml version="1.0" encoding="utf-8"?>
<p:tagLst xmlns:p="http://schemas.openxmlformats.org/presentationml/2006/main">
  <p:tag name="KSO_WM_DIAGRAM_VIRTUALLY_FRAME" val="{&quot;height&quot;:234.84,&quot;left&quot;:14.4,&quot;top&quot;:300.96,&quot;width&quot;:856.8}"/>
</p:tagLst>
</file>

<file path=ppt/tags/tag9.xml><?xml version="1.0" encoding="utf-8"?>
<p:tagLst xmlns:p="http://schemas.openxmlformats.org/presentationml/2006/main">
  <p:tag name="KSO_WM_DIAGRAM_VIRTUALLY_FRAME" val="{&quot;height&quot;:234.84,&quot;left&quot;:14.4,&quot;top&quot;:300.96,&quot;width&quot;:856.8}"/>
</p:tagLst>
</file>

<file path=ppt/tags/tag10.xml><?xml version="1.0" encoding="utf-8"?>
<p:tagLst xmlns:p="http://schemas.openxmlformats.org/presentationml/2006/main">
  <p:tag name="KSO_WM_DIAGRAM_VIRTUALLY_FRAME" val="{&quot;height&quot;:234.84,&quot;left&quot;:14.4,&quot;top&quot;:300.96,&quot;width&quot;:856.8}"/>
</p:tagLst>
</file>

<file path=ppt/tags/tag11.xml><?xml version="1.0" encoding="utf-8"?>
<p:tagLst xmlns:p="http://schemas.openxmlformats.org/presentationml/2006/main">
  <p:tag name="KSO_WM_DIAGRAM_VIRTUALLY_FRAME" val="{&quot;height&quot;:234.84,&quot;left&quot;:14.4,&quot;top&quot;:300.96,&quot;width&quot;:856.8}"/>
</p:tagLst>
</file>

<file path=ppt/tags/tag12.xml><?xml version="1.0" encoding="utf-8"?>
<p:tagLst xmlns:p="http://schemas.openxmlformats.org/presentationml/2006/main">
  <p:tag name="KSO_WM_DIAGRAM_VIRTUALLY_FRAME" val="{&quot;height&quot;:252,&quot;left&quot;:381.6,&quot;top&quot;:115.2,&quot;width&quot;:316.8}"/>
</p:tagLst>
</file>

<file path=ppt/tags/tag13.xml><?xml version="1.0" encoding="utf-8"?>
<p:tagLst xmlns:p="http://schemas.openxmlformats.org/presentationml/2006/main">
  <p:tag name="KSO_WM_DIAGRAM_VIRTUALLY_FRAME" val="{&quot;height&quot;:252,&quot;left&quot;:381.6,&quot;top&quot;:115.2,&quot;width&quot;:316.8}"/>
</p:tagLst>
</file>

<file path=ppt/tags/tag14.xml><?xml version="1.0" encoding="utf-8"?>
<p:tagLst xmlns:p="http://schemas.openxmlformats.org/presentationml/2006/main">
  <p:tag name="KSO_WM_DIAGRAM_VIRTUALLY_FRAME" val="{&quot;height&quot;:252,&quot;left&quot;:381.6,&quot;top&quot;:115.2,&quot;width&quot;:316.8}"/>
</p:tagLst>
</file>

<file path=ppt/tags/tag15.xml><?xml version="1.0" encoding="utf-8"?>
<p:tagLst xmlns:p="http://schemas.openxmlformats.org/presentationml/2006/main">
  <p:tag name="KSO_WM_DIAGRAM_VIRTUALLY_FRAME" val="{&quot;height&quot;:252,&quot;left&quot;:381.6,&quot;top&quot;:115.2,&quot;width&quot;:316.8}"/>
</p:tagLst>
</file>

<file path=ppt/tags/tag16.xml><?xml version="1.0" encoding="utf-8"?>
<p:tagLst xmlns:p="http://schemas.openxmlformats.org/presentationml/2006/main">
  <p:tag name="KSO_WM_DIAGRAM_VIRTUALLY_FRAME" val="{&quot;height&quot;:252,&quot;left&quot;:381.6,&quot;top&quot;:115.2,&quot;width&quot;:316.8}"/>
</p:tagLst>
</file>

<file path=ppt/tags/tag17.xml><?xml version="1.0" encoding="utf-8"?>
<p:tagLst xmlns:p="http://schemas.openxmlformats.org/presentationml/2006/main">
  <p:tag name="KSO_WM_DIAGRAM_VIRTUALLY_FRAME" val="{&quot;height&quot;:252,&quot;left&quot;:381.6,&quot;top&quot;:115.2,&quot;width&quot;:316.8}"/>
</p:tagLst>
</file>

<file path=ppt/tags/tag18.xml><?xml version="1.0" encoding="utf-8"?>
<p:tagLst xmlns:p="http://schemas.openxmlformats.org/presentationml/2006/main">
  <p:tag name="KSO_WM_DIAGRAM_VIRTUALLY_FRAME" val="{&quot;height&quot;:252,&quot;left&quot;:381.6,&quot;top&quot;:115.2,&quot;width&quot;:316.8}"/>
</p:tagLst>
</file>

<file path=ppt/tags/tag19.xml><?xml version="1.0" encoding="utf-8"?>
<p:tagLst xmlns:p="http://schemas.openxmlformats.org/presentationml/2006/main">
  <p:tag name="KSO_WM_DIAGRAM_VIRTUALLY_FRAME" val="{&quot;height&quot;:252,&quot;left&quot;:381.6,&quot;top&quot;:115.2,&quot;width&quot;:316.8}"/>
</p:tagLst>
</file>

<file path=ppt/tags/tag20.xml><?xml version="1.0" encoding="utf-8"?>
<p:tagLst xmlns:p="http://schemas.openxmlformats.org/presentationml/2006/main">
  <p:tag name="KSO_WM_DIAGRAM_VIRTUALLY_FRAME" val="{&quot;height&quot;:252,&quot;left&quot;:381.6,&quot;top&quot;:115.2,&quot;width&quot;:316.8}"/>
</p:tagLst>
</file>

<file path=ppt/tags/tag21.xml><?xml version="1.0" encoding="utf-8"?>
<p:tagLst xmlns:p="http://schemas.openxmlformats.org/presentationml/2006/main">
  <p:tag name="KSO_WM_DIAGRAM_VIRTUALLY_FRAME" val="{&quot;height&quot;:252,&quot;left&quot;:381.6,&quot;top&quot;:115.2,&quot;width&quot;:316.8}"/>
</p:tagLst>
</file>

<file path=ppt/tags/tag22.xml><?xml version="1.0" encoding="utf-8"?>
<p:tagLst xmlns:p="http://schemas.openxmlformats.org/presentationml/2006/main">
  <p:tag name="KSO_WM_DIAGRAM_VIRTUALLY_FRAME" val="{&quot;height&quot;:252,&quot;left&quot;:381.6,&quot;top&quot;:115.2,&quot;width&quot;:316.8}"/>
</p:tagLst>
</file>

<file path=ppt/tags/tag23.xml><?xml version="1.0" encoding="utf-8"?>
<p:tagLst xmlns:p="http://schemas.openxmlformats.org/presentationml/2006/main">
  <p:tag name="KSO_WM_DIAGRAM_VIRTUALLY_FRAME" val="{&quot;height&quot;:252,&quot;left&quot;:381.6,&quot;top&quot;:115.2,&quot;width&quot;:316.8}"/>
</p:tagLst>
</file>

<file path=ppt/tags/tag24.xml><?xml version="1.0" encoding="utf-8"?>
<p:tagLst xmlns:p="http://schemas.openxmlformats.org/presentationml/2006/main">
  <p:tag name="TABLE_ENDDRAG_ORIGIN_RECT" val="803*268"/>
  <p:tag name="TABLE_ENDDRAG_RECT" val="67*121*803*268"/>
</p:tagLst>
</file>

<file path=ppt/tags/tag25.xml><?xml version="1.0" encoding="utf-8"?>
<p:tagLst xmlns:p="http://schemas.openxmlformats.org/presentationml/2006/main">
  <p:tag name="KSO_WM_DIAGRAM_VIRTUALLY_FRAME" val="{&quot;height&quot;:301.68,&quot;left&quot;:432,&quot;top&quot;:82.8,&quot;width&quot;:270}"/>
</p:tagLst>
</file>

<file path=ppt/tags/tag26.xml><?xml version="1.0" encoding="utf-8"?>
<p:tagLst xmlns:p="http://schemas.openxmlformats.org/presentationml/2006/main">
  <p:tag name="KSO_WM_DIAGRAM_VIRTUALLY_FRAME" val="{&quot;height&quot;:301.68,&quot;left&quot;:432,&quot;top&quot;:82.8,&quot;width&quot;:270}"/>
</p:tagLst>
</file>

<file path=ppt/tags/tag27.xml><?xml version="1.0" encoding="utf-8"?>
<p:tagLst xmlns:p="http://schemas.openxmlformats.org/presentationml/2006/main">
  <p:tag name="KSO_WM_DIAGRAM_VIRTUALLY_FRAME" val="{&quot;height&quot;:301.68,&quot;left&quot;:432,&quot;top&quot;:82.8,&quot;width&quot;:270}"/>
</p:tagLst>
</file>

<file path=ppt/tags/tag28.xml><?xml version="1.0" encoding="utf-8"?>
<p:tagLst xmlns:p="http://schemas.openxmlformats.org/presentationml/2006/main">
  <p:tag name="KSO_WM_DIAGRAM_VIRTUALLY_FRAME" val="{&quot;height&quot;:301.68,&quot;left&quot;:432,&quot;top&quot;:82.8,&quot;width&quot;:270}"/>
</p:tagLst>
</file>

<file path=ppt/tags/tag29.xml><?xml version="1.0" encoding="utf-8"?>
<p:tagLst xmlns:p="http://schemas.openxmlformats.org/presentationml/2006/main">
  <p:tag name="KSO_WM_DIAGRAM_VIRTUALLY_FRAME" val="{&quot;height&quot;:301.68,&quot;left&quot;:432,&quot;top&quot;:82.8,&quot;width&quot;:270}"/>
</p:tagLst>
</file>

<file path=ppt/tags/tag30.xml><?xml version="1.0" encoding="utf-8"?>
<p:tagLst xmlns:p="http://schemas.openxmlformats.org/presentationml/2006/main">
  <p:tag name="KSO_WM_DIAGRAM_VIRTUALLY_FRAME" val="{&quot;height&quot;:301.68,&quot;left&quot;:432,&quot;top&quot;:82.8,&quot;width&quot;:270}"/>
</p:tagLst>
</file>

<file path=ppt/tags/tag31.xml><?xml version="1.0" encoding="utf-8"?>
<p:tagLst xmlns:p="http://schemas.openxmlformats.org/presentationml/2006/main">
  <p:tag name="KSO_WM_DIAGRAM_VIRTUALLY_FRAME" val="{&quot;height&quot;:301.68,&quot;left&quot;:432,&quot;top&quot;:82.8,&quot;width&quot;:270}"/>
</p:tagLst>
</file>

<file path=ppt/tags/tag32.xml><?xml version="1.0" encoding="utf-8"?>
<p:tagLst xmlns:p="http://schemas.openxmlformats.org/presentationml/2006/main">
  <p:tag name="KSO_WM_DIAGRAM_VIRTUALLY_FRAME" val="{&quot;height&quot;:301.68,&quot;left&quot;:432,&quot;top&quot;:82.8,&quot;width&quot;:270}"/>
</p:tagLst>
</file>

<file path=ppt/tags/tag33.xml><?xml version="1.0" encoding="utf-8"?>
<p:tagLst xmlns:p="http://schemas.openxmlformats.org/presentationml/2006/main">
  <p:tag name="KSO_WM_DIAGRAM_VIRTUALLY_FRAME" val="{&quot;height&quot;:301.68,&quot;left&quot;:432,&quot;top&quot;:82.8,&quot;width&quot;:270}"/>
</p:tagLst>
</file>

<file path=ppt/tags/tag34.xml><?xml version="1.0" encoding="utf-8"?>
<p:tagLst xmlns:p="http://schemas.openxmlformats.org/presentationml/2006/main">
  <p:tag name="KSO_WM_DIAGRAM_VIRTUALLY_FRAME" val="{&quot;height&quot;:301.68,&quot;left&quot;:432,&quot;top&quot;:82.8,&quot;width&quot;:270}"/>
</p:tagLst>
</file>

<file path=ppt/tags/tag35.xml><?xml version="1.0" encoding="utf-8"?>
<p:tagLst xmlns:p="http://schemas.openxmlformats.org/presentationml/2006/main">
  <p:tag name="KSO_WM_DIAGRAM_VIRTUALLY_FRAME" val="{&quot;height&quot;:301.68,&quot;left&quot;:432,&quot;top&quot;:82.8,&quot;width&quot;:270}"/>
</p:tagLst>
</file>

<file path=ppt/tags/tag36.xml><?xml version="1.0" encoding="utf-8"?>
<p:tagLst xmlns:p="http://schemas.openxmlformats.org/presentationml/2006/main">
  <p:tag name="KSO_WM_DIAGRAM_VIRTUALLY_FRAME" val="{&quot;height&quot;:301.68,&quot;left&quot;:432,&quot;top&quot;:82.8,&quot;width&quot;:270}"/>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12068</Words>
  <Application>WPS Presentation</Application>
  <PresentationFormat/>
  <Paragraphs>580</Paragraphs>
  <Slides>25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25</vt:i4>
      </vt:variant>
    </vt:vector>
  </HeadingPairs>
  <TitlesOfParts>
    <vt:vector size="40" baseType="lpstr">
      <vt:lpstr>Arial</vt:lpstr>
      <vt:lpstr>SimSun</vt:lpstr>
      <vt:lpstr>Wingdings</vt:lpstr>
      <vt:lpstr>Arial</vt:lpstr>
      <vt:lpstr>Calibri</vt:lpstr>
      <vt:lpstr>Montserrat</vt:lpstr>
      <vt:lpstr>Montserrat</vt:lpstr>
      <vt:lpstr>Courier New</vt:lpstr>
      <vt:lpstr>Courier New</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Shraddha Tewari</cp:lastModifiedBy>
  <cp:revision>24</cp:revision>
  <dcterms:created xsi:type="dcterms:W3CDTF">2026-04-02T09:52:00Z</dcterms:created>
  <dcterms:modified xsi:type="dcterms:W3CDTF">2026-04-22T14:30:15Z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3C342CFD3EBA4924B2BE0F1A161015C3_13</vt:lpwstr>
  </property>
  <property fmtid="{D5CDD505-2E9C-101B-9397-08002B2CF9AE}" pid="3" name="KSOProductBuildVer">
    <vt:lpwstr>1033-12.2.0.23196</vt:lpwstr>
  </property>
</Properties>
</file>